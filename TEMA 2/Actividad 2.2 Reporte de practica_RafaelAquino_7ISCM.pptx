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3" r:id="rId3"/>
    <p:sldId id="258" r:id="rId4"/>
    <p:sldId id="303" r:id="rId5"/>
    <p:sldId id="338" r:id="rId6"/>
    <p:sldId id="341" r:id="rId7"/>
    <p:sldId id="340" r:id="rId8"/>
    <p:sldId id="330" r:id="rId9"/>
    <p:sldId id="319" r:id="rId10"/>
    <p:sldId id="320" r:id="rId11"/>
    <p:sldId id="321" r:id="rId12"/>
    <p:sldId id="322" r:id="rId13"/>
    <p:sldId id="342" r:id="rId14"/>
    <p:sldId id="327" r:id="rId15"/>
    <p:sldId id="328" r:id="rId16"/>
    <p:sldId id="260" r:id="rId17"/>
    <p:sldId id="318" r:id="rId1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20/09/2026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opendsa-server.cs.vt.edu/ODSA/StandaloneModules/20260113122745/html/Compiler.html?utm_source=chatgpt.com" TargetMode="External"/><Relationship Id="rId2" Type="http://schemas.openxmlformats.org/officeDocument/2006/relationships/hyperlink" Target="https://github.com/rafaelrav8770/LYAll.git" TargetMode="External"/><Relationship Id="rId1" Type="http://schemas.openxmlformats.org/officeDocument/2006/relationships/slideLayout" Target="../slideLayouts/slideLayout2.xml"/><Relationship Id="rId6" Type="http://schemas.openxmlformats.org/officeDocument/2006/relationships/hyperlink" Target="https://jflex.de/manual.html?utm_source=chatgpt.com" TargetMode="External"/><Relationship Id="rId5" Type="http://schemas.openxmlformats.org/officeDocument/2006/relationships/hyperlink" Target="https://www.youtube.com/watch?v=R6znBEekUVA" TargetMode="External"/><Relationship Id="rId4" Type="http://schemas.openxmlformats.org/officeDocument/2006/relationships/hyperlink" Target="https://www.itescam.edu.mx/portal/asignatura.php?clave_asig=SCD-1016&amp;carrera=ISIC-2010-224&amp;id_d=16&amp;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95648"/>
          </a:xfrm>
          <a:prstGeom prst="rect">
            <a:avLst/>
          </a:prstGeom>
          <a:noFill/>
        </p:spPr>
        <p:txBody>
          <a:bodyPr wrap="square">
            <a:spAutoFit/>
          </a:bodyPr>
          <a:lstStyle/>
          <a:p>
            <a:pPr algn="ctr">
              <a:lnSpc>
                <a:spcPct val="100000"/>
              </a:lnSpc>
              <a:spcAft>
                <a:spcPts val="800"/>
              </a:spcAft>
              <a:buNone/>
            </a:pPr>
            <a:r>
              <a:rPr lang="es-MX" sz="2000" b="1" kern="0" dirty="0">
                <a:latin typeface="Arial" panose="020B0604020202020204" pitchFamily="34" charset="0"/>
                <a:cs typeface="Arial" panose="020B0604020202020204" pitchFamily="34" charset="0"/>
              </a:rPr>
              <a:t>Lenguajes y Autómatas II</a:t>
            </a:r>
            <a:r>
              <a:rPr lang="en-US" sz="2000" b="1" kern="0" dirty="0">
                <a:latin typeface="Arial" panose="020B0604020202020204" pitchFamily="34" charset="0"/>
                <a:cs typeface="Arial" panose="020B0604020202020204" pitchFamily="34" charset="0"/>
              </a:rPr>
              <a:t> </a:t>
            </a:r>
            <a:endParaRPr lang="es-MX" sz="2000" b="1" kern="0" dirty="0">
              <a:latin typeface="Arial" panose="020B0604020202020204" pitchFamily="34" charset="0"/>
              <a:cs typeface="Arial" panose="020B0604020202020204" pitchFamily="34"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2.2 –REPORTE DE PRACTICA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616399780"/>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a:effectLst/>
                <a:latin typeface="Arial" panose="020B0604020202020204" pitchFamily="34" charset="0"/>
                <a:ea typeface="Times New Roman" panose="02020603050405020304" pitchFamily="18" charset="0"/>
                <a:cs typeface="Arial" panose="020B0604020202020204" pitchFamily="34" charset="0"/>
              </a:rPr>
              <a:t>03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a:t>
            </a:r>
            <a:r>
              <a:rPr lang="es-MX" sz="2000" b="1" kern="0" dirty="0">
                <a:latin typeface="Arial" panose="020B0604020202020204" pitchFamily="34" charset="0"/>
                <a:ea typeface="Times New Roman" panose="02020603050405020304" pitchFamily="18" charset="0"/>
                <a:cs typeface="Arial" panose="020B0604020202020204" pitchFamily="34" charset="0"/>
              </a:rPr>
              <a:t>SEPTIEMBRE</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fontScale="92500" lnSpcReduction="10000"/>
          </a:bodyPr>
          <a:lstStyle/>
          <a:p>
            <a:pPr marL="0" indent="0" algn="just">
              <a:buNone/>
            </a:pPr>
            <a:r>
              <a:rPr lang="es-MX" sz="5200" b="1" kern="0" dirty="0">
                <a:solidFill>
                  <a:schemeClr val="accent1"/>
                </a:solidFill>
                <a:latin typeface="+mj-lt"/>
                <a:cs typeface="Arial" panose="020B0604020202020204" pitchFamily="34" charset="0"/>
              </a:rPr>
              <a:t>Introducción</a:t>
            </a:r>
          </a:p>
          <a:p>
            <a:pPr marL="0" indent="0" algn="just">
              <a:buNone/>
            </a:pPr>
            <a:endParaRPr lang="es-MX" dirty="0"/>
          </a:p>
          <a:p>
            <a:pPr marL="0" indent="0" algn="just">
              <a:buNone/>
            </a:pPr>
            <a:r>
              <a:rPr lang="es-MX" dirty="0"/>
              <a:t>La generación de código  permite transformar una expresión escrita en un lenguaje fuente en una representación más sencilla de procesar antes de generar el código final.</a:t>
            </a:r>
          </a:p>
          <a:p>
            <a:pPr marL="0" indent="0" algn="just">
              <a:buNone/>
            </a:pPr>
            <a:r>
              <a:rPr lang="es-MX" dirty="0"/>
              <a:t>En la práctica se desarrolló una aplicación utilizando Java y </a:t>
            </a:r>
            <a:r>
              <a:rPr lang="es-MX" dirty="0" err="1"/>
              <a:t>JavaFX</a:t>
            </a:r>
            <a:r>
              <a:rPr lang="es-MX" dirty="0"/>
              <a:t>, mediante la cual se implementaron diferentes módulos relacionados con el Tema 2 generación de código intermedio como: notaciones prefija, infija y postfija, representaciones de código intermedio y generación de código intermedio.</a:t>
            </a:r>
          </a:p>
          <a:p>
            <a:pPr marL="0" indent="0" algn="just">
              <a:buNone/>
            </a:pPr>
            <a:r>
              <a:rPr lang="es-MX" dirty="0"/>
              <a:t>La aplicación permite ingresar expresiones y observar de manera práctica cómo pueden ser transformadas y representadas durante esta etapa de un compilador.</a:t>
            </a:r>
          </a:p>
          <a:p>
            <a:pPr marL="0" indent="0" algn="just">
              <a:buNone/>
            </a:pPr>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894080"/>
            <a:ext cx="10515600" cy="5282883"/>
          </a:xfrm>
        </p:spPr>
        <p:txBody>
          <a:bodyPr>
            <a:normAutofit/>
          </a:bodyPr>
          <a:lstStyle/>
          <a:p>
            <a:pPr marL="0" indent="0" algn="just">
              <a:spcBef>
                <a:spcPct val="0"/>
              </a:spcBef>
              <a:buNone/>
            </a:pPr>
            <a:r>
              <a:rPr lang="es-MX" sz="4800" b="1" dirty="0">
                <a:solidFill>
                  <a:schemeClr val="accent1"/>
                </a:solidFill>
                <a:latin typeface="+mj-lt"/>
                <a:ea typeface="+mj-ea"/>
                <a:cs typeface="+mj-cs"/>
              </a:rPr>
              <a:t>Objetivo</a:t>
            </a:r>
          </a:p>
          <a:p>
            <a:pPr marL="0" indent="0" algn="just">
              <a:buNone/>
            </a:pPr>
            <a:r>
              <a:rPr lang="es-MX" dirty="0"/>
              <a:t> </a:t>
            </a:r>
          </a:p>
          <a:p>
            <a:pPr marL="0" indent="0" algn="just">
              <a:buNone/>
            </a:pPr>
            <a:r>
              <a:rPr lang="es-MX" dirty="0"/>
              <a:t>Desarrollar una aplicación una aplicación en Java con interfaz gráfica </a:t>
            </a:r>
            <a:r>
              <a:rPr lang="es-MX" dirty="0" err="1"/>
              <a:t>JavaFX</a:t>
            </a:r>
            <a:r>
              <a:rPr lang="es-MX" dirty="0"/>
              <a:t> que permita aplicar los principales conceptos de la generación de código intermedio, mediante la conversión de expresiones, el uso de diferentes representaciones y la generación de instrucciones intermedias.</a:t>
            </a:r>
          </a:p>
          <a:p>
            <a:pPr marL="0" indent="0" algn="just">
              <a:buNone/>
            </a:pPr>
            <a:r>
              <a:rPr lang="es-MX" dirty="0"/>
              <a:t>Con la práctica se busca comprender cómo un compilador puede traducir el código fuente a una representación y que posteriormente pueda ser utilizada en otras etapas del proceso de compilación.</a:t>
            </a:r>
          </a:p>
          <a:p>
            <a:pPr marL="0" indent="0" algn="just">
              <a:buNone/>
            </a:pPr>
            <a:endParaRPr lang="es-MX" dirty="0"/>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pPr algn="just"/>
            <a:r>
              <a:rPr lang="es-MX" sz="4800" b="1"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marL="0" indent="0" algn="just">
              <a:buNone/>
            </a:pPr>
            <a:r>
              <a:rPr lang="es-MX" dirty="0"/>
              <a:t>La generación de código facilita el proceso de traducción de un programa, ya que permite representar las instrucciones del código fuente de una manera más sencilla e independiente de la arquitectura final.</a:t>
            </a:r>
          </a:p>
          <a:p>
            <a:pPr marL="0" indent="0" algn="just">
              <a:buNone/>
            </a:pPr>
            <a:r>
              <a:rPr lang="es-MX" dirty="0"/>
              <a:t>El desarrollo de la práctica permite comprender mediante programación el funcionamiento de las diferentes notaciones, representaciones y esquemas utilizados en esta etapa del compilador.</a:t>
            </a:r>
          </a:p>
          <a:p>
            <a:pPr marL="0" indent="0" algn="just">
              <a:buNone/>
            </a:pPr>
            <a:r>
              <a:rPr lang="es-MX" dirty="0"/>
              <a:t>Además, la implementación en Java y </a:t>
            </a:r>
            <a:r>
              <a:rPr lang="es-MX" dirty="0" err="1"/>
              <a:t>JavaFX</a:t>
            </a:r>
            <a:r>
              <a:rPr lang="es-MX" dirty="0"/>
              <a:t> permite observar los resultados mediante una interfaz gráfica y comprobar el funcionamiento de cada módulo desarrollado.</a:t>
            </a:r>
          </a:p>
          <a:p>
            <a:pPr marL="0" indent="0" algn="just">
              <a:buNone/>
            </a:pPr>
            <a:endParaRPr lang="es-MX" dirty="0"/>
          </a:p>
          <a:p>
            <a:pPr algn="just"/>
            <a:endParaRPr lang="es-MX" dirty="0"/>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EFD557-776E-859C-EFB8-DAE0EFD53DF5}"/>
              </a:ext>
            </a:extLst>
          </p:cNvPr>
          <p:cNvSpPr>
            <a:spLocks noGrp="1"/>
          </p:cNvSpPr>
          <p:nvPr>
            <p:ph type="title"/>
          </p:nvPr>
        </p:nvSpPr>
        <p:spPr/>
        <p:txBody>
          <a:bodyPr vert="horz" lIns="91440" tIns="45720" rIns="91440" bIns="45720" rtlCol="0" anchor="ctr">
            <a:normAutofit fontScale="90000"/>
          </a:bodyPr>
          <a:lstStyle/>
          <a:p>
            <a:pPr algn="just"/>
            <a:r>
              <a:rPr lang="es-MX" sz="4800" b="1" dirty="0">
                <a:solidFill>
                  <a:schemeClr val="accent1"/>
                </a:solidFill>
              </a:rPr>
              <a:t>C</a:t>
            </a:r>
            <a:r>
              <a:rPr lang="es-MX" sz="4800" b="1">
                <a:solidFill>
                  <a:schemeClr val="accent1"/>
                </a:solidFill>
              </a:rPr>
              <a:t>reación </a:t>
            </a:r>
            <a:r>
              <a:rPr lang="es-MX" sz="4800" b="1" dirty="0">
                <a:solidFill>
                  <a:schemeClr val="accent1"/>
                </a:solidFill>
              </a:rPr>
              <a:t>del menú principal de generación de código intermedio</a:t>
            </a:r>
          </a:p>
        </p:txBody>
      </p:sp>
      <p:sp>
        <p:nvSpPr>
          <p:cNvPr id="9" name="CuadroTexto 8">
            <a:extLst>
              <a:ext uri="{FF2B5EF4-FFF2-40B4-BE49-F238E27FC236}">
                <a16:creationId xmlns:a16="http://schemas.microsoft.com/office/drawing/2014/main" id="{7D6619AC-CF3A-87BA-D861-8A2A32A136AA}"/>
              </a:ext>
            </a:extLst>
          </p:cNvPr>
          <p:cNvSpPr txBox="1"/>
          <p:nvPr/>
        </p:nvSpPr>
        <p:spPr>
          <a:xfrm>
            <a:off x="838200" y="4987603"/>
            <a:ext cx="10934148" cy="923330"/>
          </a:xfrm>
          <a:prstGeom prst="rect">
            <a:avLst/>
          </a:prstGeom>
          <a:noFill/>
        </p:spPr>
        <p:txBody>
          <a:bodyPr wrap="square">
            <a:spAutoFit/>
          </a:bodyPr>
          <a:lstStyle/>
          <a:p>
            <a:r>
              <a:rPr lang="es-MX" dirty="0"/>
              <a:t>se creó la clase </a:t>
            </a:r>
            <a:r>
              <a:rPr lang="es-MX" dirty="0">
                <a:latin typeface="+mn-lt"/>
              </a:rPr>
              <a:t>Menuprincipal.java</a:t>
            </a:r>
            <a:r>
              <a:rPr lang="es-MX" dirty="0"/>
              <a:t> dentro del paquete </a:t>
            </a:r>
            <a:r>
              <a:rPr lang="es-MX" dirty="0">
                <a:latin typeface="+mn-lt"/>
              </a:rPr>
              <a:t>interfaz</a:t>
            </a:r>
            <a:r>
              <a:rPr lang="es-MX" dirty="0"/>
              <a:t> y se programaron los componentes de </a:t>
            </a:r>
            <a:r>
              <a:rPr lang="es-MX" dirty="0" err="1"/>
              <a:t>JavaFX</a:t>
            </a:r>
            <a:r>
              <a:rPr lang="es-MX" dirty="0"/>
              <a:t> necesarios para construir el menú principal del compilador del tema 2 de generación de código intermedio. Desde este menú se puede acceder al apartado correspondiente al Tema 2: Generación de código intermedio.</a:t>
            </a:r>
          </a:p>
        </p:txBody>
      </p:sp>
      <p:pic>
        <p:nvPicPr>
          <p:cNvPr id="6" name="Imagen 5">
            <a:extLst>
              <a:ext uri="{FF2B5EF4-FFF2-40B4-BE49-F238E27FC236}">
                <a16:creationId xmlns:a16="http://schemas.microsoft.com/office/drawing/2014/main" id="{342D4BE5-A4B5-5E3B-9042-ADBA9DDD62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6348" y="1581149"/>
            <a:ext cx="5840588" cy="3285331"/>
          </a:xfrm>
          <a:prstGeom prst="rect">
            <a:avLst/>
          </a:prstGeom>
        </p:spPr>
      </p:pic>
      <p:pic>
        <p:nvPicPr>
          <p:cNvPr id="12" name="Marcador de contenido 11">
            <a:extLst>
              <a:ext uri="{FF2B5EF4-FFF2-40B4-BE49-F238E27FC236}">
                <a16:creationId xmlns:a16="http://schemas.microsoft.com/office/drawing/2014/main" id="{22AADAEB-2FED-E2AA-1818-72AC00021A90}"/>
              </a:ext>
            </a:extLst>
          </p:cNvPr>
          <p:cNvPicPr>
            <a:picLocks noGrp="1" noChangeAspect="1"/>
          </p:cNvPicPr>
          <p:nvPr>
            <p:ph idx="1"/>
          </p:nvPr>
        </p:nvPicPr>
        <p:blipFill>
          <a:blip r:embed="rId3"/>
          <a:stretch>
            <a:fillRect/>
          </a:stretch>
        </p:blipFill>
        <p:spPr>
          <a:xfrm>
            <a:off x="1369154" y="1690688"/>
            <a:ext cx="4096000" cy="2304000"/>
          </a:xfrm>
          <a:prstGeom prst="rect">
            <a:avLst/>
          </a:prstGeom>
        </p:spPr>
      </p:pic>
    </p:spTree>
    <p:extLst>
      <p:ext uri="{BB962C8B-B14F-4D97-AF65-F5344CB8AC3E}">
        <p14:creationId xmlns:p14="http://schemas.microsoft.com/office/powerpoint/2010/main" val="662697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672444-7AFD-CD4F-7343-41240F0094EC}"/>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Programación de las opciones del Tema 2</a:t>
            </a:r>
          </a:p>
        </p:txBody>
      </p:sp>
      <p:pic>
        <p:nvPicPr>
          <p:cNvPr id="5" name="Imagen 4">
            <a:extLst>
              <a:ext uri="{FF2B5EF4-FFF2-40B4-BE49-F238E27FC236}">
                <a16:creationId xmlns:a16="http://schemas.microsoft.com/office/drawing/2014/main" id="{8403AB96-6330-C0E6-2CB2-B72E899080DE}"/>
              </a:ext>
            </a:extLst>
          </p:cNvPr>
          <p:cNvPicPr>
            <a:picLocks noChangeAspect="1"/>
          </p:cNvPicPr>
          <p:nvPr/>
        </p:nvPicPr>
        <p:blipFill>
          <a:blip r:embed="rId2"/>
          <a:stretch>
            <a:fillRect/>
          </a:stretch>
        </p:blipFill>
        <p:spPr>
          <a:xfrm>
            <a:off x="5783791" y="2524591"/>
            <a:ext cx="5808133" cy="3267075"/>
          </a:xfrm>
          <a:prstGeom prst="rect">
            <a:avLst/>
          </a:prstGeom>
        </p:spPr>
      </p:pic>
      <p:sp>
        <p:nvSpPr>
          <p:cNvPr id="7" name="CuadroTexto 6">
            <a:extLst>
              <a:ext uri="{FF2B5EF4-FFF2-40B4-BE49-F238E27FC236}">
                <a16:creationId xmlns:a16="http://schemas.microsoft.com/office/drawing/2014/main" id="{BAAE96E5-0E64-763F-C523-9A4A1697DFE9}"/>
              </a:ext>
            </a:extLst>
          </p:cNvPr>
          <p:cNvSpPr txBox="1"/>
          <p:nvPr/>
        </p:nvSpPr>
        <p:spPr>
          <a:xfrm>
            <a:off x="975360" y="2099439"/>
            <a:ext cx="4490720" cy="3693319"/>
          </a:xfrm>
          <a:prstGeom prst="rect">
            <a:avLst/>
          </a:prstGeom>
          <a:noFill/>
        </p:spPr>
        <p:txBody>
          <a:bodyPr wrap="square">
            <a:spAutoFit/>
          </a:bodyPr>
          <a:lstStyle/>
          <a:p>
            <a:pPr algn="just"/>
            <a:r>
              <a:rPr lang="es-MX" dirty="0"/>
              <a:t>Se programó la clase </a:t>
            </a:r>
            <a:r>
              <a:rPr lang="es-MX" dirty="0">
                <a:latin typeface="+mn-lt"/>
              </a:rPr>
              <a:t>Menutema.java</a:t>
            </a:r>
            <a:r>
              <a:rPr lang="es-MX" dirty="0"/>
              <a:t> para organizar y controlar el acceso a los diferentes módulos correspondientes al Tema 2: Generación de código intermedio. Dentro de esta clase se definieron las opciones para trabajar con las notaciones prefija, infija y postfija, las representaciones de código intermedio y la generación de código intermedio. Cada opción se encuentra vinculada con su respectiva clase, permitiendo abrir desde la interfaz gráfica el módulo seleccionado y mantener organizada la navegación dentro de la aplicación.</a:t>
            </a:r>
          </a:p>
        </p:txBody>
      </p:sp>
    </p:spTree>
    <p:extLst>
      <p:ext uri="{BB962C8B-B14F-4D97-AF65-F5344CB8AC3E}">
        <p14:creationId xmlns:p14="http://schemas.microsoft.com/office/powerpoint/2010/main" val="3853357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D82E4C-1831-05CB-FAA0-4D603FD8516A}"/>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Creación del menú del Tema 2</a:t>
            </a:r>
          </a:p>
        </p:txBody>
      </p:sp>
      <p:sp>
        <p:nvSpPr>
          <p:cNvPr id="7" name="CuadroTexto 6">
            <a:extLst>
              <a:ext uri="{FF2B5EF4-FFF2-40B4-BE49-F238E27FC236}">
                <a16:creationId xmlns:a16="http://schemas.microsoft.com/office/drawing/2014/main" id="{C8AED142-79D4-1859-E230-441615EB9D27}"/>
              </a:ext>
            </a:extLst>
          </p:cNvPr>
          <p:cNvSpPr txBox="1"/>
          <p:nvPr/>
        </p:nvSpPr>
        <p:spPr>
          <a:xfrm>
            <a:off x="1150454" y="2321940"/>
            <a:ext cx="3958259" cy="2862322"/>
          </a:xfrm>
          <a:prstGeom prst="rect">
            <a:avLst/>
          </a:prstGeom>
          <a:noFill/>
        </p:spPr>
        <p:txBody>
          <a:bodyPr wrap="square">
            <a:spAutoFit/>
          </a:bodyPr>
          <a:lstStyle/>
          <a:p>
            <a:r>
              <a:rPr lang="es-MX" dirty="0"/>
              <a:t>Se creó la clase </a:t>
            </a:r>
            <a:r>
              <a:rPr lang="es-MX" dirty="0">
                <a:latin typeface="+mn-lt"/>
              </a:rPr>
              <a:t>Menutema.java</a:t>
            </a:r>
            <a:r>
              <a:rPr lang="es-MX" dirty="0"/>
              <a:t>, encargada de mostrar y organizar las diferentes opciones correspondientes al Tema 2: generación de código intermedio, permitiendo acceder a cada uno de los módulos implementados. Esta estructura facilita la navegación entre los diferentes módulos y permite mantener organizado el funcionamiento del programa.</a:t>
            </a:r>
          </a:p>
        </p:txBody>
      </p:sp>
      <p:pic>
        <p:nvPicPr>
          <p:cNvPr id="8" name="Marcador de contenido 7">
            <a:extLst>
              <a:ext uri="{FF2B5EF4-FFF2-40B4-BE49-F238E27FC236}">
                <a16:creationId xmlns:a16="http://schemas.microsoft.com/office/drawing/2014/main" id="{3A9E0A8D-464E-401D-7AF2-4F5598F36E67}"/>
              </a:ext>
            </a:extLst>
          </p:cNvPr>
          <p:cNvPicPr>
            <a:picLocks noGrp="1" noChangeAspect="1"/>
          </p:cNvPicPr>
          <p:nvPr>
            <p:ph idx="1"/>
          </p:nvPr>
        </p:nvPicPr>
        <p:blipFill>
          <a:blip r:embed="rId2"/>
          <a:stretch>
            <a:fillRect/>
          </a:stretch>
        </p:blipFill>
        <p:spPr>
          <a:xfrm>
            <a:off x="6200422" y="2284412"/>
            <a:ext cx="4563534" cy="2566988"/>
          </a:xfrm>
          <a:prstGeom prst="rect">
            <a:avLst/>
          </a:prstGeom>
        </p:spPr>
      </p:pic>
    </p:spTree>
    <p:extLst>
      <p:ext uri="{BB962C8B-B14F-4D97-AF65-F5344CB8AC3E}">
        <p14:creationId xmlns:p14="http://schemas.microsoft.com/office/powerpoint/2010/main" val="3600452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44113-E44A-BCEE-FC85-3369032681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0245A8-D2E2-2AAD-570C-FAA2B2F0554F}"/>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Desarrollo del compilador</a:t>
            </a:r>
          </a:p>
        </p:txBody>
      </p:sp>
      <p:sp>
        <p:nvSpPr>
          <p:cNvPr id="6" name="CuadroTexto 5">
            <a:extLst>
              <a:ext uri="{FF2B5EF4-FFF2-40B4-BE49-F238E27FC236}">
                <a16:creationId xmlns:a16="http://schemas.microsoft.com/office/drawing/2014/main" id="{007C5EF6-00ED-925E-1659-14468FB993A4}"/>
              </a:ext>
            </a:extLst>
          </p:cNvPr>
          <p:cNvSpPr txBox="1"/>
          <p:nvPr/>
        </p:nvSpPr>
        <p:spPr>
          <a:xfrm>
            <a:off x="713132" y="1997839"/>
            <a:ext cx="5159348" cy="4524315"/>
          </a:xfrm>
          <a:prstGeom prst="rect">
            <a:avLst/>
          </a:prstGeom>
          <a:noFill/>
        </p:spPr>
        <p:txBody>
          <a:bodyPr wrap="square">
            <a:spAutoFit/>
          </a:bodyPr>
          <a:lstStyle/>
          <a:p>
            <a:pPr algn="just">
              <a:buNone/>
            </a:pPr>
            <a:r>
              <a:rPr lang="es-MX" dirty="0"/>
              <a:t>Para realizar la práctica se desarrolló un proyecto utilizando el lenguaje de programación Java mediante el entorno de desarrollo IntelliJ IDEA. La aplicación fue diseñada con </a:t>
            </a:r>
            <a:r>
              <a:rPr lang="es-MX" dirty="0" err="1"/>
              <a:t>JavaFX</a:t>
            </a:r>
            <a:r>
              <a:rPr lang="es-MX" dirty="0"/>
              <a:t> para crear una interfaz gráfica que permitiera acceder de manera organizada a los diferentes temas relacionados con las etapas de un compilador. El sistema cuenta con un menú principal denominado Lenguajes y Autómatas II – Compilador, desde el cual se puede seleccionar la unidad que se desea consultar o ejecutar. Para esta práctica se trabajó específicamente con los módulos correspondientes al Tema 2: Generación de código intermedio, integrando las opciones de notaciones, representaciones y generación de código intermedio dentro de la estructura general de la aplicación.</a:t>
            </a:r>
          </a:p>
        </p:txBody>
      </p:sp>
      <p:pic>
        <p:nvPicPr>
          <p:cNvPr id="5" name="Imagen 4">
            <a:extLst>
              <a:ext uri="{FF2B5EF4-FFF2-40B4-BE49-F238E27FC236}">
                <a16:creationId xmlns:a16="http://schemas.microsoft.com/office/drawing/2014/main" id="{38A188C7-093A-84AD-61B5-8752D6A499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925319"/>
            <a:ext cx="5740400" cy="3228975"/>
          </a:xfrm>
          <a:prstGeom prst="rect">
            <a:avLst/>
          </a:prstGeom>
        </p:spPr>
      </p:pic>
    </p:spTree>
    <p:extLst>
      <p:ext uri="{BB962C8B-B14F-4D97-AF65-F5344CB8AC3E}">
        <p14:creationId xmlns:p14="http://schemas.microsoft.com/office/powerpoint/2010/main" val="3918406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408A-C077-F4D1-03DE-F0A911BA288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891817-5D8D-20DB-6DFD-B506DA60BD9D}"/>
              </a:ext>
            </a:extLst>
          </p:cNvPr>
          <p:cNvSpPr>
            <a:spLocks noGrp="1"/>
          </p:cNvSpPr>
          <p:nvPr>
            <p:ph type="title"/>
          </p:nvPr>
        </p:nvSpPr>
        <p:spPr/>
        <p:txBody>
          <a:bodyPr>
            <a:normAutofit/>
          </a:bodyPr>
          <a:lstStyle/>
          <a:p>
            <a:pPr>
              <a:spcBef>
                <a:spcPts val="1000"/>
              </a:spcBef>
            </a:pPr>
            <a:r>
              <a:rPr lang="es-MX" sz="4800" b="1" dirty="0">
                <a:solidFill>
                  <a:schemeClr val="accent1"/>
                </a:solidFill>
              </a:rPr>
              <a:t>Estructura del proyecto</a:t>
            </a:r>
          </a:p>
        </p:txBody>
      </p:sp>
      <p:sp>
        <p:nvSpPr>
          <p:cNvPr id="4" name="CuadroTexto 3">
            <a:extLst>
              <a:ext uri="{FF2B5EF4-FFF2-40B4-BE49-F238E27FC236}">
                <a16:creationId xmlns:a16="http://schemas.microsoft.com/office/drawing/2014/main" id="{3F115B21-C58D-689A-CE27-4BA118C4B602}"/>
              </a:ext>
            </a:extLst>
          </p:cNvPr>
          <p:cNvSpPr txBox="1"/>
          <p:nvPr/>
        </p:nvSpPr>
        <p:spPr>
          <a:xfrm>
            <a:off x="730940" y="1553932"/>
            <a:ext cx="5184085" cy="4708981"/>
          </a:xfrm>
          <a:prstGeom prst="rect">
            <a:avLst/>
          </a:prstGeom>
          <a:noFill/>
        </p:spPr>
        <p:txBody>
          <a:bodyPr wrap="square">
            <a:spAutoFit/>
          </a:bodyPr>
          <a:lstStyle/>
          <a:p>
            <a:pPr>
              <a:buNone/>
            </a:pPr>
            <a:r>
              <a:rPr lang="es-MX" sz="2000" dirty="0"/>
              <a:t>El proyecto fue organizado mediante diferentes clases para separar el funcionamiento de la interfaz y los módulos correspondientes a cada etapa del compilador.</a:t>
            </a:r>
          </a:p>
          <a:p>
            <a:pPr>
              <a:buNone/>
            </a:pPr>
            <a:r>
              <a:rPr lang="es-MX" sz="2000" dirty="0"/>
              <a:t>Dentro del proyecto se encuentran las clases encargadas del menú principal, la selección de temas y las demostraciones correspondientes a cada unidad.</a:t>
            </a:r>
          </a:p>
          <a:p>
            <a:pPr>
              <a:buNone/>
            </a:pPr>
            <a:r>
              <a:rPr lang="es-MX" sz="2000" dirty="0"/>
              <a:t>Esta organización permite mantener el código estructurado y facilita la incorporación de nuevos procesos dentro del compilador.</a:t>
            </a:r>
          </a:p>
          <a:p>
            <a:pPr>
              <a:buNone/>
            </a:pPr>
            <a:r>
              <a:rPr lang="es-MX" sz="2000" dirty="0"/>
              <a:t>Dentro del Tema 2 se desarrollaron principalmente las clases Notaciones.java, Representaciones.java y GeneracionIntermedia.java.</a:t>
            </a:r>
          </a:p>
        </p:txBody>
      </p:sp>
      <p:pic>
        <p:nvPicPr>
          <p:cNvPr id="8" name="Imagen 7">
            <a:extLst>
              <a:ext uri="{FF2B5EF4-FFF2-40B4-BE49-F238E27FC236}">
                <a16:creationId xmlns:a16="http://schemas.microsoft.com/office/drawing/2014/main" id="{BE93CFBA-5D3F-F0D5-CC13-F34B72217E08}"/>
              </a:ext>
            </a:extLst>
          </p:cNvPr>
          <p:cNvPicPr>
            <a:picLocks noChangeAspect="1"/>
          </p:cNvPicPr>
          <p:nvPr/>
        </p:nvPicPr>
        <p:blipFill>
          <a:blip r:embed="rId2"/>
          <a:stretch>
            <a:fillRect/>
          </a:stretch>
        </p:blipFill>
        <p:spPr>
          <a:xfrm>
            <a:off x="6208182" y="2284411"/>
            <a:ext cx="5774267" cy="3248025"/>
          </a:xfrm>
          <a:prstGeom prst="rect">
            <a:avLst/>
          </a:prstGeom>
        </p:spPr>
      </p:pic>
    </p:spTree>
    <p:extLst>
      <p:ext uri="{BB962C8B-B14F-4D97-AF65-F5344CB8AC3E}">
        <p14:creationId xmlns:p14="http://schemas.microsoft.com/office/powerpoint/2010/main" val="1272033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230C6-F94E-FA82-4919-711EC82B8E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C8D8B6-9004-AE56-036F-94E2F6ECCA72}"/>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Tema 2 – </a:t>
            </a:r>
            <a:r>
              <a:rPr lang="es-MX" sz="4800" b="1" dirty="0">
                <a:solidFill>
                  <a:schemeClr val="accent1"/>
                </a:solidFill>
              </a:rPr>
              <a:t>generación de código intermedio</a:t>
            </a:r>
            <a:endParaRPr lang="es-MX" sz="4800" b="1" dirty="0">
              <a:solidFill>
                <a:schemeClr val="accent1"/>
              </a:solidFill>
              <a:ea typeface="+mn-ea"/>
              <a:cs typeface="+mn-cs"/>
            </a:endParaRPr>
          </a:p>
        </p:txBody>
      </p:sp>
      <p:sp>
        <p:nvSpPr>
          <p:cNvPr id="4" name="CuadroTexto 3">
            <a:extLst>
              <a:ext uri="{FF2B5EF4-FFF2-40B4-BE49-F238E27FC236}">
                <a16:creationId xmlns:a16="http://schemas.microsoft.com/office/drawing/2014/main" id="{B55AB98E-4793-11EC-F6CE-A72734D4EB31}"/>
              </a:ext>
            </a:extLst>
          </p:cNvPr>
          <p:cNvSpPr txBox="1"/>
          <p:nvPr/>
        </p:nvSpPr>
        <p:spPr>
          <a:xfrm>
            <a:off x="989771" y="1690688"/>
            <a:ext cx="4663937" cy="4401205"/>
          </a:xfrm>
          <a:prstGeom prst="rect">
            <a:avLst/>
          </a:prstGeom>
          <a:noFill/>
        </p:spPr>
        <p:txBody>
          <a:bodyPr wrap="square">
            <a:spAutoFit/>
          </a:bodyPr>
          <a:lstStyle/>
          <a:p>
            <a:pPr algn="just">
              <a:buNone/>
            </a:pPr>
            <a:r>
              <a:rPr lang="es-MX" sz="2000" dirty="0"/>
              <a:t>Al seleccionar el Tema 2 desde el menú principal, se muestra una ventana que permite acceder a los diferentes apartados relacionados con la generación de código intermedio. En este módulo se integraron las opciones de notaciones prefija, infija y postfija, representaciones de código intermedio mediante Notación Polaca, Código P, Triplos y Cuádruplos, así como el apartado de generación de código intermedio. Cada opción permite estudiar y aplicar una parte específica del proceso de traducción del código fuente hacia una representación intermedia.</a:t>
            </a:r>
          </a:p>
        </p:txBody>
      </p:sp>
      <p:pic>
        <p:nvPicPr>
          <p:cNvPr id="5" name="Imagen 4">
            <a:extLst>
              <a:ext uri="{FF2B5EF4-FFF2-40B4-BE49-F238E27FC236}">
                <a16:creationId xmlns:a16="http://schemas.microsoft.com/office/drawing/2014/main" id="{C407CAE0-D8B6-0814-99B7-DFD837E911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9350" y="1965364"/>
            <a:ext cx="4504518" cy="3711535"/>
          </a:xfrm>
          <a:prstGeom prst="rect">
            <a:avLst/>
          </a:prstGeom>
        </p:spPr>
      </p:pic>
    </p:spTree>
    <p:extLst>
      <p:ext uri="{BB962C8B-B14F-4D97-AF65-F5344CB8AC3E}">
        <p14:creationId xmlns:p14="http://schemas.microsoft.com/office/powerpoint/2010/main" val="1846797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6962B-E0B9-F676-7E88-59E845ABE1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D377CEA-E94C-62F2-0520-D02EEEA044A8}"/>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Notaciones.java</a:t>
            </a:r>
          </a:p>
        </p:txBody>
      </p:sp>
      <p:sp>
        <p:nvSpPr>
          <p:cNvPr id="4" name="CuadroTexto 3">
            <a:extLst>
              <a:ext uri="{FF2B5EF4-FFF2-40B4-BE49-F238E27FC236}">
                <a16:creationId xmlns:a16="http://schemas.microsoft.com/office/drawing/2014/main" id="{D464258B-5F04-F3F9-83A5-C52647EB3166}"/>
              </a:ext>
            </a:extLst>
          </p:cNvPr>
          <p:cNvSpPr txBox="1"/>
          <p:nvPr/>
        </p:nvSpPr>
        <p:spPr>
          <a:xfrm>
            <a:off x="952500" y="1813902"/>
            <a:ext cx="6233160" cy="4093428"/>
          </a:xfrm>
          <a:prstGeom prst="rect">
            <a:avLst/>
          </a:prstGeom>
          <a:noFill/>
        </p:spPr>
        <p:txBody>
          <a:bodyPr wrap="square">
            <a:spAutoFit/>
          </a:bodyPr>
          <a:lstStyle>
            <a:defPPr>
              <a:defRPr lang="es-MX"/>
            </a:defPPr>
            <a:lvl1pPr algn="just">
              <a:buNone/>
              <a:defRPr/>
            </a:lvl1pPr>
          </a:lstStyle>
          <a:p>
            <a:pPr algn="l"/>
            <a:r>
              <a:rPr lang="es-MX" sz="2000" dirty="0"/>
              <a:t>Se desarrolló la clase Notaciones.java para trabajar con las diferentes formas de representar una expresión.</a:t>
            </a:r>
          </a:p>
          <a:p>
            <a:pPr algn="l"/>
            <a:r>
              <a:rPr lang="es-MX" sz="2000" dirty="0"/>
              <a:t>La aplicación permite ingresar una expresión y obtener sus representaciones en notación prefija, infija y postfija.</a:t>
            </a:r>
          </a:p>
          <a:p>
            <a:pPr algn="l"/>
            <a:r>
              <a:rPr lang="es-MX" sz="2000" dirty="0"/>
              <a:t>Ejemplo</a:t>
            </a:r>
          </a:p>
          <a:p>
            <a:pPr algn="l"/>
            <a:r>
              <a:rPr lang="es-MX" sz="2000" dirty="0"/>
              <a:t>Infija:</a:t>
            </a:r>
            <a:br>
              <a:rPr lang="es-MX" sz="2000" dirty="0"/>
            </a:br>
            <a:r>
              <a:rPr lang="es-MX" sz="2000" dirty="0"/>
              <a:t>a + b * c</a:t>
            </a:r>
          </a:p>
          <a:p>
            <a:pPr algn="l"/>
            <a:r>
              <a:rPr lang="es-MX" sz="2000" dirty="0"/>
              <a:t>Prefija:</a:t>
            </a:r>
            <a:br>
              <a:rPr lang="es-MX" sz="2000" dirty="0"/>
            </a:br>
            <a:r>
              <a:rPr lang="es-MX" sz="2000" dirty="0"/>
              <a:t>+ a * b c</a:t>
            </a:r>
          </a:p>
          <a:p>
            <a:pPr algn="l"/>
            <a:r>
              <a:rPr lang="es-MX" sz="2000" dirty="0"/>
              <a:t>Postfija:</a:t>
            </a:r>
            <a:br>
              <a:rPr lang="es-MX" sz="2000" dirty="0"/>
            </a:br>
            <a:r>
              <a:rPr lang="es-MX" sz="2000" dirty="0"/>
              <a:t>a b c * +</a:t>
            </a:r>
          </a:p>
          <a:p>
            <a:pPr algn="l"/>
            <a:r>
              <a:rPr lang="es-MX" sz="2000" dirty="0"/>
              <a:t>Estas notaciones modifican la posición de los operadores sin cambiar el significado de la expresión.</a:t>
            </a:r>
          </a:p>
        </p:txBody>
      </p:sp>
      <p:pic>
        <p:nvPicPr>
          <p:cNvPr id="6" name="Imagen 5">
            <a:extLst>
              <a:ext uri="{FF2B5EF4-FFF2-40B4-BE49-F238E27FC236}">
                <a16:creationId xmlns:a16="http://schemas.microsoft.com/office/drawing/2014/main" id="{B58684B0-FD23-5233-3CB7-D683AAA97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412" y="2401911"/>
            <a:ext cx="3840000" cy="2160000"/>
          </a:xfrm>
          <a:prstGeom prst="rect">
            <a:avLst/>
          </a:prstGeom>
        </p:spPr>
      </p:pic>
      <p:pic>
        <p:nvPicPr>
          <p:cNvPr id="9" name="Imagen 8">
            <a:extLst>
              <a:ext uri="{FF2B5EF4-FFF2-40B4-BE49-F238E27FC236}">
                <a16:creationId xmlns:a16="http://schemas.microsoft.com/office/drawing/2014/main" id="{53333EF1-D56E-0023-8E7D-BF1E8B876584}"/>
              </a:ext>
            </a:extLst>
          </p:cNvPr>
          <p:cNvPicPr>
            <a:picLocks noChangeAspect="1"/>
          </p:cNvPicPr>
          <p:nvPr/>
        </p:nvPicPr>
        <p:blipFill>
          <a:blip r:embed="rId3"/>
          <a:stretch>
            <a:fillRect/>
          </a:stretch>
        </p:blipFill>
        <p:spPr>
          <a:xfrm>
            <a:off x="7921412" y="241911"/>
            <a:ext cx="3840000" cy="2160000"/>
          </a:xfrm>
          <a:prstGeom prst="rect">
            <a:avLst/>
          </a:prstGeom>
        </p:spPr>
      </p:pic>
      <p:pic>
        <p:nvPicPr>
          <p:cNvPr id="11" name="Imagen 10">
            <a:extLst>
              <a:ext uri="{FF2B5EF4-FFF2-40B4-BE49-F238E27FC236}">
                <a16:creationId xmlns:a16="http://schemas.microsoft.com/office/drawing/2014/main" id="{DA974FC2-969E-4FDB-D248-7E3479E798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21412" y="4561911"/>
            <a:ext cx="3840000" cy="2160000"/>
          </a:xfrm>
          <a:prstGeom prst="rect">
            <a:avLst/>
          </a:prstGeom>
        </p:spPr>
      </p:pic>
    </p:spTree>
    <p:extLst>
      <p:ext uri="{BB962C8B-B14F-4D97-AF65-F5344CB8AC3E}">
        <p14:creationId xmlns:p14="http://schemas.microsoft.com/office/powerpoint/2010/main" val="87420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86827-D6D1-34CC-1CB0-337619B919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597790-4DC4-C52F-EDDC-96F90E300B5C}"/>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Representaciones.java</a:t>
            </a:r>
          </a:p>
        </p:txBody>
      </p:sp>
      <p:pic>
        <p:nvPicPr>
          <p:cNvPr id="5" name="Imagen 4">
            <a:extLst>
              <a:ext uri="{FF2B5EF4-FFF2-40B4-BE49-F238E27FC236}">
                <a16:creationId xmlns:a16="http://schemas.microsoft.com/office/drawing/2014/main" id="{C5321E75-6E39-79B9-75E3-9F67DFA26ADB}"/>
              </a:ext>
            </a:extLst>
          </p:cNvPr>
          <p:cNvPicPr>
            <a:picLocks noChangeAspect="1"/>
          </p:cNvPicPr>
          <p:nvPr/>
        </p:nvPicPr>
        <p:blipFill>
          <a:blip r:embed="rId2"/>
          <a:stretch>
            <a:fillRect/>
          </a:stretch>
        </p:blipFill>
        <p:spPr>
          <a:xfrm>
            <a:off x="619125" y="1488539"/>
            <a:ext cx="5120002" cy="2880001"/>
          </a:xfrm>
          <a:prstGeom prst="rect">
            <a:avLst/>
          </a:prstGeom>
        </p:spPr>
      </p:pic>
      <p:pic>
        <p:nvPicPr>
          <p:cNvPr id="8" name="Imagen 7">
            <a:extLst>
              <a:ext uri="{FF2B5EF4-FFF2-40B4-BE49-F238E27FC236}">
                <a16:creationId xmlns:a16="http://schemas.microsoft.com/office/drawing/2014/main" id="{D671F71D-0A7A-3285-551C-85A95395C7AE}"/>
              </a:ext>
            </a:extLst>
          </p:cNvPr>
          <p:cNvPicPr>
            <a:picLocks noChangeAspect="1"/>
          </p:cNvPicPr>
          <p:nvPr/>
        </p:nvPicPr>
        <p:blipFill>
          <a:blip r:embed="rId3"/>
          <a:stretch>
            <a:fillRect/>
          </a:stretch>
        </p:blipFill>
        <p:spPr>
          <a:xfrm>
            <a:off x="6096000" y="1488539"/>
            <a:ext cx="5400675" cy="3037880"/>
          </a:xfrm>
          <a:prstGeom prst="rect">
            <a:avLst/>
          </a:prstGeom>
        </p:spPr>
      </p:pic>
      <p:sp>
        <p:nvSpPr>
          <p:cNvPr id="11" name="CuadroTexto 10">
            <a:extLst>
              <a:ext uri="{FF2B5EF4-FFF2-40B4-BE49-F238E27FC236}">
                <a16:creationId xmlns:a16="http://schemas.microsoft.com/office/drawing/2014/main" id="{C6D13158-5C19-B2B8-2A50-AF76317F12CE}"/>
              </a:ext>
            </a:extLst>
          </p:cNvPr>
          <p:cNvSpPr txBox="1"/>
          <p:nvPr/>
        </p:nvSpPr>
        <p:spPr>
          <a:xfrm>
            <a:off x="695325" y="4630797"/>
            <a:ext cx="10658475" cy="1631216"/>
          </a:xfrm>
          <a:prstGeom prst="rect">
            <a:avLst/>
          </a:prstGeom>
          <a:noFill/>
        </p:spPr>
        <p:txBody>
          <a:bodyPr wrap="square">
            <a:spAutoFit/>
          </a:bodyPr>
          <a:lstStyle/>
          <a:p>
            <a:pPr algn="just"/>
            <a:r>
              <a:rPr lang="es-MX" sz="2000" dirty="0"/>
              <a:t>Se desarrolló la clase </a:t>
            </a:r>
            <a:r>
              <a:rPr lang="es-MX" sz="2000" dirty="0">
                <a:latin typeface="+mn-lt"/>
              </a:rPr>
              <a:t>Representaciones.java</a:t>
            </a:r>
            <a:r>
              <a:rPr lang="es-MX" sz="2000" dirty="0"/>
              <a:t> para mostrar diferentes formas de representar una expresión durante la generación de código intermedio. La aplicación permite ingresar una expresión y obtener representaciones mediante Notación Polaca, Código P, Triplos y Cuádruplos. Estas representaciones permiten descomponer las operaciones del código fuente en estructuras más sencillas, facilitando su análisis y posterior procesamiento dentro del compilador.</a:t>
            </a:r>
          </a:p>
        </p:txBody>
      </p:sp>
    </p:spTree>
    <p:extLst>
      <p:ext uri="{BB962C8B-B14F-4D97-AF65-F5344CB8AC3E}">
        <p14:creationId xmlns:p14="http://schemas.microsoft.com/office/powerpoint/2010/main" val="777604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17E1ED-4CE4-6E99-BE07-F4B095ECA4FF}"/>
              </a:ext>
            </a:extLst>
          </p:cNvPr>
          <p:cNvSpPr>
            <a:spLocks noGrp="1"/>
          </p:cNvSpPr>
          <p:nvPr>
            <p:ph type="title"/>
          </p:nvPr>
        </p:nvSpPr>
        <p:spPr/>
        <p:txBody>
          <a:bodyPr vert="horz" lIns="91440" tIns="45720" rIns="91440" bIns="45720" rtlCol="0" anchor="ctr">
            <a:normAutofit fontScale="90000"/>
          </a:bodyPr>
          <a:lstStyle/>
          <a:p>
            <a:pPr>
              <a:spcBef>
                <a:spcPts val="1000"/>
              </a:spcBef>
            </a:pPr>
            <a:r>
              <a:rPr lang="es-MX" sz="4800" b="1" dirty="0">
                <a:solidFill>
                  <a:schemeClr val="accent1"/>
                </a:solidFill>
                <a:ea typeface="+mn-ea"/>
                <a:cs typeface="+mn-cs"/>
              </a:rPr>
              <a:t>Notación Polaca, Código P, Triplos y Cuádruplos</a:t>
            </a:r>
          </a:p>
        </p:txBody>
      </p:sp>
      <p:sp>
        <p:nvSpPr>
          <p:cNvPr id="3" name="Marcador de contenido 2">
            <a:extLst>
              <a:ext uri="{FF2B5EF4-FFF2-40B4-BE49-F238E27FC236}">
                <a16:creationId xmlns:a16="http://schemas.microsoft.com/office/drawing/2014/main" id="{C7C08DAC-6FC2-D8F3-2647-DCAAE2A54591}"/>
              </a:ext>
            </a:extLst>
          </p:cNvPr>
          <p:cNvSpPr>
            <a:spLocks noGrp="1"/>
          </p:cNvSpPr>
          <p:nvPr>
            <p:ph idx="1"/>
          </p:nvPr>
        </p:nvSpPr>
        <p:spPr>
          <a:xfrm>
            <a:off x="838200" y="1591945"/>
            <a:ext cx="5654040" cy="5114221"/>
          </a:xfrm>
          <a:noFill/>
        </p:spPr>
        <p:txBody>
          <a:bodyPr wrap="square">
            <a:spAutoFit/>
          </a:bodyPr>
          <a:lstStyle/>
          <a:p>
            <a:pPr marL="0" algn="just">
              <a:buNone/>
            </a:pPr>
            <a:r>
              <a:rPr lang="es-MX" sz="1800" dirty="0"/>
              <a:t>Notación Polaca</a:t>
            </a:r>
          </a:p>
          <a:p>
            <a:pPr marL="0" algn="just">
              <a:buNone/>
            </a:pPr>
            <a:r>
              <a:rPr lang="es-MX" sz="1800" dirty="0"/>
              <a:t>Representa las expresiones colocando los operadores antes o después de los operandos, evitando en algunos casos el uso de paréntesis.</a:t>
            </a:r>
          </a:p>
          <a:p>
            <a:pPr marL="0" algn="just">
              <a:buNone/>
            </a:pPr>
            <a:r>
              <a:rPr lang="es-MX" sz="1800" dirty="0"/>
              <a:t>Código P</a:t>
            </a:r>
          </a:p>
          <a:p>
            <a:pPr marL="0" algn="just">
              <a:buNone/>
            </a:pPr>
            <a:r>
              <a:rPr lang="es-MX" sz="1800" dirty="0"/>
              <a:t>Es una representación intermedia basada en instrucciones sencillas que pueden ser interpretadas por una máquina virtual.</a:t>
            </a:r>
          </a:p>
          <a:p>
            <a:pPr marL="0" algn="just">
              <a:buNone/>
            </a:pPr>
            <a:r>
              <a:rPr lang="es-MX" sz="1800" dirty="0"/>
              <a:t>Triplos</a:t>
            </a:r>
          </a:p>
          <a:p>
            <a:pPr marL="0" algn="just">
              <a:buNone/>
            </a:pPr>
            <a:r>
              <a:rPr lang="es-MX" sz="1800" dirty="0"/>
              <a:t>Cada operación se representa mediante tres elementos:</a:t>
            </a:r>
          </a:p>
          <a:p>
            <a:pPr marL="0" algn="just">
              <a:buNone/>
            </a:pPr>
            <a:r>
              <a:rPr lang="es-MX" sz="1800" dirty="0"/>
              <a:t>Operador – Operando 1 – Operando 2</a:t>
            </a:r>
          </a:p>
          <a:p>
            <a:pPr marL="0" algn="just">
              <a:buNone/>
            </a:pPr>
            <a:r>
              <a:rPr lang="es-MX" sz="1800" dirty="0"/>
              <a:t>Cuádruplos</a:t>
            </a:r>
          </a:p>
          <a:p>
            <a:pPr marL="0" algn="just">
              <a:buNone/>
            </a:pPr>
            <a:r>
              <a:rPr lang="es-MX" sz="1800" dirty="0"/>
              <a:t>Cada instrucción utiliza cuatro campos:</a:t>
            </a:r>
          </a:p>
          <a:p>
            <a:pPr marL="0" algn="just">
              <a:buNone/>
            </a:pPr>
            <a:r>
              <a:rPr lang="es-MX" sz="1800" dirty="0"/>
              <a:t>Ejemplo:</a:t>
            </a:r>
          </a:p>
          <a:p>
            <a:pPr marL="0" algn="just">
              <a:buNone/>
            </a:pPr>
            <a:r>
              <a:rPr lang="es-MX" sz="1800" dirty="0"/>
              <a:t>(*, b, c, t1)</a:t>
            </a:r>
          </a:p>
        </p:txBody>
      </p:sp>
      <p:pic>
        <p:nvPicPr>
          <p:cNvPr id="5" name="Imagen 4">
            <a:extLst>
              <a:ext uri="{FF2B5EF4-FFF2-40B4-BE49-F238E27FC236}">
                <a16:creationId xmlns:a16="http://schemas.microsoft.com/office/drawing/2014/main" id="{D471DACC-BB0A-A20A-7D99-2F7057188FDA}"/>
              </a:ext>
            </a:extLst>
          </p:cNvPr>
          <p:cNvPicPr>
            <a:picLocks noChangeAspect="1"/>
          </p:cNvPicPr>
          <p:nvPr/>
        </p:nvPicPr>
        <p:blipFill>
          <a:blip r:embed="rId2"/>
          <a:stretch>
            <a:fillRect/>
          </a:stretch>
        </p:blipFill>
        <p:spPr>
          <a:xfrm>
            <a:off x="6598356" y="1825625"/>
            <a:ext cx="5120000" cy="2880000"/>
          </a:xfrm>
          <a:prstGeom prst="rect">
            <a:avLst/>
          </a:prstGeom>
        </p:spPr>
      </p:pic>
    </p:spTree>
    <p:extLst>
      <p:ext uri="{BB962C8B-B14F-4D97-AF65-F5344CB8AC3E}">
        <p14:creationId xmlns:p14="http://schemas.microsoft.com/office/powerpoint/2010/main" val="3396979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90D26-F439-00A4-A065-9E16A86787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1F11A5-58F1-AEB7-C6CA-A95C05B9C41C}"/>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GeneracionIntermedia.java</a:t>
            </a:r>
          </a:p>
        </p:txBody>
      </p:sp>
      <p:pic>
        <p:nvPicPr>
          <p:cNvPr id="13" name="Imagen 12">
            <a:extLst>
              <a:ext uri="{FF2B5EF4-FFF2-40B4-BE49-F238E27FC236}">
                <a16:creationId xmlns:a16="http://schemas.microsoft.com/office/drawing/2014/main" id="{71410459-CEA2-D3AE-2B07-C178591462B2}"/>
              </a:ext>
            </a:extLst>
          </p:cNvPr>
          <p:cNvPicPr>
            <a:picLocks noChangeAspect="1"/>
          </p:cNvPicPr>
          <p:nvPr/>
        </p:nvPicPr>
        <p:blipFill>
          <a:blip r:embed="rId2"/>
          <a:stretch>
            <a:fillRect/>
          </a:stretch>
        </p:blipFill>
        <p:spPr>
          <a:xfrm>
            <a:off x="7888605" y="2494645"/>
            <a:ext cx="3840000" cy="2160000"/>
          </a:xfrm>
          <a:prstGeom prst="rect">
            <a:avLst/>
          </a:prstGeom>
        </p:spPr>
      </p:pic>
      <p:pic>
        <p:nvPicPr>
          <p:cNvPr id="15" name="Imagen 14">
            <a:extLst>
              <a:ext uri="{FF2B5EF4-FFF2-40B4-BE49-F238E27FC236}">
                <a16:creationId xmlns:a16="http://schemas.microsoft.com/office/drawing/2014/main" id="{0F92CF95-FD2B-2026-2808-BAC037D439AE}"/>
              </a:ext>
            </a:extLst>
          </p:cNvPr>
          <p:cNvPicPr>
            <a:picLocks noChangeAspect="1"/>
          </p:cNvPicPr>
          <p:nvPr/>
        </p:nvPicPr>
        <p:blipFill>
          <a:blip r:embed="rId3"/>
          <a:stretch>
            <a:fillRect/>
          </a:stretch>
        </p:blipFill>
        <p:spPr>
          <a:xfrm>
            <a:off x="7888605" y="304165"/>
            <a:ext cx="3840000" cy="2160000"/>
          </a:xfrm>
          <a:prstGeom prst="rect">
            <a:avLst/>
          </a:prstGeom>
        </p:spPr>
      </p:pic>
      <p:sp>
        <p:nvSpPr>
          <p:cNvPr id="17" name="CuadroTexto 16">
            <a:extLst>
              <a:ext uri="{FF2B5EF4-FFF2-40B4-BE49-F238E27FC236}">
                <a16:creationId xmlns:a16="http://schemas.microsoft.com/office/drawing/2014/main" id="{F995D0C5-59BC-B6FE-F99F-502C88F96D3C}"/>
              </a:ext>
            </a:extLst>
          </p:cNvPr>
          <p:cNvSpPr txBox="1"/>
          <p:nvPr/>
        </p:nvSpPr>
        <p:spPr>
          <a:xfrm>
            <a:off x="1016000" y="1875919"/>
            <a:ext cx="6470650" cy="4154984"/>
          </a:xfrm>
          <a:prstGeom prst="rect">
            <a:avLst/>
          </a:prstGeom>
          <a:noFill/>
        </p:spPr>
        <p:txBody>
          <a:bodyPr wrap="square">
            <a:spAutoFit/>
          </a:bodyPr>
          <a:lstStyle/>
          <a:p>
            <a:pPr algn="just"/>
            <a:r>
              <a:rPr lang="es-MX" sz="2400" dirty="0"/>
              <a:t>Se desarrolló la clase </a:t>
            </a:r>
            <a:r>
              <a:rPr lang="es-MX" sz="2400" dirty="0">
                <a:latin typeface="+mn-lt"/>
              </a:rPr>
              <a:t>GeneracionIntermedia.java</a:t>
            </a:r>
            <a:r>
              <a:rPr lang="es-MX" sz="2400" dirty="0"/>
              <a:t> para generar código de tres direcciones a partir de expresiones ingresadas por el usuario. El programa analiza la expresión, respeta la prioridad de los operadores y utiliza variables temporales para dividir las operaciones complejas en instrucciones más sencillas. Por ejemplo, para la expresión </a:t>
            </a:r>
            <a:r>
              <a:rPr lang="es-MX" sz="2400" dirty="0">
                <a:latin typeface="+mn-lt"/>
              </a:rPr>
              <a:t>x = a + b * c</a:t>
            </a:r>
            <a:r>
              <a:rPr lang="es-MX" sz="2400" dirty="0"/>
              <a:t>, primero se genera </a:t>
            </a:r>
            <a:r>
              <a:rPr lang="es-MX" sz="2400" dirty="0">
                <a:latin typeface="+mn-lt"/>
              </a:rPr>
              <a:t>T1 = b * c</a:t>
            </a:r>
            <a:r>
              <a:rPr lang="es-MX" sz="2400" dirty="0"/>
              <a:t>, posteriormente </a:t>
            </a:r>
            <a:r>
              <a:rPr lang="es-MX" sz="2400" dirty="0">
                <a:latin typeface="+mn-lt"/>
              </a:rPr>
              <a:t>T2 = a + T1</a:t>
            </a:r>
            <a:r>
              <a:rPr lang="es-MX" sz="2400" dirty="0"/>
              <a:t> y finalmente </a:t>
            </a:r>
            <a:r>
              <a:rPr lang="es-MX" sz="2400" dirty="0">
                <a:latin typeface="+mn-lt"/>
              </a:rPr>
              <a:t>x = T2</a:t>
            </a:r>
            <a:r>
              <a:rPr lang="es-MX" sz="2400" dirty="0"/>
              <a:t>, obteniendo así una representación intermedia del código fuente.</a:t>
            </a:r>
          </a:p>
        </p:txBody>
      </p:sp>
      <p:pic>
        <p:nvPicPr>
          <p:cNvPr id="19" name="Imagen 18">
            <a:extLst>
              <a:ext uri="{FF2B5EF4-FFF2-40B4-BE49-F238E27FC236}">
                <a16:creationId xmlns:a16="http://schemas.microsoft.com/office/drawing/2014/main" id="{DBBF06D4-A9BF-C48A-582F-A36FB66313DA}"/>
              </a:ext>
            </a:extLst>
          </p:cNvPr>
          <p:cNvPicPr>
            <a:picLocks noChangeAspect="1"/>
          </p:cNvPicPr>
          <p:nvPr/>
        </p:nvPicPr>
        <p:blipFill>
          <a:blip r:embed="rId4"/>
          <a:stretch>
            <a:fillRect/>
          </a:stretch>
        </p:blipFill>
        <p:spPr>
          <a:xfrm>
            <a:off x="7888605" y="4677281"/>
            <a:ext cx="3840000" cy="2160000"/>
          </a:xfrm>
          <a:prstGeom prst="rect">
            <a:avLst/>
          </a:prstGeom>
        </p:spPr>
      </p:pic>
    </p:spTree>
    <p:extLst>
      <p:ext uri="{BB962C8B-B14F-4D97-AF65-F5344CB8AC3E}">
        <p14:creationId xmlns:p14="http://schemas.microsoft.com/office/powerpoint/2010/main" val="3197711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BD58-882E-0A2F-21C7-CCA6EA4E2C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F2C7FE-CA91-5A65-A5BE-96C5A8A57FCE}"/>
              </a:ext>
            </a:extLst>
          </p:cNvPr>
          <p:cNvSpPr>
            <a:spLocks noGrp="1"/>
          </p:cNvSpPr>
          <p:nvPr>
            <p:ph type="title"/>
          </p:nvPr>
        </p:nvSpPr>
        <p:spPr/>
        <p:txBody>
          <a:bodyPr>
            <a:normAutofit/>
          </a:bodyPr>
          <a:lstStyle/>
          <a:p>
            <a:pPr>
              <a:spcBef>
                <a:spcPts val="1000"/>
              </a:spcBef>
            </a:pPr>
            <a:r>
              <a:rPr lang="es-MX" sz="4800" b="1" dirty="0">
                <a:solidFill>
                  <a:schemeClr val="accent1"/>
                </a:solidFill>
                <a:ea typeface="+mn-ea"/>
                <a:cs typeface="+mn-cs"/>
              </a:rPr>
              <a:t>Resultado</a:t>
            </a:r>
          </a:p>
        </p:txBody>
      </p:sp>
      <p:sp>
        <p:nvSpPr>
          <p:cNvPr id="3" name="CuadroTexto 2">
            <a:extLst>
              <a:ext uri="{FF2B5EF4-FFF2-40B4-BE49-F238E27FC236}">
                <a16:creationId xmlns:a16="http://schemas.microsoft.com/office/drawing/2014/main" id="{6B54188F-2128-98DE-BB0B-3D2E96BA94E1}"/>
              </a:ext>
            </a:extLst>
          </p:cNvPr>
          <p:cNvSpPr txBox="1"/>
          <p:nvPr/>
        </p:nvSpPr>
        <p:spPr>
          <a:xfrm>
            <a:off x="838200" y="2136338"/>
            <a:ext cx="10515600" cy="4524315"/>
          </a:xfrm>
          <a:prstGeom prst="rect">
            <a:avLst/>
          </a:prstGeom>
          <a:noFill/>
        </p:spPr>
        <p:txBody>
          <a:bodyPr wrap="square" rtlCol="0">
            <a:spAutoFit/>
          </a:bodyPr>
          <a:lstStyle/>
          <a:p>
            <a:pPr algn="just"/>
            <a:r>
              <a:rPr lang="es-MX" sz="2400" dirty="0"/>
              <a:t>Como resultado de la práctica se obtuvo una aplicación funcional desarrollada mediante Java y </a:t>
            </a:r>
            <a:r>
              <a:rPr lang="es-MX" sz="2400" dirty="0" err="1"/>
              <a:t>JavaFX</a:t>
            </a:r>
            <a:r>
              <a:rPr lang="es-MX" sz="2400" dirty="0"/>
              <a:t> que permite representar los principales conceptos correspondientes a la generación de código intermedio.</a:t>
            </a:r>
          </a:p>
          <a:p>
            <a:pPr algn="just"/>
            <a:r>
              <a:rPr lang="es-MX" sz="2400" dirty="0"/>
              <a:t>El sistema cuenta con una interfaz gráfica mediante la cual se puede acceder a los módulos de notaciones, representaciones y generación de código intermedio.</a:t>
            </a:r>
          </a:p>
          <a:p>
            <a:pPr algn="just"/>
            <a:r>
              <a:rPr lang="es-MX" sz="2400" dirty="0"/>
              <a:t>Durante las pruebas realizadas se verificó la correcta navegación entre las diferentes ventanas, así como el procesamiento de expresiones ingresadas por el usuario.</a:t>
            </a:r>
          </a:p>
          <a:p>
            <a:pPr algn="just"/>
            <a:r>
              <a:rPr lang="es-MX" sz="2400" dirty="0"/>
              <a:t>La aplicación permitió observar de manera práctica cómo una expresión del código fuente puede ser transformada en diferentes representaciones e instrucciones intermedias.</a:t>
            </a:r>
          </a:p>
          <a:p>
            <a:endParaRPr lang="es-MX" sz="2400" dirty="0"/>
          </a:p>
        </p:txBody>
      </p:sp>
    </p:spTree>
    <p:extLst>
      <p:ext uri="{BB962C8B-B14F-4D97-AF65-F5344CB8AC3E}">
        <p14:creationId xmlns:p14="http://schemas.microsoft.com/office/powerpoint/2010/main" val="1542460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968375"/>
            <a:ext cx="10515600" cy="4351338"/>
          </a:xfrm>
        </p:spPr>
        <p:txBody>
          <a:bodyPr>
            <a:normAutofit/>
          </a:bodyPr>
          <a:lstStyle/>
          <a:p>
            <a:pPr marL="0" indent="0">
              <a:buNone/>
            </a:pPr>
            <a:r>
              <a:rPr lang="es-MX" sz="4800" b="1" dirty="0">
                <a:solidFill>
                  <a:schemeClr val="accent1"/>
                </a:solidFill>
                <a:latin typeface="+mj-lt"/>
              </a:rPr>
              <a:t>Conclusión</a:t>
            </a:r>
          </a:p>
        </p:txBody>
      </p:sp>
      <p:sp>
        <p:nvSpPr>
          <p:cNvPr id="4" name="CuadroTexto 3">
            <a:extLst>
              <a:ext uri="{FF2B5EF4-FFF2-40B4-BE49-F238E27FC236}">
                <a16:creationId xmlns:a16="http://schemas.microsoft.com/office/drawing/2014/main" id="{087B5DCA-49E2-C06D-3AFE-844574458E48}"/>
              </a:ext>
            </a:extLst>
          </p:cNvPr>
          <p:cNvSpPr txBox="1"/>
          <p:nvPr/>
        </p:nvSpPr>
        <p:spPr>
          <a:xfrm>
            <a:off x="680720" y="1805861"/>
            <a:ext cx="10673080" cy="3416320"/>
          </a:xfrm>
          <a:prstGeom prst="rect">
            <a:avLst/>
          </a:prstGeom>
          <a:noFill/>
        </p:spPr>
        <p:txBody>
          <a:bodyPr wrap="square">
            <a:spAutoFit/>
          </a:bodyPr>
          <a:lstStyle/>
          <a:p>
            <a:pPr algn="just">
              <a:buNone/>
            </a:pPr>
            <a:r>
              <a:rPr lang="es-MX" sz="2400" dirty="0"/>
              <a:t>Mediante esta práctica fue posible comprender de manera práctica el proceso de generación de código intermedio dentro de un compilador. La implementación de los módulos de notaciones, representaciones y generación de código intermedio permitió analizar cómo las expresiones del código fuente pueden transformarse en estructuras más sencillas para facilitar su procesamiento. También se comprendió la importancia de los esquemas de generación aplicados a variables, constantes, expresiones, asignaciones, instrucciones de control, funciones y estructuras. Finalmente, el uso de Java y </a:t>
            </a:r>
            <a:r>
              <a:rPr lang="es-MX" sz="2400" dirty="0" err="1"/>
              <a:t>JavaFX</a:t>
            </a:r>
            <a:r>
              <a:rPr lang="es-MX" sz="2400" dirty="0"/>
              <a:t> permitió relacionar los conceptos teóricos de la Unidad 2 con una implementación funcional mediante programación.</a:t>
            </a:r>
          </a:p>
        </p:txBody>
      </p:sp>
    </p:spTree>
    <p:extLst>
      <p:ext uri="{BB962C8B-B14F-4D97-AF65-F5344CB8AC3E}">
        <p14:creationId xmlns:p14="http://schemas.microsoft.com/office/powerpoint/2010/main" val="4155922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4124EC-CD38-C073-CDBA-5D847311AD5F}"/>
              </a:ext>
            </a:extLst>
          </p:cNvPr>
          <p:cNvSpPr>
            <a:spLocks noGrp="1"/>
          </p:cNvSpPr>
          <p:nvPr>
            <p:ph type="title"/>
          </p:nvPr>
        </p:nvSpPr>
        <p:spPr/>
        <p:txBody>
          <a:bodyPr/>
          <a:lstStyle/>
          <a:p>
            <a:r>
              <a:rPr lang="es-MX" b="1" dirty="0">
                <a:solidFill>
                  <a:schemeClr val="accent1"/>
                </a:solidFill>
              </a:rPr>
              <a:t>FUENTE DE INFORMACION</a:t>
            </a:r>
          </a:p>
        </p:txBody>
      </p:sp>
      <p:sp>
        <p:nvSpPr>
          <p:cNvPr id="3" name="Marcador de contenido 2">
            <a:extLst>
              <a:ext uri="{FF2B5EF4-FFF2-40B4-BE49-F238E27FC236}">
                <a16:creationId xmlns:a16="http://schemas.microsoft.com/office/drawing/2014/main" id="{820F83E8-77E6-BA3C-CE9D-7E292129AB41}"/>
              </a:ext>
            </a:extLst>
          </p:cNvPr>
          <p:cNvSpPr>
            <a:spLocks noGrp="1"/>
          </p:cNvSpPr>
          <p:nvPr>
            <p:ph idx="1"/>
          </p:nvPr>
        </p:nvSpPr>
        <p:spPr/>
        <p:txBody>
          <a:bodyPr>
            <a:normAutofit fontScale="70000" lnSpcReduction="20000"/>
          </a:bodyPr>
          <a:lstStyle/>
          <a:p>
            <a:pPr marL="0" indent="0">
              <a:buNone/>
            </a:pPr>
            <a:r>
              <a:rPr lang="es-MX" dirty="0"/>
              <a:t>Aquino Villanueva, R. (2026). </a:t>
            </a:r>
            <a:r>
              <a:rPr lang="es-MX" i="1" dirty="0"/>
              <a:t>LYAII</a:t>
            </a:r>
            <a:r>
              <a:rPr lang="es-MX" dirty="0"/>
              <a:t> Código fuente. GitHub.</a:t>
            </a:r>
            <a:br>
              <a:rPr lang="es-MX" dirty="0"/>
            </a:br>
            <a:r>
              <a:rPr lang="es-MX" dirty="0">
                <a:hlinkClick r:id="rId2"/>
              </a:rPr>
              <a:t>https://github.com/rafaelrav8770/LYAll.git</a:t>
            </a:r>
            <a:br>
              <a:rPr lang="es-MX" dirty="0"/>
            </a:br>
            <a:r>
              <a:rPr lang="es-MX" dirty="0" err="1"/>
              <a:t>OpenDSA</a:t>
            </a:r>
            <a:r>
              <a:rPr lang="es-MX" dirty="0"/>
              <a:t> Project </a:t>
            </a:r>
            <a:r>
              <a:rPr lang="es-MX" dirty="0" err="1"/>
              <a:t>Contributors</a:t>
            </a:r>
            <a:r>
              <a:rPr lang="es-MX" dirty="0"/>
              <a:t>. (2026). </a:t>
            </a:r>
            <a:r>
              <a:rPr lang="es-MX" i="1" dirty="0" err="1"/>
              <a:t>Structure</a:t>
            </a:r>
            <a:r>
              <a:rPr lang="es-MX" i="1" dirty="0"/>
              <a:t> </a:t>
            </a:r>
            <a:r>
              <a:rPr lang="es-MX" i="1" dirty="0" err="1"/>
              <a:t>of</a:t>
            </a:r>
            <a:r>
              <a:rPr lang="es-MX" i="1" dirty="0"/>
              <a:t> a </a:t>
            </a:r>
            <a:r>
              <a:rPr lang="es-MX" i="1" dirty="0" err="1"/>
              <a:t>compiler</a:t>
            </a:r>
            <a:r>
              <a:rPr lang="es-MX" dirty="0"/>
              <a:t>. </a:t>
            </a:r>
            <a:r>
              <a:rPr lang="es-MX" dirty="0" err="1"/>
              <a:t>OpenDSA</a:t>
            </a:r>
            <a:r>
              <a:rPr lang="es-MX" dirty="0"/>
              <a:t>.</a:t>
            </a:r>
            <a:br>
              <a:rPr lang="es-MX" dirty="0"/>
            </a:br>
            <a:r>
              <a:rPr lang="es-MX" dirty="0">
                <a:hlinkClick r:id="rId3"/>
              </a:rPr>
              <a:t>https://opendsa-server.cs.vt.edu/ODSA/StandaloneModules/20260113122745/html/Compiler.html</a:t>
            </a:r>
            <a:endParaRPr lang="es-MX" dirty="0"/>
          </a:p>
          <a:p>
            <a:pPr marL="0" indent="0">
              <a:buNone/>
            </a:pPr>
            <a:r>
              <a:rPr lang="es-MX" dirty="0"/>
              <a:t>Benítez Quecha, C. (2023). </a:t>
            </a:r>
            <a:r>
              <a:rPr lang="es-MX" i="1" dirty="0"/>
              <a:t>Apuntes para la materia de Lenguajes y Autómatas II</a:t>
            </a:r>
            <a:r>
              <a:rPr lang="es-MX" dirty="0"/>
              <a:t>. Tecnológico Nacional de México, Campus Oaxaca.</a:t>
            </a:r>
          </a:p>
          <a:p>
            <a:pPr marL="0" indent="0">
              <a:buNone/>
            </a:pPr>
            <a:r>
              <a:rPr lang="es-MX" dirty="0"/>
              <a:t>Instituto Tecnológico Superior de Calkiní en el Estado de Campeche. (s. f.). </a:t>
            </a:r>
            <a:r>
              <a:rPr lang="es-MX" i="1" dirty="0"/>
              <a:t>Syllabus SCD-1016: Lenguajes y Autómatas II</a:t>
            </a:r>
            <a:r>
              <a:rPr lang="es-MX" dirty="0"/>
              <a:t>. ITESCAM.</a:t>
            </a:r>
            <a:br>
              <a:rPr lang="es-MX" dirty="0"/>
            </a:br>
            <a:r>
              <a:rPr lang="es-MX" dirty="0">
                <a:hlinkClick r:id="rId4"/>
              </a:rPr>
              <a:t>https://www.itescam.edu.mx/portal/asignatura.php?clave_asig=SCD-1016&amp;carrera=ISIC-2010-224&amp;id_d=16</a:t>
            </a:r>
            <a:endParaRPr lang="es-MX" dirty="0"/>
          </a:p>
          <a:p>
            <a:pPr marL="0" indent="0">
              <a:buNone/>
            </a:pPr>
            <a:r>
              <a:rPr lang="es-MX" dirty="0"/>
              <a:t>Orozco, V. (2022, 13 de junio). </a:t>
            </a:r>
            <a:r>
              <a:rPr lang="es-MX" i="1" dirty="0"/>
              <a:t>Creando un analizador léxico con </a:t>
            </a:r>
            <a:r>
              <a:rPr lang="es-MX" i="1" dirty="0" err="1"/>
              <a:t>JFlex</a:t>
            </a:r>
            <a:r>
              <a:rPr lang="es-MX" i="1" dirty="0"/>
              <a:t>, Maven y Java 17</a:t>
            </a:r>
            <a:r>
              <a:rPr lang="es-MX" dirty="0"/>
              <a:t> [Video]. YouTube.</a:t>
            </a:r>
            <a:br>
              <a:rPr lang="es-MX" dirty="0"/>
            </a:br>
            <a:r>
              <a:rPr lang="es-MX" dirty="0">
                <a:hlinkClick r:id="rId5"/>
              </a:rPr>
              <a:t>https://www.youtube.com/watch?v=R6znBEekUVA</a:t>
            </a:r>
            <a:endParaRPr lang="es-MX" dirty="0"/>
          </a:p>
          <a:p>
            <a:pPr marL="0" indent="0">
              <a:buNone/>
            </a:pPr>
            <a:r>
              <a:rPr lang="es-MX" dirty="0" err="1"/>
              <a:t>JFlex</a:t>
            </a:r>
            <a:r>
              <a:rPr lang="es-MX" dirty="0"/>
              <a:t> Team. (s. f.). </a:t>
            </a:r>
            <a:r>
              <a:rPr lang="es-MX" i="1" dirty="0" err="1"/>
              <a:t>JFlex</a:t>
            </a:r>
            <a:r>
              <a:rPr lang="es-MX" i="1" dirty="0"/>
              <a:t> </a:t>
            </a:r>
            <a:r>
              <a:rPr lang="es-MX" i="1" dirty="0" err="1"/>
              <a:t>user’s</a:t>
            </a:r>
            <a:r>
              <a:rPr lang="es-MX" i="1" dirty="0"/>
              <a:t> manual</a:t>
            </a:r>
            <a:r>
              <a:rPr lang="es-MX" dirty="0"/>
              <a:t>.</a:t>
            </a:r>
            <a:br>
              <a:rPr lang="es-MX" dirty="0"/>
            </a:br>
            <a:r>
              <a:rPr lang="es-MX" dirty="0">
                <a:hlinkClick r:id="rId6"/>
              </a:rPr>
              <a:t>https://jflex.de/manual</a:t>
            </a:r>
            <a:r>
              <a:rPr lang="es-MX">
                <a:hlinkClick r:id="rId6"/>
              </a:rPr>
              <a:t>.html</a:t>
            </a:r>
            <a:endParaRPr lang="es-MX" dirty="0"/>
          </a:p>
        </p:txBody>
      </p:sp>
    </p:spTree>
    <p:extLst>
      <p:ext uri="{BB962C8B-B14F-4D97-AF65-F5344CB8AC3E}">
        <p14:creationId xmlns:p14="http://schemas.microsoft.com/office/powerpoint/2010/main" val="14363354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3034</TotalTime>
  <Words>1593</Words>
  <Application>Microsoft Office PowerPoint</Application>
  <PresentationFormat>Panorámica</PresentationFormat>
  <Paragraphs>84</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Calibri Light</vt:lpstr>
      <vt:lpstr>Tema de Office</vt:lpstr>
      <vt:lpstr>Presentación de PowerPoint</vt:lpstr>
      <vt:lpstr>Presentación de PowerPoint</vt:lpstr>
      <vt:lpstr>Presentación de PowerPoint</vt:lpstr>
      <vt:lpstr>Justificación</vt:lpstr>
      <vt:lpstr>Creación del menú principal de generación de código intermedio</vt:lpstr>
      <vt:lpstr>Programación de las opciones del Tema 2</vt:lpstr>
      <vt:lpstr>Creación del menú del Tema 2</vt:lpstr>
      <vt:lpstr>Desarrollo del compilador</vt:lpstr>
      <vt:lpstr>Estructura del proyecto</vt:lpstr>
      <vt:lpstr>Tema 2 – generación de código intermedio</vt:lpstr>
      <vt:lpstr>Notaciones.java</vt:lpstr>
      <vt:lpstr>Representaciones.java</vt:lpstr>
      <vt:lpstr>Notación Polaca, Código P, Triplos y Cuádruplos</vt:lpstr>
      <vt:lpstr>GeneracionIntermedia.java</vt:lpstr>
      <vt:lpstr>Resultado</vt:lpstr>
      <vt:lpstr>Presentación de PowerPoint</vt:lpstr>
      <vt:lpstr>FUENTE DE INFORMACION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62</cp:revision>
  <dcterms:created xsi:type="dcterms:W3CDTF">2026-02-14T13:39:49Z</dcterms:created>
  <dcterms:modified xsi:type="dcterms:W3CDTF">2026-09-20T14:37:47Z</dcterms:modified>
</cp:coreProperties>
</file>