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 r:id="rId2"/>
    <p:sldId id="263" r:id="rId3"/>
    <p:sldId id="258" r:id="rId4"/>
    <p:sldId id="303" r:id="rId5"/>
    <p:sldId id="277" r:id="rId6"/>
    <p:sldId id="304" r:id="rId7"/>
    <p:sldId id="305" r:id="rId8"/>
    <p:sldId id="306" r:id="rId9"/>
    <p:sldId id="307" r:id="rId10"/>
    <p:sldId id="308" r:id="rId11"/>
    <p:sldId id="309" r:id="rId12"/>
    <p:sldId id="310" r:id="rId13"/>
    <p:sldId id="311" r:id="rId14"/>
    <p:sldId id="312" r:id="rId15"/>
    <p:sldId id="314" r:id="rId16"/>
    <p:sldId id="315" r:id="rId17"/>
    <p:sldId id="313" r:id="rId18"/>
    <p:sldId id="260" r:id="rId19"/>
    <p:sldId id="316" r:id="rId20"/>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Estilo claro 3 - Acento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0" d="100"/>
          <a:sy n="80" d="100"/>
        </p:scale>
        <p:origin x="782"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8B5F02-D1F5-4A8C-9E16-879D2FAAE6D2}" type="datetimeFigureOut">
              <a:rPr lang="es-MX" smtClean="0"/>
              <a:t>20/09/2026</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08E338-237A-4FD6-91E8-AE3330CCA9C3}" type="slidenum">
              <a:rPr lang="es-MX" smtClean="0"/>
              <a:t>‹Nº›</a:t>
            </a:fld>
            <a:endParaRPr lang="es-MX"/>
          </a:p>
        </p:txBody>
      </p:sp>
    </p:spTree>
    <p:extLst>
      <p:ext uri="{BB962C8B-B14F-4D97-AF65-F5344CB8AC3E}">
        <p14:creationId xmlns:p14="http://schemas.microsoft.com/office/powerpoint/2010/main" val="6514339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2797A6B-C8A5-A893-2EB4-EAD802D176BF}"/>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12E9E8D3-983C-1FBA-F097-D58F78BA921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20900B84-F10B-751B-5908-FC18C6422C01}"/>
              </a:ext>
            </a:extLst>
          </p:cNvPr>
          <p:cNvSpPr>
            <a:spLocks noGrp="1"/>
          </p:cNvSpPr>
          <p:nvPr>
            <p:ph type="dt" sz="half" idx="10"/>
          </p:nvPr>
        </p:nvSpPr>
        <p:spPr/>
        <p:txBody>
          <a:bodyPr/>
          <a:lstStyle/>
          <a:p>
            <a:fld id="{B744A13C-A177-47DD-903A-D74B08377F6A}" type="datetimeFigureOut">
              <a:rPr lang="es-MX" smtClean="0"/>
              <a:t>20/09/2026</a:t>
            </a:fld>
            <a:endParaRPr lang="es-MX"/>
          </a:p>
        </p:txBody>
      </p:sp>
      <p:sp>
        <p:nvSpPr>
          <p:cNvPr id="5" name="Marcador de pie de página 4">
            <a:extLst>
              <a:ext uri="{FF2B5EF4-FFF2-40B4-BE49-F238E27FC236}">
                <a16:creationId xmlns:a16="http://schemas.microsoft.com/office/drawing/2014/main" id="{89A144F6-9197-16C1-A989-50C7A0E4960F}"/>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86DBAAEB-1ABF-E979-BAC2-66927C69E877}"/>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18272842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953055-0E2B-CB93-6D72-F6BFE456BAAF}"/>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BC4E3AF4-F79F-763A-9DAF-C6C175A55FA4}"/>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A8555DC5-3E01-56E7-631E-04D4A904C314}"/>
              </a:ext>
            </a:extLst>
          </p:cNvPr>
          <p:cNvSpPr>
            <a:spLocks noGrp="1"/>
          </p:cNvSpPr>
          <p:nvPr>
            <p:ph type="dt" sz="half" idx="10"/>
          </p:nvPr>
        </p:nvSpPr>
        <p:spPr/>
        <p:txBody>
          <a:bodyPr/>
          <a:lstStyle/>
          <a:p>
            <a:fld id="{B744A13C-A177-47DD-903A-D74B08377F6A}" type="datetimeFigureOut">
              <a:rPr lang="es-MX" smtClean="0"/>
              <a:t>20/09/2026</a:t>
            </a:fld>
            <a:endParaRPr lang="es-MX"/>
          </a:p>
        </p:txBody>
      </p:sp>
      <p:sp>
        <p:nvSpPr>
          <p:cNvPr id="5" name="Marcador de pie de página 4">
            <a:extLst>
              <a:ext uri="{FF2B5EF4-FFF2-40B4-BE49-F238E27FC236}">
                <a16:creationId xmlns:a16="http://schemas.microsoft.com/office/drawing/2014/main" id="{55B53975-0403-0D44-401F-71EA01B2175C}"/>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763A586F-F27C-248A-D498-ADFFEFE93691}"/>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0642903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8E57E10-4726-7D0A-E1F8-93439BFF20A4}"/>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A7C9CE40-9232-9AC4-A9C6-59A9B847313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D81E2653-A3E2-493F-59D0-04D925E18921}"/>
              </a:ext>
            </a:extLst>
          </p:cNvPr>
          <p:cNvSpPr>
            <a:spLocks noGrp="1"/>
          </p:cNvSpPr>
          <p:nvPr>
            <p:ph type="dt" sz="half" idx="10"/>
          </p:nvPr>
        </p:nvSpPr>
        <p:spPr/>
        <p:txBody>
          <a:bodyPr/>
          <a:lstStyle/>
          <a:p>
            <a:fld id="{B744A13C-A177-47DD-903A-D74B08377F6A}" type="datetimeFigureOut">
              <a:rPr lang="es-MX" smtClean="0"/>
              <a:t>20/09/2026</a:t>
            </a:fld>
            <a:endParaRPr lang="es-MX"/>
          </a:p>
        </p:txBody>
      </p:sp>
      <p:sp>
        <p:nvSpPr>
          <p:cNvPr id="5" name="Marcador de pie de página 4">
            <a:extLst>
              <a:ext uri="{FF2B5EF4-FFF2-40B4-BE49-F238E27FC236}">
                <a16:creationId xmlns:a16="http://schemas.microsoft.com/office/drawing/2014/main" id="{1ADFD983-ED4E-38A6-DCD5-DB9EF6346AC5}"/>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BD502D16-37E0-4D0D-5BB7-68A3BDB4C672}"/>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0220891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60EA5F-E2E9-67F7-E292-C84FCB6FE5E8}"/>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7F13239D-44F0-8AD1-FF8A-D79A0CA81779}"/>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3769FD3F-356E-6F60-6A25-56717337FB98}"/>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917C736D-F3D7-D82B-BB73-E65F46C18CBA}"/>
              </a:ext>
            </a:extLst>
          </p:cNvPr>
          <p:cNvSpPr>
            <a:spLocks noGrp="1"/>
          </p:cNvSpPr>
          <p:nvPr>
            <p:ph type="dt" sz="half" idx="10"/>
          </p:nvPr>
        </p:nvSpPr>
        <p:spPr/>
        <p:txBody>
          <a:bodyPr/>
          <a:lstStyle/>
          <a:p>
            <a:fld id="{B744A13C-A177-47DD-903A-D74B08377F6A}" type="datetimeFigureOut">
              <a:rPr lang="es-MX" smtClean="0"/>
              <a:t>20/09/2026</a:t>
            </a:fld>
            <a:endParaRPr lang="es-MX"/>
          </a:p>
        </p:txBody>
      </p:sp>
      <p:sp>
        <p:nvSpPr>
          <p:cNvPr id="6" name="Marcador de pie de página 5">
            <a:extLst>
              <a:ext uri="{FF2B5EF4-FFF2-40B4-BE49-F238E27FC236}">
                <a16:creationId xmlns:a16="http://schemas.microsoft.com/office/drawing/2014/main" id="{C692062B-BCCF-C2B2-D017-588DE122978E}"/>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D0151BE1-2995-E957-66B3-46B9B16082AB}"/>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23249257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81DADCE-63AC-54B1-31D4-48CC1F8280F6}"/>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7BE131CC-B953-9DA0-84D7-342F7661F72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D1ADC272-3617-466E-F6F0-16A81075165E}"/>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6FDDCA87-61A0-8976-E9D1-03EDE6E1143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350B0352-2822-B688-0216-B6F8FB988F72}"/>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DA0D192A-B4AB-FABE-D934-62F9F766DA0D}"/>
              </a:ext>
            </a:extLst>
          </p:cNvPr>
          <p:cNvSpPr>
            <a:spLocks noGrp="1"/>
          </p:cNvSpPr>
          <p:nvPr>
            <p:ph type="dt" sz="half" idx="10"/>
          </p:nvPr>
        </p:nvSpPr>
        <p:spPr/>
        <p:txBody>
          <a:bodyPr/>
          <a:lstStyle/>
          <a:p>
            <a:fld id="{B744A13C-A177-47DD-903A-D74B08377F6A}" type="datetimeFigureOut">
              <a:rPr lang="es-MX" smtClean="0"/>
              <a:t>20/09/2026</a:t>
            </a:fld>
            <a:endParaRPr lang="es-MX"/>
          </a:p>
        </p:txBody>
      </p:sp>
      <p:sp>
        <p:nvSpPr>
          <p:cNvPr id="8" name="Marcador de pie de página 7">
            <a:extLst>
              <a:ext uri="{FF2B5EF4-FFF2-40B4-BE49-F238E27FC236}">
                <a16:creationId xmlns:a16="http://schemas.microsoft.com/office/drawing/2014/main" id="{144D7369-D1D8-1689-1054-CDA289864608}"/>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538CB792-19CD-5761-B36C-DC7CC94594B6}"/>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8315431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3624A4-077D-5486-B7D9-11FE3E1CD160}"/>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8C9D86B5-34D8-63DA-CA5E-EB64FC37BEA0}"/>
              </a:ext>
            </a:extLst>
          </p:cNvPr>
          <p:cNvSpPr>
            <a:spLocks noGrp="1"/>
          </p:cNvSpPr>
          <p:nvPr>
            <p:ph type="dt" sz="half" idx="10"/>
          </p:nvPr>
        </p:nvSpPr>
        <p:spPr/>
        <p:txBody>
          <a:bodyPr/>
          <a:lstStyle/>
          <a:p>
            <a:fld id="{B744A13C-A177-47DD-903A-D74B08377F6A}" type="datetimeFigureOut">
              <a:rPr lang="es-MX" smtClean="0"/>
              <a:t>20/09/2026</a:t>
            </a:fld>
            <a:endParaRPr lang="es-MX"/>
          </a:p>
        </p:txBody>
      </p:sp>
      <p:sp>
        <p:nvSpPr>
          <p:cNvPr id="4" name="Marcador de pie de página 3">
            <a:extLst>
              <a:ext uri="{FF2B5EF4-FFF2-40B4-BE49-F238E27FC236}">
                <a16:creationId xmlns:a16="http://schemas.microsoft.com/office/drawing/2014/main" id="{9F1CB502-05EE-237F-2E29-626516E35C13}"/>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254E0509-4D7E-FE6F-A441-35102690137D}"/>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19341986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13D2BB40-084A-590A-568A-4FBC55A7A4CC}"/>
              </a:ext>
            </a:extLst>
          </p:cNvPr>
          <p:cNvSpPr>
            <a:spLocks noGrp="1"/>
          </p:cNvSpPr>
          <p:nvPr>
            <p:ph type="dt" sz="half" idx="10"/>
          </p:nvPr>
        </p:nvSpPr>
        <p:spPr/>
        <p:txBody>
          <a:bodyPr/>
          <a:lstStyle/>
          <a:p>
            <a:fld id="{B744A13C-A177-47DD-903A-D74B08377F6A}" type="datetimeFigureOut">
              <a:rPr lang="es-MX" smtClean="0"/>
              <a:t>20/09/2026</a:t>
            </a:fld>
            <a:endParaRPr lang="es-MX"/>
          </a:p>
        </p:txBody>
      </p:sp>
      <p:sp>
        <p:nvSpPr>
          <p:cNvPr id="3" name="Marcador de pie de página 2">
            <a:extLst>
              <a:ext uri="{FF2B5EF4-FFF2-40B4-BE49-F238E27FC236}">
                <a16:creationId xmlns:a16="http://schemas.microsoft.com/office/drawing/2014/main" id="{1031945B-3C8A-CC04-90CF-86A6FB926664}"/>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0554383D-C3B6-AF0C-D3F1-2DB73EE04BB0}"/>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13353909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207E4E-5A62-92CA-7ACA-D3C6DC7B5140}"/>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0843F851-D00D-6093-A986-6C5F35C56C8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A96ECEE2-9260-2C2E-BC65-C11DE6DFFF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96AE17B-F1FD-90D4-9A7D-49AAC564DEA5}"/>
              </a:ext>
            </a:extLst>
          </p:cNvPr>
          <p:cNvSpPr>
            <a:spLocks noGrp="1"/>
          </p:cNvSpPr>
          <p:nvPr>
            <p:ph type="dt" sz="half" idx="10"/>
          </p:nvPr>
        </p:nvSpPr>
        <p:spPr/>
        <p:txBody>
          <a:bodyPr/>
          <a:lstStyle/>
          <a:p>
            <a:fld id="{B744A13C-A177-47DD-903A-D74B08377F6A}" type="datetimeFigureOut">
              <a:rPr lang="es-MX" smtClean="0"/>
              <a:t>20/09/2026</a:t>
            </a:fld>
            <a:endParaRPr lang="es-MX"/>
          </a:p>
        </p:txBody>
      </p:sp>
      <p:sp>
        <p:nvSpPr>
          <p:cNvPr id="6" name="Marcador de pie de página 5">
            <a:extLst>
              <a:ext uri="{FF2B5EF4-FFF2-40B4-BE49-F238E27FC236}">
                <a16:creationId xmlns:a16="http://schemas.microsoft.com/office/drawing/2014/main" id="{561728C9-30AA-559A-CB48-C6B866313382}"/>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CCF8E15D-A90F-EA63-7DF9-46C7810DE39B}"/>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6893188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E2DD758-F948-B2A7-DC08-B687F91B8D2C}"/>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A1C892A9-AD64-6F7D-FEE0-967756CA2CD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1D238B53-DBF4-A3CB-9E1A-386EDC4987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B7447764-59A7-8823-1D1A-CF02217FD75B}"/>
              </a:ext>
            </a:extLst>
          </p:cNvPr>
          <p:cNvSpPr>
            <a:spLocks noGrp="1"/>
          </p:cNvSpPr>
          <p:nvPr>
            <p:ph type="dt" sz="half" idx="10"/>
          </p:nvPr>
        </p:nvSpPr>
        <p:spPr/>
        <p:txBody>
          <a:bodyPr/>
          <a:lstStyle/>
          <a:p>
            <a:fld id="{B744A13C-A177-47DD-903A-D74B08377F6A}" type="datetimeFigureOut">
              <a:rPr lang="es-MX" smtClean="0"/>
              <a:t>20/09/2026</a:t>
            </a:fld>
            <a:endParaRPr lang="es-MX"/>
          </a:p>
        </p:txBody>
      </p:sp>
      <p:sp>
        <p:nvSpPr>
          <p:cNvPr id="6" name="Marcador de pie de página 5">
            <a:extLst>
              <a:ext uri="{FF2B5EF4-FFF2-40B4-BE49-F238E27FC236}">
                <a16:creationId xmlns:a16="http://schemas.microsoft.com/office/drawing/2014/main" id="{80A3D35F-6746-D59D-FB36-01BA85D38818}"/>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765FE247-F7A5-5BF6-7419-4D0C9940C50B}"/>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493462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3FDA35-B0B4-E787-3D72-F031788E9A72}"/>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E0F0C38B-FF72-ABBA-A9A3-57F2D48A308F}"/>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721F98C5-01BB-732B-11CB-7FADA28975F8}"/>
              </a:ext>
            </a:extLst>
          </p:cNvPr>
          <p:cNvSpPr>
            <a:spLocks noGrp="1"/>
          </p:cNvSpPr>
          <p:nvPr>
            <p:ph type="dt" sz="half" idx="10"/>
          </p:nvPr>
        </p:nvSpPr>
        <p:spPr/>
        <p:txBody>
          <a:bodyPr/>
          <a:lstStyle/>
          <a:p>
            <a:fld id="{B744A13C-A177-47DD-903A-D74B08377F6A}" type="datetimeFigureOut">
              <a:rPr lang="es-MX" smtClean="0"/>
              <a:t>20/09/2026</a:t>
            </a:fld>
            <a:endParaRPr lang="es-MX"/>
          </a:p>
        </p:txBody>
      </p:sp>
      <p:sp>
        <p:nvSpPr>
          <p:cNvPr id="5" name="Marcador de pie de página 4">
            <a:extLst>
              <a:ext uri="{FF2B5EF4-FFF2-40B4-BE49-F238E27FC236}">
                <a16:creationId xmlns:a16="http://schemas.microsoft.com/office/drawing/2014/main" id="{109513AF-E2D8-C50D-31BA-5F9705122FA3}"/>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826C0206-8F5E-04A4-613D-6EC2B5984FC0}"/>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41663017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5FF840C8-6BFA-8DB5-04D9-2FFF606B96AF}"/>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483C22F2-C176-59C9-19E7-C3A94CBB29FE}"/>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D612D9B4-8F58-BE69-EF19-A521A08A9F5A}"/>
              </a:ext>
            </a:extLst>
          </p:cNvPr>
          <p:cNvSpPr>
            <a:spLocks noGrp="1"/>
          </p:cNvSpPr>
          <p:nvPr>
            <p:ph type="dt" sz="half" idx="10"/>
          </p:nvPr>
        </p:nvSpPr>
        <p:spPr/>
        <p:txBody>
          <a:bodyPr/>
          <a:lstStyle/>
          <a:p>
            <a:fld id="{B744A13C-A177-47DD-903A-D74B08377F6A}" type="datetimeFigureOut">
              <a:rPr lang="es-MX" smtClean="0"/>
              <a:t>20/09/2026</a:t>
            </a:fld>
            <a:endParaRPr lang="es-MX"/>
          </a:p>
        </p:txBody>
      </p:sp>
      <p:sp>
        <p:nvSpPr>
          <p:cNvPr id="5" name="Marcador de pie de página 4">
            <a:extLst>
              <a:ext uri="{FF2B5EF4-FFF2-40B4-BE49-F238E27FC236}">
                <a16:creationId xmlns:a16="http://schemas.microsoft.com/office/drawing/2014/main" id="{3DB5D75A-9186-AC95-3F60-D715E515C19F}"/>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1FF889DC-3AEB-704A-0884-C0B1EAD821F5}"/>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3761727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9D456B8-F474-DC21-CA32-71136C73E13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5776B21C-E071-F827-CAB6-8D305BED3A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DCD4E7BC-1E44-2D21-548A-97F953824FB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744A13C-A177-47DD-903A-D74B08377F6A}" type="datetimeFigureOut">
              <a:rPr lang="es-MX" smtClean="0"/>
              <a:t>20/09/2026</a:t>
            </a:fld>
            <a:endParaRPr lang="es-MX"/>
          </a:p>
        </p:txBody>
      </p:sp>
      <p:sp>
        <p:nvSpPr>
          <p:cNvPr id="5" name="Marcador de pie de página 4">
            <a:extLst>
              <a:ext uri="{FF2B5EF4-FFF2-40B4-BE49-F238E27FC236}">
                <a16:creationId xmlns:a16="http://schemas.microsoft.com/office/drawing/2014/main" id="{2D6E618A-2674-067F-A9B5-F000F8046A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a:extLst>
              <a:ext uri="{FF2B5EF4-FFF2-40B4-BE49-F238E27FC236}">
                <a16:creationId xmlns:a16="http://schemas.microsoft.com/office/drawing/2014/main" id="{5F06479D-49A2-2EF0-B936-306AEE0B0EF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BDC0401-0789-4F42-8B4F-18107AD06626}" type="slidenum">
              <a:rPr lang="es-MX" smtClean="0"/>
              <a:t>‹Nº›</a:t>
            </a:fld>
            <a:endParaRPr lang="es-MX"/>
          </a:p>
        </p:txBody>
      </p:sp>
    </p:spTree>
    <p:extLst>
      <p:ext uri="{BB962C8B-B14F-4D97-AF65-F5344CB8AC3E}">
        <p14:creationId xmlns:p14="http://schemas.microsoft.com/office/powerpoint/2010/main" val="28322534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opendsa-server.cs.vt.edu/ODSA/StandaloneModules/20260113122745/html/Compiler.html?utm_source=chatgpt.com" TargetMode="External"/><Relationship Id="rId2" Type="http://schemas.openxmlformats.org/officeDocument/2006/relationships/hyperlink" Target="https://github.com/rafaelrav8770/LYAll.git" TargetMode="External"/><Relationship Id="rId1" Type="http://schemas.openxmlformats.org/officeDocument/2006/relationships/slideLayout" Target="../slideLayouts/slideLayout2.xml"/><Relationship Id="rId5" Type="http://schemas.openxmlformats.org/officeDocument/2006/relationships/hyperlink" Target="https://jflex.de/manual.html?utm_source=chatgpt.com" TargetMode="External"/><Relationship Id="rId4" Type="http://schemas.openxmlformats.org/officeDocument/2006/relationships/hyperlink" Target="https://www.itescam.edu.mx/portal/asignatura.php?clave_asig=SCD-1016&amp;carrera=ISIC-2010-224&amp;id_d=16&amp;utm_source=chatgpt.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n 25">
            <a:extLst>
              <a:ext uri="{FF2B5EF4-FFF2-40B4-BE49-F238E27FC236}">
                <a16:creationId xmlns:a16="http://schemas.microsoft.com/office/drawing/2014/main" id="{13792C0E-56A4-038E-25C8-41619E973B3F}"/>
              </a:ext>
            </a:extLst>
          </p:cNvPr>
          <p:cNvPicPr>
            <a:picLocks noChangeAspect="1"/>
          </p:cNvPicPr>
          <p:nvPr/>
        </p:nvPicPr>
        <p:blipFill>
          <a:blip r:embed="rId2" cstate="print">
            <a:lum bright="70000" contrast="-70000"/>
            <a:extLst>
              <a:ext uri="{BEBA8EAE-BF5A-486C-A8C5-ECC9F3942E4B}">
                <a14:imgProps xmlns:a14="http://schemas.microsoft.com/office/drawing/2010/main">
                  <a14:imgLayer r:embed="rId3">
                    <a14:imgEffect>
                      <a14:sharpenSoften amount="50000"/>
                    </a14:imgEffect>
                    <a14:imgEffect>
                      <a14:colorTemperature colorTemp="4700"/>
                    </a14:imgEffect>
                    <a14:imgEffect>
                      <a14:saturation sat="33000"/>
                    </a14:imgEffect>
                  </a14:imgLayer>
                </a14:imgProps>
              </a:ext>
              <a:ext uri="{28A0092B-C50C-407E-A947-70E740481C1C}">
                <a14:useLocalDpi xmlns:a14="http://schemas.microsoft.com/office/drawing/2010/main"/>
              </a:ext>
            </a:extLst>
          </a:blip>
          <a:stretch>
            <a:fillRect/>
          </a:stretch>
        </p:blipFill>
        <p:spPr>
          <a:xfrm>
            <a:off x="3091815" y="510540"/>
            <a:ext cx="5303520" cy="5836920"/>
          </a:xfrm>
          <a:prstGeom prst="rect">
            <a:avLst/>
          </a:prstGeom>
          <a:noFill/>
        </p:spPr>
      </p:pic>
      <p:pic>
        <p:nvPicPr>
          <p:cNvPr id="11" name="Imagen 10" descr="Logotipo&#10;&#10;Descripción generada automáticamente">
            <a:extLst>
              <a:ext uri="{FF2B5EF4-FFF2-40B4-BE49-F238E27FC236}">
                <a16:creationId xmlns:a16="http://schemas.microsoft.com/office/drawing/2014/main" id="{76F1C2F9-DDFC-CBF2-E48A-E64DE4A37DF6}"/>
              </a:ext>
            </a:extLst>
          </p:cNvPr>
          <p:cNvPicPr>
            <a:picLocks noChangeAspect="1"/>
          </p:cNvPicPr>
          <p:nvPr/>
        </p:nvPicPr>
        <p:blipFill>
          <a:blip r:embed="rId4" cstate="print">
            <a:extLst>
              <a:ext uri="{28A0092B-C50C-407E-A947-70E740481C1C}">
                <a14:useLocalDpi xmlns:a14="http://schemas.microsoft.com/office/drawing/2010/main"/>
              </a:ext>
            </a:extLst>
          </a:blip>
          <a:srcRect/>
          <a:stretch>
            <a:fillRect/>
          </a:stretch>
        </p:blipFill>
        <p:spPr bwMode="auto">
          <a:xfrm>
            <a:off x="9145905" y="46990"/>
            <a:ext cx="2301875" cy="1016000"/>
          </a:xfrm>
          <a:prstGeom prst="rect">
            <a:avLst/>
          </a:prstGeom>
          <a:noFill/>
          <a:ln>
            <a:noFill/>
          </a:ln>
        </p:spPr>
      </p:pic>
      <p:pic>
        <p:nvPicPr>
          <p:cNvPr id="12" name="Imagen 11">
            <a:extLst>
              <a:ext uri="{FF2B5EF4-FFF2-40B4-BE49-F238E27FC236}">
                <a16:creationId xmlns:a16="http://schemas.microsoft.com/office/drawing/2014/main" id="{503E3447-738B-D8B1-B47D-8EBA647E114F}"/>
              </a:ext>
            </a:extLst>
          </p:cNvPr>
          <p:cNvPicPr>
            <a:picLocks noChangeAspect="1"/>
          </p:cNvPicPr>
          <p:nvPr/>
        </p:nvPicPr>
        <p:blipFill rotWithShape="1">
          <a:blip r:embed="rId5" cstate="print">
            <a:extLst>
              <a:ext uri="{28A0092B-C50C-407E-A947-70E740481C1C}">
                <a14:useLocalDpi xmlns:a14="http://schemas.microsoft.com/office/drawing/2010/main"/>
              </a:ext>
            </a:extLst>
          </a:blip>
          <a:srcRect/>
          <a:stretch/>
        </p:blipFill>
        <p:spPr bwMode="auto">
          <a:xfrm>
            <a:off x="277495" y="46990"/>
            <a:ext cx="1516380" cy="1089660"/>
          </a:xfrm>
          <a:prstGeom prst="rect">
            <a:avLst/>
          </a:prstGeom>
          <a:noFill/>
          <a:ln>
            <a:noFill/>
          </a:ln>
          <a:extLst>
            <a:ext uri="{53640926-AAD7-44D8-BBD7-CCE9431645EC}">
              <a14:shadowObscured xmlns:a14="http://schemas.microsoft.com/office/drawing/2010/main"/>
            </a:ext>
          </a:extLst>
        </p:spPr>
      </p:pic>
      <p:sp>
        <p:nvSpPr>
          <p:cNvPr id="14" name="CuadroTexto 13">
            <a:extLst>
              <a:ext uri="{FF2B5EF4-FFF2-40B4-BE49-F238E27FC236}">
                <a16:creationId xmlns:a16="http://schemas.microsoft.com/office/drawing/2014/main" id="{29E7C584-C5C9-2730-50A7-5B38CB386E43}"/>
              </a:ext>
            </a:extLst>
          </p:cNvPr>
          <p:cNvSpPr txBox="1"/>
          <p:nvPr/>
        </p:nvSpPr>
        <p:spPr>
          <a:xfrm>
            <a:off x="1943100" y="374015"/>
            <a:ext cx="7124700" cy="799130"/>
          </a:xfrm>
          <a:prstGeom prst="rect">
            <a:avLst/>
          </a:prstGeom>
          <a:noFill/>
        </p:spPr>
        <p:txBody>
          <a:bodyPr wrap="square">
            <a:spAutoFit/>
          </a:bodyPr>
          <a:lstStyle/>
          <a:p>
            <a:pPr algn="ctr">
              <a:lnSpc>
                <a:spcPct val="107000"/>
              </a:lnSpc>
              <a:spcAft>
                <a:spcPts val="800"/>
              </a:spcAft>
              <a:buNone/>
            </a:pPr>
            <a:r>
              <a:rPr lang="es-MX" sz="2000" b="1" kern="100" dirty="0">
                <a:effectLst/>
                <a:latin typeface="Arial" panose="020B0604020202020204" pitchFamily="34" charset="0"/>
                <a:ea typeface="Calibri" panose="020F0502020204030204" pitchFamily="34" charset="0"/>
                <a:cs typeface="Times New Roman" panose="02020603050405020304" pitchFamily="18" charset="0"/>
              </a:rPr>
              <a:t>TECNOLÓGICO NACIONAL DE MÉXICO</a:t>
            </a:r>
            <a:endParaRPr lang="es-MX" sz="16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s-MX" sz="1800" b="1" kern="100" dirty="0">
                <a:effectLst/>
                <a:latin typeface="Arial" panose="020B0604020202020204" pitchFamily="34" charset="0"/>
                <a:ea typeface="Calibri" panose="020F0502020204030204" pitchFamily="34" charset="0"/>
                <a:cs typeface="Times New Roman" panose="02020603050405020304" pitchFamily="18" charset="0"/>
              </a:rPr>
              <a:t>UNIDAD ACADÉMICA VENUSTIANO CARRANZA</a:t>
            </a:r>
            <a:endParaRPr lang="es-MX" sz="1600" kern="1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16" name="CuadroTexto 15">
            <a:extLst>
              <a:ext uri="{FF2B5EF4-FFF2-40B4-BE49-F238E27FC236}">
                <a16:creationId xmlns:a16="http://schemas.microsoft.com/office/drawing/2014/main" id="{A4A9E771-2CE9-85CC-E1A4-169697077E49}"/>
              </a:ext>
            </a:extLst>
          </p:cNvPr>
          <p:cNvSpPr txBox="1"/>
          <p:nvPr/>
        </p:nvSpPr>
        <p:spPr>
          <a:xfrm>
            <a:off x="2550694" y="1329363"/>
            <a:ext cx="6096000" cy="367216"/>
          </a:xfrm>
          <a:prstGeom prst="rect">
            <a:avLst/>
          </a:prstGeom>
          <a:noFill/>
        </p:spPr>
        <p:txBody>
          <a:bodyPr wrap="square">
            <a:spAutoFit/>
          </a:bodyPr>
          <a:lstStyle/>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a:t>
            </a:r>
            <a:r>
              <a:rPr lang="es-MX" sz="1800" b="1" kern="0" dirty="0">
                <a:effectLst/>
                <a:latin typeface="Arial" panose="020B0604020202020204" pitchFamily="34" charset="0"/>
                <a:ea typeface="Times New Roman" panose="02020603050405020304" pitchFamily="18" charset="0"/>
                <a:cs typeface="Arial" panose="020B0604020202020204" pitchFamily="34" charset="0"/>
              </a:rPr>
              <a:t>INGENIERÍA EN SISTEMAS COMPUTACIONALES</a:t>
            </a:r>
            <a:r>
              <a:rPr lang="en-US" sz="1800" b="1" kern="0" dirty="0">
                <a:effectLst/>
                <a:latin typeface="Arial" panose="020B0604020202020204" pitchFamily="34" charset="0"/>
                <a:ea typeface="Arial" panose="020B0604020202020204" pitchFamily="34" charset="0"/>
                <a:cs typeface="Arial" panose="020B0604020202020204" pitchFamily="34" charset="0"/>
              </a:rPr>
              <a:t>”</a:t>
            </a:r>
            <a:endParaRPr lang="es-MX" sz="1800" kern="1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18" name="CuadroTexto 17">
            <a:extLst>
              <a:ext uri="{FF2B5EF4-FFF2-40B4-BE49-F238E27FC236}">
                <a16:creationId xmlns:a16="http://schemas.microsoft.com/office/drawing/2014/main" id="{1FA8327A-BF41-1978-27AD-7942D85077F5}"/>
              </a:ext>
            </a:extLst>
          </p:cNvPr>
          <p:cNvSpPr txBox="1"/>
          <p:nvPr/>
        </p:nvSpPr>
        <p:spPr>
          <a:xfrm>
            <a:off x="2550694" y="1824715"/>
            <a:ext cx="6096000" cy="1156920"/>
          </a:xfrm>
          <a:prstGeom prst="rect">
            <a:avLst/>
          </a:prstGeom>
          <a:noFill/>
        </p:spPr>
        <p:txBody>
          <a:bodyPr wrap="square">
            <a:spAutoFit/>
          </a:bodyPr>
          <a:lstStyle/>
          <a:p>
            <a:pPr algn="ctr">
              <a:lnSpc>
                <a:spcPct val="100000"/>
              </a:lnSpc>
              <a:spcAft>
                <a:spcPts val="800"/>
              </a:spcAft>
              <a:buNone/>
            </a:pPr>
            <a:r>
              <a:rPr lang="es-MX" dirty="0"/>
              <a:t>Lenguajes y Autómatas II</a:t>
            </a:r>
          </a:p>
          <a:p>
            <a:pPr algn="ctr">
              <a:lnSpc>
                <a:spcPct val="100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ACTIVIDAD  </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s-MX" sz="2000" b="1" kern="0" dirty="0">
                <a:effectLst/>
                <a:latin typeface="Arial" panose="020B0604020202020204" pitchFamily="34" charset="0"/>
                <a:ea typeface="Arial" panose="020B0604020202020204" pitchFamily="34" charset="0"/>
                <a:cs typeface="Arial" panose="020B0604020202020204" pitchFamily="34" charset="0"/>
              </a:rPr>
              <a:t>ACTIVIDAD 2.3 –</a:t>
            </a:r>
            <a:r>
              <a:rPr lang="es-MX" sz="2000" b="1" kern="0" dirty="0">
                <a:latin typeface="Arial" panose="020B0604020202020204" pitchFamily="34" charset="0"/>
                <a:ea typeface="Arial" panose="020B0604020202020204" pitchFamily="34" charset="0"/>
                <a:cs typeface="Arial" panose="020B0604020202020204" pitchFamily="34" charset="0"/>
              </a:rPr>
              <a:t>BANCO DE EJERCICIOS</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p:txBody>
      </p:sp>
      <p:graphicFrame>
        <p:nvGraphicFramePr>
          <p:cNvPr id="19" name="Tabla 18">
            <a:extLst>
              <a:ext uri="{FF2B5EF4-FFF2-40B4-BE49-F238E27FC236}">
                <a16:creationId xmlns:a16="http://schemas.microsoft.com/office/drawing/2014/main" id="{C3F20D4B-4AB8-951E-96AB-E5F9938ABBDE}"/>
              </a:ext>
            </a:extLst>
          </p:cNvPr>
          <p:cNvGraphicFramePr>
            <a:graphicFrameLocks noGrp="1"/>
          </p:cNvGraphicFramePr>
          <p:nvPr>
            <p:extLst>
              <p:ext uri="{D42A27DB-BD31-4B8C-83A1-F6EECF244321}">
                <p14:modId xmlns:p14="http://schemas.microsoft.com/office/powerpoint/2010/main" val="1833051900"/>
              </p:ext>
            </p:extLst>
          </p:nvPr>
        </p:nvGraphicFramePr>
        <p:xfrm>
          <a:off x="3249461" y="3714744"/>
          <a:ext cx="4505960" cy="762000"/>
        </p:xfrm>
        <a:graphic>
          <a:graphicData uri="http://schemas.openxmlformats.org/drawingml/2006/table">
            <a:tbl>
              <a:tblPr firstRow="1" firstCol="1" bandRow="1">
                <a:tableStyleId>{5C22544A-7EE6-4342-B048-85BDC9FD1C3A}</a:tableStyleId>
              </a:tblPr>
              <a:tblGrid>
                <a:gridCol w="2697480">
                  <a:extLst>
                    <a:ext uri="{9D8B030D-6E8A-4147-A177-3AD203B41FA5}">
                      <a16:colId xmlns:a16="http://schemas.microsoft.com/office/drawing/2014/main" val="3511045433"/>
                    </a:ext>
                  </a:extLst>
                </a:gridCol>
                <a:gridCol w="1808480">
                  <a:extLst>
                    <a:ext uri="{9D8B030D-6E8A-4147-A177-3AD203B41FA5}">
                      <a16:colId xmlns:a16="http://schemas.microsoft.com/office/drawing/2014/main" val="2206197710"/>
                    </a:ext>
                  </a:extLst>
                </a:gridCol>
              </a:tblGrid>
              <a:tr h="254000">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SEMESTRE</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SEPTIMO</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71488426"/>
                  </a:ext>
                </a:extLst>
              </a:tr>
              <a:tr h="254000">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NOMBRE DEL ALUMNO</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MATRICULA</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19201878"/>
                  </a:ext>
                </a:extLst>
              </a:tr>
              <a:tr h="254000">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Rafael Aquino Villanueva</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231260073</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98394392"/>
                  </a:ext>
                </a:extLst>
              </a:tr>
            </a:tbl>
          </a:graphicData>
        </a:graphic>
      </p:graphicFrame>
      <p:sp>
        <p:nvSpPr>
          <p:cNvPr id="21" name="CuadroTexto 20">
            <a:extLst>
              <a:ext uri="{FF2B5EF4-FFF2-40B4-BE49-F238E27FC236}">
                <a16:creationId xmlns:a16="http://schemas.microsoft.com/office/drawing/2014/main" id="{2BBA4D31-60C9-991B-3D34-3585F8C8348E}"/>
              </a:ext>
            </a:extLst>
          </p:cNvPr>
          <p:cNvSpPr txBox="1"/>
          <p:nvPr/>
        </p:nvSpPr>
        <p:spPr>
          <a:xfrm>
            <a:off x="4010525" y="3048181"/>
            <a:ext cx="2983833" cy="1165127"/>
          </a:xfrm>
          <a:prstGeom prst="rect">
            <a:avLst/>
          </a:prstGeom>
          <a:noFill/>
        </p:spPr>
        <p:txBody>
          <a:bodyPr wrap="square">
            <a:spAutoFit/>
          </a:bodyPr>
          <a:lstStyle/>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PRESENTA</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 </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 </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23" name="CuadroTexto 22">
            <a:extLst>
              <a:ext uri="{FF2B5EF4-FFF2-40B4-BE49-F238E27FC236}">
                <a16:creationId xmlns:a16="http://schemas.microsoft.com/office/drawing/2014/main" id="{D2284A4D-D83A-881E-63B3-639ACAB1ACB4}"/>
              </a:ext>
            </a:extLst>
          </p:cNvPr>
          <p:cNvSpPr txBox="1"/>
          <p:nvPr/>
        </p:nvSpPr>
        <p:spPr>
          <a:xfrm>
            <a:off x="2550694" y="4809176"/>
            <a:ext cx="6096000" cy="928459"/>
          </a:xfrm>
          <a:prstGeom prst="rect">
            <a:avLst/>
          </a:prstGeom>
          <a:noFill/>
        </p:spPr>
        <p:txBody>
          <a:bodyPr wrap="square">
            <a:spAutoFit/>
          </a:bodyPr>
          <a:lstStyle/>
          <a:p>
            <a:pPr algn="ctr">
              <a:lnSpc>
                <a:spcPct val="150000"/>
              </a:lnSpc>
              <a:spcAft>
                <a:spcPts val="800"/>
              </a:spcAft>
              <a:buNone/>
            </a:pPr>
            <a:r>
              <a:rPr lang="en-US" sz="1600" b="1" kern="0" dirty="0">
                <a:latin typeface="Arial" panose="020B0604020202020204" pitchFamily="34" charset="0"/>
                <a:ea typeface="Calibri" panose="020F0502020204030204" pitchFamily="34" charset="0"/>
                <a:cs typeface="Arial" panose="020B0604020202020204" pitchFamily="34" charset="0"/>
              </a:rPr>
              <a:t>DOCENTE</a:t>
            </a:r>
            <a:endParaRPr lang="es-MX" sz="18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50000"/>
              </a:lnSpc>
              <a:spcAft>
                <a:spcPts val="800"/>
              </a:spcAft>
              <a:buNone/>
            </a:pPr>
            <a:r>
              <a:rPr lang="es-MX" sz="1800" b="1" kern="0" dirty="0">
                <a:effectLst/>
                <a:latin typeface="Arial" panose="020B0604020202020204" pitchFamily="34" charset="0"/>
                <a:ea typeface="Times New Roman" panose="02020603050405020304" pitchFamily="18" charset="0"/>
                <a:cs typeface="Arial" panose="020B0604020202020204" pitchFamily="34" charset="0"/>
              </a:rPr>
              <a:t>ING. FRANCISCO JAVIER MINGO VELAZQUEZ</a:t>
            </a:r>
            <a:endParaRPr lang="es-MX" sz="1800" kern="1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25" name="CuadroTexto 24">
            <a:extLst>
              <a:ext uri="{FF2B5EF4-FFF2-40B4-BE49-F238E27FC236}">
                <a16:creationId xmlns:a16="http://schemas.microsoft.com/office/drawing/2014/main" id="{2669DBE5-FAF1-35CF-08F0-D08353CB1B1B}"/>
              </a:ext>
            </a:extLst>
          </p:cNvPr>
          <p:cNvSpPr txBox="1"/>
          <p:nvPr/>
        </p:nvSpPr>
        <p:spPr>
          <a:xfrm>
            <a:off x="1793875" y="6265557"/>
            <a:ext cx="7812505" cy="1078244"/>
          </a:xfrm>
          <a:prstGeom prst="rect">
            <a:avLst/>
          </a:prstGeom>
          <a:noFill/>
        </p:spPr>
        <p:txBody>
          <a:bodyPr wrap="square">
            <a:spAutoFit/>
          </a:bodyPr>
          <a:lstStyle/>
          <a:p>
            <a:pPr algn="r">
              <a:lnSpc>
                <a:spcPct val="107000"/>
              </a:lnSpc>
              <a:spcAft>
                <a:spcPts val="800"/>
              </a:spcAft>
              <a:buNone/>
            </a:pPr>
            <a:r>
              <a:rPr lang="es-MX" sz="2000" b="1" kern="0" dirty="0">
                <a:latin typeface="Arial" panose="020B0604020202020204" pitchFamily="34" charset="0"/>
                <a:ea typeface="Times New Roman" panose="02020603050405020304" pitchFamily="18" charset="0"/>
                <a:cs typeface="Arial" panose="020B0604020202020204" pitchFamily="34" charset="0"/>
              </a:rPr>
              <a:t>08</a:t>
            </a:r>
            <a:r>
              <a:rPr lang="es-MX" sz="2000" b="1" kern="0" dirty="0">
                <a:effectLst/>
                <a:latin typeface="Arial" panose="020B0604020202020204" pitchFamily="34" charset="0"/>
                <a:ea typeface="Times New Roman" panose="02020603050405020304" pitchFamily="18" charset="0"/>
                <a:cs typeface="Arial" panose="020B0604020202020204" pitchFamily="34" charset="0"/>
              </a:rPr>
              <a:t> </a:t>
            </a:r>
            <a:r>
              <a:rPr lang="es-MX" sz="2000" b="1" kern="0">
                <a:effectLst/>
                <a:latin typeface="Arial" panose="020B0604020202020204" pitchFamily="34" charset="0"/>
                <a:ea typeface="Times New Roman" panose="02020603050405020304" pitchFamily="18" charset="0"/>
                <a:cs typeface="Arial" panose="020B0604020202020204" pitchFamily="34" charset="0"/>
              </a:rPr>
              <a:t>DE</a:t>
            </a:r>
            <a:r>
              <a:rPr lang="es-MX" sz="2000" b="1" kern="0">
                <a:latin typeface="Arial" panose="020B0604020202020204" pitchFamily="34" charset="0"/>
                <a:ea typeface="Times New Roman" panose="02020603050405020304" pitchFamily="18" charset="0"/>
                <a:cs typeface="Arial" panose="020B0604020202020204" pitchFamily="34" charset="0"/>
              </a:rPr>
              <a:t> SEPTIEMBRE </a:t>
            </a:r>
            <a:r>
              <a:rPr lang="es-MX" sz="2000" b="1" kern="0" dirty="0">
                <a:effectLst/>
                <a:latin typeface="Arial" panose="020B0604020202020204" pitchFamily="34" charset="0"/>
                <a:ea typeface="Times New Roman" panose="02020603050405020304" pitchFamily="18" charset="0"/>
                <a:cs typeface="Arial" panose="020B0604020202020204" pitchFamily="34" charset="0"/>
              </a:rPr>
              <a:t>DE 2026</a:t>
            </a:r>
            <a:r>
              <a:rPr lang="es-MX" sz="1800" b="1" kern="0" dirty="0">
                <a:effectLst/>
                <a:latin typeface="Arial" panose="020B0604020202020204" pitchFamily="34" charset="0"/>
                <a:ea typeface="Arial" panose="020B0604020202020204" pitchFamily="34" charset="0"/>
                <a:cs typeface="Arial" panose="020B0604020202020204" pitchFamily="34" charset="0"/>
              </a:rPr>
              <a:t> </a:t>
            </a:r>
            <a:r>
              <a:rPr lang="en-US" sz="1800" kern="0" dirty="0">
                <a:effectLst/>
                <a:latin typeface="Arial" panose="020B0604020202020204" pitchFamily="34" charset="0"/>
                <a:ea typeface="Arial" panose="020B0604020202020204" pitchFamily="34" charset="0"/>
                <a:cs typeface="Arial" panose="020B0604020202020204" pitchFamily="34" charset="0"/>
              </a:rPr>
              <a:t>VENUSTIANO CARRANZA, CHIAPAS</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buNone/>
            </a:pPr>
            <a:br>
              <a:rPr lang="en-US" sz="1800" kern="0" dirty="0">
                <a:effectLst/>
                <a:latin typeface="Arial" panose="020B0604020202020204" pitchFamily="34" charset="0"/>
                <a:ea typeface="Arial" panose="020B0604020202020204" pitchFamily="34" charset="0"/>
              </a:rPr>
            </a:br>
            <a:endParaRPr lang="es-MX" dirty="0"/>
          </a:p>
        </p:txBody>
      </p:sp>
    </p:spTree>
    <p:extLst>
      <p:ext uri="{BB962C8B-B14F-4D97-AF65-F5344CB8AC3E}">
        <p14:creationId xmlns:p14="http://schemas.microsoft.com/office/powerpoint/2010/main" val="40010118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E123D5AD-B34F-94DE-CA8C-4E027E6EDC22}"/>
              </a:ext>
            </a:extLst>
          </p:cNvPr>
          <p:cNvSpPr>
            <a:spLocks noGrp="1"/>
          </p:cNvSpPr>
          <p:nvPr>
            <p:ph idx="1"/>
          </p:nvPr>
        </p:nvSpPr>
        <p:spPr>
          <a:xfrm>
            <a:off x="838200" y="1047750"/>
            <a:ext cx="10515600" cy="5129213"/>
          </a:xfrm>
          <a:ln>
            <a:solidFill>
              <a:schemeClr val="accent5">
                <a:lumMod val="75000"/>
              </a:schemeClr>
            </a:solidFill>
          </a:ln>
        </p:spPr>
        <p:txBody>
          <a:bodyPr>
            <a:normAutofit/>
          </a:bodyPr>
          <a:lstStyle/>
          <a:p>
            <a:pPr marL="0" indent="0" algn="just">
              <a:buNone/>
            </a:pPr>
            <a:r>
              <a:rPr lang="es-MX" sz="4400" b="1" kern="0" dirty="0">
                <a:solidFill>
                  <a:schemeClr val="accent1"/>
                </a:solidFill>
                <a:latin typeface="+mj-lt"/>
                <a:cs typeface="Arial" panose="020B0604020202020204" pitchFamily="34" charset="0"/>
              </a:rPr>
              <a:t>Introducción</a:t>
            </a:r>
          </a:p>
          <a:p>
            <a:pPr marL="0" indent="0" algn="just">
              <a:buNone/>
            </a:pPr>
            <a:endParaRPr lang="es-MX" dirty="0"/>
          </a:p>
          <a:p>
            <a:pPr marL="0" indent="0" algn="just">
              <a:buNone/>
            </a:pPr>
            <a:r>
              <a:rPr lang="es-MX" dirty="0"/>
              <a:t>la generación de código intermedio es una etapa del compilador encargada de transformar las instrucciones del código fuente en representaciones más sencillas que facilitan su análisis, optimización y posterior traducción a código objeto.</a:t>
            </a:r>
          </a:p>
          <a:p>
            <a:pPr marL="0" indent="0" algn="just">
              <a:buNone/>
            </a:pPr>
            <a:r>
              <a:rPr lang="es-MX" dirty="0"/>
              <a:t>En este banco de ejercicios se realizaron diferentes pruebas utilizando los módulos desarrollados para la Unidad 2, incluyendo las notaciones prefija, infija y postfija; la Notación Polaca, el Código P, los triplos y cuádruplos; así como la generación de código de tres direcciones mediante variables temporales.</a:t>
            </a:r>
          </a:p>
          <a:p>
            <a:pPr marL="0" indent="0" algn="just">
              <a:buNone/>
            </a:pPr>
            <a:endParaRPr lang="es-MX" dirty="0"/>
          </a:p>
        </p:txBody>
      </p:sp>
    </p:spTree>
    <p:extLst>
      <p:ext uri="{BB962C8B-B14F-4D97-AF65-F5344CB8AC3E}">
        <p14:creationId xmlns:p14="http://schemas.microsoft.com/office/powerpoint/2010/main" val="2160315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448F6C57-A8B1-DC96-5869-560383E7A005}"/>
              </a:ext>
            </a:extLst>
          </p:cNvPr>
          <p:cNvSpPr>
            <a:spLocks noGrp="1"/>
          </p:cNvSpPr>
          <p:nvPr>
            <p:ph idx="1"/>
          </p:nvPr>
        </p:nvSpPr>
        <p:spPr/>
        <p:txBody>
          <a:bodyPr/>
          <a:lstStyle/>
          <a:p>
            <a:pPr marL="0" indent="0">
              <a:buNone/>
            </a:pPr>
            <a:r>
              <a:rPr lang="es-MX" sz="4400" b="1" kern="0" dirty="0">
                <a:solidFill>
                  <a:schemeClr val="accent1"/>
                </a:solidFill>
                <a:latin typeface="+mj-lt"/>
                <a:cs typeface="Arial" panose="020B0604020202020204" pitchFamily="34" charset="0"/>
              </a:rPr>
              <a:t>Objetivo</a:t>
            </a:r>
          </a:p>
          <a:p>
            <a:pPr marL="0" indent="0">
              <a:buNone/>
            </a:pPr>
            <a:r>
              <a:rPr lang="es-MX" dirty="0"/>
              <a:t> </a:t>
            </a:r>
          </a:p>
          <a:p>
            <a:pPr marL="0" indent="0" algn="just">
              <a:buNone/>
            </a:pPr>
            <a:r>
              <a:rPr lang="es-MX" dirty="0"/>
              <a:t>Comprobar mediante diferentes ejercicios el funcionamiento de los módulos desarrollados para el Tema 2: Generación de código intermedio, utilizando expresiones con distintos operadores, niveles de prioridad y paréntesis para observar las representaciones producidas por el compilador.</a:t>
            </a:r>
          </a:p>
        </p:txBody>
      </p:sp>
    </p:spTree>
    <p:extLst>
      <p:ext uri="{BB962C8B-B14F-4D97-AF65-F5344CB8AC3E}">
        <p14:creationId xmlns:p14="http://schemas.microsoft.com/office/powerpoint/2010/main" val="4926627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4D3867A-3E04-8632-141B-8C5FDD171C9C}"/>
              </a:ext>
            </a:extLst>
          </p:cNvPr>
          <p:cNvSpPr>
            <a:spLocks noGrp="1"/>
          </p:cNvSpPr>
          <p:nvPr>
            <p:ph type="title"/>
          </p:nvPr>
        </p:nvSpPr>
        <p:spPr/>
        <p:txBody>
          <a:bodyPr>
            <a:normAutofit/>
          </a:bodyPr>
          <a:lstStyle/>
          <a:p>
            <a:r>
              <a:rPr lang="es-MX" sz="4800" b="1" dirty="0">
                <a:solidFill>
                  <a:schemeClr val="accent1"/>
                </a:solidFill>
              </a:rPr>
              <a:t>justificación</a:t>
            </a:r>
          </a:p>
        </p:txBody>
      </p:sp>
      <p:sp>
        <p:nvSpPr>
          <p:cNvPr id="3" name="Marcador de contenido 2">
            <a:extLst>
              <a:ext uri="{FF2B5EF4-FFF2-40B4-BE49-F238E27FC236}">
                <a16:creationId xmlns:a16="http://schemas.microsoft.com/office/drawing/2014/main" id="{8CEA835B-7257-6BC0-9849-98A1416CE74C}"/>
              </a:ext>
            </a:extLst>
          </p:cNvPr>
          <p:cNvSpPr>
            <a:spLocks noGrp="1"/>
          </p:cNvSpPr>
          <p:nvPr>
            <p:ph idx="1"/>
          </p:nvPr>
        </p:nvSpPr>
        <p:spPr/>
        <p:txBody>
          <a:bodyPr>
            <a:normAutofit/>
          </a:bodyPr>
          <a:lstStyle/>
          <a:p>
            <a:pPr algn="just">
              <a:buFont typeface="Wingdings" panose="05000000000000000000" pitchFamily="2" charset="2"/>
              <a:buChar char="Ø"/>
            </a:pPr>
            <a:r>
              <a:rPr lang="es-MX" dirty="0"/>
              <a:t>La realización de estas pruebas permite relacionar los conceptos teóricos de la generación de código intermedio con su implementación dentro del compilador. Mediante los ejercicios se comprueba la conversión entre notaciones, la generación de representaciones como Código P, triplos y cuádruplos, y la descomposición de expresiones complejas en instrucciones simples mediante variables temporales.</a:t>
            </a:r>
          </a:p>
        </p:txBody>
      </p:sp>
    </p:spTree>
    <p:extLst>
      <p:ext uri="{BB962C8B-B14F-4D97-AF65-F5344CB8AC3E}">
        <p14:creationId xmlns:p14="http://schemas.microsoft.com/office/powerpoint/2010/main" val="35272361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01DE5D6-4298-34BA-DF41-540FC843FD09}"/>
              </a:ext>
            </a:extLst>
          </p:cNvPr>
          <p:cNvSpPr>
            <a:spLocks noGrp="1"/>
          </p:cNvSpPr>
          <p:nvPr>
            <p:ph type="title"/>
          </p:nvPr>
        </p:nvSpPr>
        <p:spPr/>
        <p:txBody>
          <a:bodyPr/>
          <a:lstStyle/>
          <a:p>
            <a:pPr>
              <a:spcBef>
                <a:spcPts val="1000"/>
              </a:spcBef>
            </a:pPr>
            <a:r>
              <a:rPr lang="es-MX" b="1" kern="0" dirty="0">
                <a:solidFill>
                  <a:schemeClr val="accent1"/>
                </a:solidFill>
                <a:ea typeface="+mn-ea"/>
                <a:cs typeface="Arial" panose="020B0604020202020204" pitchFamily="34" charset="0"/>
              </a:rPr>
              <a:t>Tema 2 </a:t>
            </a:r>
            <a:r>
              <a:rPr lang="es-MX" b="1" kern="0" dirty="0" err="1">
                <a:solidFill>
                  <a:schemeClr val="accent1"/>
                </a:solidFill>
                <a:ea typeface="+mn-ea"/>
                <a:cs typeface="Arial" panose="020B0604020202020204" pitchFamily="34" charset="0"/>
              </a:rPr>
              <a:t>Generacion</a:t>
            </a:r>
            <a:r>
              <a:rPr lang="es-MX" b="1" kern="0" dirty="0">
                <a:solidFill>
                  <a:schemeClr val="accent1"/>
                </a:solidFill>
                <a:ea typeface="+mn-ea"/>
                <a:cs typeface="Arial" panose="020B0604020202020204" pitchFamily="34" charset="0"/>
              </a:rPr>
              <a:t> de </a:t>
            </a:r>
            <a:r>
              <a:rPr lang="es-MX" b="1" kern="0" dirty="0" err="1">
                <a:solidFill>
                  <a:schemeClr val="accent1"/>
                </a:solidFill>
                <a:ea typeface="+mn-ea"/>
                <a:cs typeface="Arial" panose="020B0604020202020204" pitchFamily="34" charset="0"/>
              </a:rPr>
              <a:t>Codigo</a:t>
            </a:r>
            <a:r>
              <a:rPr lang="es-MX" b="1" kern="0" dirty="0">
                <a:solidFill>
                  <a:schemeClr val="accent1"/>
                </a:solidFill>
                <a:ea typeface="+mn-ea"/>
                <a:cs typeface="Arial" panose="020B0604020202020204" pitchFamily="34" charset="0"/>
              </a:rPr>
              <a:t> Intermedio</a:t>
            </a:r>
          </a:p>
        </p:txBody>
      </p:sp>
      <p:pic>
        <p:nvPicPr>
          <p:cNvPr id="5" name="Imagen 4">
            <a:extLst>
              <a:ext uri="{FF2B5EF4-FFF2-40B4-BE49-F238E27FC236}">
                <a16:creationId xmlns:a16="http://schemas.microsoft.com/office/drawing/2014/main" id="{2083123A-80F5-A1AD-E801-F834C539ECF5}"/>
              </a:ext>
            </a:extLst>
          </p:cNvPr>
          <p:cNvPicPr>
            <a:picLocks noChangeAspect="1"/>
          </p:cNvPicPr>
          <p:nvPr/>
        </p:nvPicPr>
        <p:blipFill>
          <a:blip r:embed="rId2"/>
          <a:stretch>
            <a:fillRect/>
          </a:stretch>
        </p:blipFill>
        <p:spPr>
          <a:xfrm>
            <a:off x="2905124" y="1829395"/>
            <a:ext cx="6924675" cy="3895130"/>
          </a:xfrm>
          <a:prstGeom prst="rect">
            <a:avLst/>
          </a:prstGeom>
        </p:spPr>
      </p:pic>
    </p:spTree>
    <p:extLst>
      <p:ext uri="{BB962C8B-B14F-4D97-AF65-F5344CB8AC3E}">
        <p14:creationId xmlns:p14="http://schemas.microsoft.com/office/powerpoint/2010/main" val="21336433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BF4A69-A0B9-BD2D-0748-309BE954C4F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BC5F6F2-63CA-07E4-AC19-AC03422486D5}"/>
              </a:ext>
            </a:extLst>
          </p:cNvPr>
          <p:cNvSpPr>
            <a:spLocks noGrp="1"/>
          </p:cNvSpPr>
          <p:nvPr>
            <p:ph type="title"/>
          </p:nvPr>
        </p:nvSpPr>
        <p:spPr/>
        <p:txBody>
          <a:bodyPr vert="horz" lIns="91440" tIns="45720" rIns="91440" bIns="45720" rtlCol="0" anchor="ctr">
            <a:normAutofit fontScale="90000"/>
          </a:bodyPr>
          <a:lstStyle/>
          <a:p>
            <a:r>
              <a:rPr lang="es-MX" sz="4800" b="1" dirty="0">
                <a:solidFill>
                  <a:schemeClr val="accent1"/>
                </a:solidFill>
              </a:rPr>
              <a:t>Ejercicio 1. Notaciones: conversión de infija a postfija</a:t>
            </a:r>
          </a:p>
        </p:txBody>
      </p:sp>
      <p:sp>
        <p:nvSpPr>
          <p:cNvPr id="5" name="CuadroTexto 4">
            <a:extLst>
              <a:ext uri="{FF2B5EF4-FFF2-40B4-BE49-F238E27FC236}">
                <a16:creationId xmlns:a16="http://schemas.microsoft.com/office/drawing/2014/main" id="{69F3E769-49B8-432C-77B9-EB96B706719D}"/>
              </a:ext>
            </a:extLst>
          </p:cNvPr>
          <p:cNvSpPr txBox="1"/>
          <p:nvPr/>
        </p:nvSpPr>
        <p:spPr>
          <a:xfrm>
            <a:off x="942975" y="2030413"/>
            <a:ext cx="4419600" cy="4401205"/>
          </a:xfrm>
          <a:prstGeom prst="rect">
            <a:avLst/>
          </a:prstGeom>
          <a:noFill/>
        </p:spPr>
        <p:txBody>
          <a:bodyPr wrap="square">
            <a:spAutoFit/>
          </a:bodyPr>
          <a:lstStyle/>
          <a:p>
            <a:pPr>
              <a:buNone/>
            </a:pPr>
            <a:r>
              <a:rPr lang="es-MX" sz="2800" dirty="0"/>
              <a:t>Expresión:</a:t>
            </a:r>
            <a:br>
              <a:rPr lang="es-MX" sz="2800" dirty="0"/>
            </a:br>
            <a:r>
              <a:rPr lang="es-MX" sz="2800" dirty="0"/>
              <a:t>a + b * c</a:t>
            </a:r>
          </a:p>
          <a:p>
            <a:pPr algn="just">
              <a:buNone/>
            </a:pPr>
            <a:r>
              <a:rPr lang="es-MX" sz="2800" dirty="0"/>
              <a:t>El ejercicio consiste en ingresar una expresión en notación infija y obtener su representación en notación postfija, respetando la prioridad de los operadores.</a:t>
            </a:r>
          </a:p>
          <a:p>
            <a:pPr>
              <a:buNone/>
            </a:pPr>
            <a:r>
              <a:rPr lang="es-MX" sz="2800" dirty="0"/>
              <a:t>Resultado esperado:</a:t>
            </a:r>
            <a:br>
              <a:rPr lang="es-MX" sz="2800" dirty="0"/>
            </a:br>
            <a:r>
              <a:rPr lang="es-MX" sz="2800" dirty="0"/>
              <a:t>a b c * +</a:t>
            </a:r>
          </a:p>
        </p:txBody>
      </p:sp>
      <p:pic>
        <p:nvPicPr>
          <p:cNvPr id="8" name="Imagen 7">
            <a:extLst>
              <a:ext uri="{FF2B5EF4-FFF2-40B4-BE49-F238E27FC236}">
                <a16:creationId xmlns:a16="http://schemas.microsoft.com/office/drawing/2014/main" id="{56531F70-30B5-DA17-7516-8F01BA88C3ED}"/>
              </a:ext>
            </a:extLst>
          </p:cNvPr>
          <p:cNvPicPr>
            <a:picLocks noChangeAspect="1"/>
          </p:cNvPicPr>
          <p:nvPr/>
        </p:nvPicPr>
        <p:blipFill>
          <a:blip r:embed="rId2"/>
          <a:stretch>
            <a:fillRect/>
          </a:stretch>
        </p:blipFill>
        <p:spPr>
          <a:xfrm>
            <a:off x="5771090" y="2030412"/>
            <a:ext cx="5469467" cy="3076575"/>
          </a:xfrm>
          <a:prstGeom prst="rect">
            <a:avLst/>
          </a:prstGeom>
        </p:spPr>
      </p:pic>
    </p:spTree>
    <p:extLst>
      <p:ext uri="{BB962C8B-B14F-4D97-AF65-F5344CB8AC3E}">
        <p14:creationId xmlns:p14="http://schemas.microsoft.com/office/powerpoint/2010/main" val="11187493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6E2301-B292-3301-68AB-0AE13E6FCDA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E77A249-9EE9-E1FC-0B84-0F0BA2CF5322}"/>
              </a:ext>
            </a:extLst>
          </p:cNvPr>
          <p:cNvSpPr>
            <a:spLocks noGrp="1"/>
          </p:cNvSpPr>
          <p:nvPr>
            <p:ph type="title"/>
          </p:nvPr>
        </p:nvSpPr>
        <p:spPr/>
        <p:txBody>
          <a:bodyPr vert="horz" lIns="91440" tIns="45720" rIns="91440" bIns="45720" rtlCol="0" anchor="ctr">
            <a:normAutofit fontScale="90000"/>
          </a:bodyPr>
          <a:lstStyle/>
          <a:p>
            <a:r>
              <a:rPr lang="es-MX" sz="4800" b="1" dirty="0">
                <a:solidFill>
                  <a:schemeClr val="accent1"/>
                </a:solidFill>
              </a:rPr>
              <a:t>Ejercicio 2. Notaciones: conversión de infija a prefija</a:t>
            </a:r>
          </a:p>
        </p:txBody>
      </p:sp>
      <p:sp>
        <p:nvSpPr>
          <p:cNvPr id="5" name="CuadroTexto 4">
            <a:extLst>
              <a:ext uri="{FF2B5EF4-FFF2-40B4-BE49-F238E27FC236}">
                <a16:creationId xmlns:a16="http://schemas.microsoft.com/office/drawing/2014/main" id="{C50813A6-0B50-116D-C9A3-0F84F57B34BE}"/>
              </a:ext>
            </a:extLst>
          </p:cNvPr>
          <p:cNvSpPr txBox="1"/>
          <p:nvPr/>
        </p:nvSpPr>
        <p:spPr>
          <a:xfrm>
            <a:off x="838200" y="2091670"/>
            <a:ext cx="4362450" cy="4401205"/>
          </a:xfrm>
          <a:prstGeom prst="rect">
            <a:avLst/>
          </a:prstGeom>
          <a:noFill/>
        </p:spPr>
        <p:txBody>
          <a:bodyPr wrap="square">
            <a:spAutoFit/>
          </a:bodyPr>
          <a:lstStyle>
            <a:defPPr>
              <a:defRPr lang="es-MX"/>
            </a:defPPr>
            <a:lvl1pPr>
              <a:buNone/>
              <a:defRPr sz="2800"/>
            </a:lvl1pPr>
          </a:lstStyle>
          <a:p>
            <a:r>
              <a:rPr lang="es-MX" dirty="0"/>
              <a:t>Expresión:</a:t>
            </a:r>
            <a:br>
              <a:rPr lang="es-MX" dirty="0"/>
            </a:br>
            <a:r>
              <a:rPr lang="es-MX" dirty="0"/>
              <a:t>(a + b) * c</a:t>
            </a:r>
          </a:p>
          <a:p>
            <a:r>
              <a:rPr lang="es-MX" dirty="0"/>
              <a:t>El ejercicio consiste en convertir una expresión escrita en notación infija a su equivalente en notación prefija, considerando el uso de paréntesis.</a:t>
            </a:r>
          </a:p>
          <a:p>
            <a:r>
              <a:rPr lang="es-MX" dirty="0"/>
              <a:t>Resultado esperado:</a:t>
            </a:r>
            <a:br>
              <a:rPr lang="es-MX" dirty="0"/>
            </a:br>
            <a:r>
              <a:rPr lang="es-MX" dirty="0"/>
              <a:t>* + a b c</a:t>
            </a:r>
          </a:p>
        </p:txBody>
      </p:sp>
      <p:pic>
        <p:nvPicPr>
          <p:cNvPr id="8" name="Imagen 7">
            <a:extLst>
              <a:ext uri="{FF2B5EF4-FFF2-40B4-BE49-F238E27FC236}">
                <a16:creationId xmlns:a16="http://schemas.microsoft.com/office/drawing/2014/main" id="{C2A4EB4E-8A66-CD12-4E33-AF6FB63E46CE}"/>
              </a:ext>
            </a:extLst>
          </p:cNvPr>
          <p:cNvPicPr>
            <a:picLocks noChangeAspect="1"/>
          </p:cNvPicPr>
          <p:nvPr/>
        </p:nvPicPr>
        <p:blipFill>
          <a:blip r:embed="rId2"/>
          <a:stretch>
            <a:fillRect/>
          </a:stretch>
        </p:blipFill>
        <p:spPr>
          <a:xfrm>
            <a:off x="5700182" y="1790700"/>
            <a:ext cx="5825067" cy="3276600"/>
          </a:xfrm>
          <a:prstGeom prst="rect">
            <a:avLst/>
          </a:prstGeom>
        </p:spPr>
      </p:pic>
    </p:spTree>
    <p:extLst>
      <p:ext uri="{BB962C8B-B14F-4D97-AF65-F5344CB8AC3E}">
        <p14:creationId xmlns:p14="http://schemas.microsoft.com/office/powerpoint/2010/main" val="15987356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4C6F96-F333-03CD-34F2-D4D9E6A3B4D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3972158-C8E6-7EEF-B719-F17C1E21872B}"/>
              </a:ext>
            </a:extLst>
          </p:cNvPr>
          <p:cNvSpPr>
            <a:spLocks noGrp="1"/>
          </p:cNvSpPr>
          <p:nvPr>
            <p:ph type="title"/>
          </p:nvPr>
        </p:nvSpPr>
        <p:spPr/>
        <p:txBody>
          <a:bodyPr vert="horz" lIns="91440" tIns="45720" rIns="91440" bIns="45720" rtlCol="0" anchor="ctr">
            <a:normAutofit fontScale="90000"/>
          </a:bodyPr>
          <a:lstStyle/>
          <a:p>
            <a:r>
              <a:rPr lang="es-MX" sz="4800" b="1" dirty="0">
                <a:solidFill>
                  <a:schemeClr val="accent1"/>
                </a:solidFill>
              </a:rPr>
              <a:t>Ejercicio 3. Notaciones: representación en las tres notaciones</a:t>
            </a:r>
          </a:p>
        </p:txBody>
      </p:sp>
      <p:sp>
        <p:nvSpPr>
          <p:cNvPr id="5" name="CuadroTexto 4">
            <a:extLst>
              <a:ext uri="{FF2B5EF4-FFF2-40B4-BE49-F238E27FC236}">
                <a16:creationId xmlns:a16="http://schemas.microsoft.com/office/drawing/2014/main" id="{BBD08E63-DA1A-D2A1-8706-6EC7DAE91FB9}"/>
              </a:ext>
            </a:extLst>
          </p:cNvPr>
          <p:cNvSpPr txBox="1"/>
          <p:nvPr/>
        </p:nvSpPr>
        <p:spPr>
          <a:xfrm>
            <a:off x="838199" y="1992124"/>
            <a:ext cx="4998719" cy="4832092"/>
          </a:xfrm>
          <a:prstGeom prst="rect">
            <a:avLst/>
          </a:prstGeom>
          <a:noFill/>
        </p:spPr>
        <p:txBody>
          <a:bodyPr wrap="square">
            <a:spAutoFit/>
          </a:bodyPr>
          <a:lstStyle>
            <a:defPPr>
              <a:defRPr lang="es-MX"/>
            </a:defPPr>
            <a:lvl1pPr>
              <a:buNone/>
              <a:defRPr sz="2800"/>
            </a:lvl1pPr>
          </a:lstStyle>
          <a:p>
            <a:r>
              <a:rPr lang="es-MX" dirty="0"/>
              <a:t>Expresión:</a:t>
            </a:r>
            <a:br>
              <a:rPr lang="es-MX" dirty="0"/>
            </a:br>
            <a:r>
              <a:rPr lang="es-MX" dirty="0"/>
              <a:t>a * b + c</a:t>
            </a:r>
          </a:p>
          <a:p>
            <a:r>
              <a:rPr lang="es-MX" dirty="0"/>
              <a:t>El ejercicio permite comprobar las tres formas de representar una misma expresión.</a:t>
            </a:r>
          </a:p>
          <a:p>
            <a:r>
              <a:rPr lang="es-MX" dirty="0"/>
              <a:t>Infija:</a:t>
            </a:r>
            <a:br>
              <a:rPr lang="es-MX" dirty="0"/>
            </a:br>
            <a:r>
              <a:rPr lang="es-MX" dirty="0"/>
              <a:t>a * b + c</a:t>
            </a:r>
          </a:p>
          <a:p>
            <a:r>
              <a:rPr lang="es-MX" dirty="0"/>
              <a:t>Prefija:</a:t>
            </a:r>
            <a:br>
              <a:rPr lang="es-MX" dirty="0"/>
            </a:br>
            <a:r>
              <a:rPr lang="es-MX" dirty="0"/>
              <a:t>+ * a b c</a:t>
            </a:r>
          </a:p>
          <a:p>
            <a:r>
              <a:rPr lang="es-MX" dirty="0"/>
              <a:t>Postfija:</a:t>
            </a:r>
            <a:br>
              <a:rPr lang="es-MX" dirty="0"/>
            </a:br>
            <a:r>
              <a:rPr lang="es-MX" dirty="0"/>
              <a:t>a b * c +</a:t>
            </a:r>
          </a:p>
        </p:txBody>
      </p:sp>
      <p:pic>
        <p:nvPicPr>
          <p:cNvPr id="8" name="Imagen 7">
            <a:extLst>
              <a:ext uri="{FF2B5EF4-FFF2-40B4-BE49-F238E27FC236}">
                <a16:creationId xmlns:a16="http://schemas.microsoft.com/office/drawing/2014/main" id="{EE658609-ABA0-1BAC-0935-2ACD47801E15}"/>
              </a:ext>
            </a:extLst>
          </p:cNvPr>
          <p:cNvPicPr>
            <a:picLocks noChangeAspect="1"/>
          </p:cNvPicPr>
          <p:nvPr/>
        </p:nvPicPr>
        <p:blipFill>
          <a:blip r:embed="rId2"/>
          <a:stretch>
            <a:fillRect/>
          </a:stretch>
        </p:blipFill>
        <p:spPr>
          <a:xfrm>
            <a:off x="5836919" y="1859518"/>
            <a:ext cx="6002655" cy="3376494"/>
          </a:xfrm>
          <a:prstGeom prst="rect">
            <a:avLst/>
          </a:prstGeom>
        </p:spPr>
      </p:pic>
    </p:spTree>
    <p:extLst>
      <p:ext uri="{BB962C8B-B14F-4D97-AF65-F5344CB8AC3E}">
        <p14:creationId xmlns:p14="http://schemas.microsoft.com/office/powerpoint/2010/main" val="22916937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376BFF-6A95-2F36-96CA-B320849E307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49F8639-4C3D-0BC7-63F4-207551C397B4}"/>
              </a:ext>
            </a:extLst>
          </p:cNvPr>
          <p:cNvSpPr>
            <a:spLocks noGrp="1"/>
          </p:cNvSpPr>
          <p:nvPr>
            <p:ph type="title"/>
          </p:nvPr>
        </p:nvSpPr>
        <p:spPr/>
        <p:txBody>
          <a:bodyPr vert="horz" lIns="91440" tIns="45720" rIns="91440" bIns="45720" rtlCol="0" anchor="ctr">
            <a:normAutofit/>
          </a:bodyPr>
          <a:lstStyle/>
          <a:p>
            <a:pPr>
              <a:spcBef>
                <a:spcPts val="1000"/>
              </a:spcBef>
            </a:pPr>
            <a:r>
              <a:rPr lang="es-MX" b="1" dirty="0">
                <a:solidFill>
                  <a:schemeClr val="accent1"/>
                </a:solidFill>
              </a:rPr>
              <a:t>Explicación de las pruebas- Notaciones</a:t>
            </a:r>
          </a:p>
        </p:txBody>
      </p:sp>
      <p:sp>
        <p:nvSpPr>
          <p:cNvPr id="5" name="CuadroTexto 4">
            <a:extLst>
              <a:ext uri="{FF2B5EF4-FFF2-40B4-BE49-F238E27FC236}">
                <a16:creationId xmlns:a16="http://schemas.microsoft.com/office/drawing/2014/main" id="{AAD2A8D2-19C3-B0B5-86E6-F86712F15738}"/>
              </a:ext>
            </a:extLst>
          </p:cNvPr>
          <p:cNvSpPr txBox="1"/>
          <p:nvPr/>
        </p:nvSpPr>
        <p:spPr>
          <a:xfrm>
            <a:off x="1085849" y="2331214"/>
            <a:ext cx="10582275" cy="1754326"/>
          </a:xfrm>
          <a:prstGeom prst="rect">
            <a:avLst/>
          </a:prstGeom>
          <a:noFill/>
        </p:spPr>
        <p:txBody>
          <a:bodyPr wrap="square">
            <a:spAutoFit/>
          </a:bodyPr>
          <a:lstStyle>
            <a:defPPr>
              <a:defRPr lang="es-MX"/>
            </a:defPPr>
            <a:lvl1pPr>
              <a:buNone/>
              <a:defRPr sz="2800"/>
            </a:lvl1pPr>
          </a:lstStyle>
          <a:p>
            <a:r>
              <a:rPr lang="es-MX" dirty="0"/>
              <a:t>Para comprobar el funcionamiento del módulo de notaciones se realizaron tres pruebas utilizando expresiones con diferentes operadores y niveles de prioridad. En la primera prueba se verificó la conversión de una expresión infija a postfija; en la segunda se utilizó una expresión con paréntesis para comprobar la conversión a prefija; y en la tercera se compararon las notaciones infija, prefija y postfija de una misma expresión. Los resultados permitieron comprobar que el programa conserva correctamente el orden y la prioridad de las operaciones.</a:t>
            </a:r>
          </a:p>
        </p:txBody>
      </p:sp>
    </p:spTree>
    <p:extLst>
      <p:ext uri="{BB962C8B-B14F-4D97-AF65-F5344CB8AC3E}">
        <p14:creationId xmlns:p14="http://schemas.microsoft.com/office/powerpoint/2010/main" val="36910599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5E54D8F-E4E4-D8D1-8B7B-F4BE18FFA034}"/>
              </a:ext>
            </a:extLst>
          </p:cNvPr>
          <p:cNvSpPr>
            <a:spLocks noGrp="1"/>
          </p:cNvSpPr>
          <p:nvPr>
            <p:ph type="title"/>
          </p:nvPr>
        </p:nvSpPr>
        <p:spPr/>
        <p:txBody>
          <a:bodyPr vert="horz" lIns="91440" tIns="45720" rIns="91440" bIns="45720" rtlCol="0" anchor="ctr">
            <a:normAutofit fontScale="90000"/>
          </a:bodyPr>
          <a:lstStyle/>
          <a:p>
            <a:r>
              <a:rPr lang="es-MX" sz="4800" b="1" dirty="0">
                <a:solidFill>
                  <a:schemeClr val="accent1"/>
                </a:solidFill>
              </a:rPr>
              <a:t>Ejercicio 1 Representaciones: expresión con multiplicación y suma</a:t>
            </a:r>
          </a:p>
        </p:txBody>
      </p:sp>
      <p:pic>
        <p:nvPicPr>
          <p:cNvPr id="5" name="Marcador de contenido 4">
            <a:extLst>
              <a:ext uri="{FF2B5EF4-FFF2-40B4-BE49-F238E27FC236}">
                <a16:creationId xmlns:a16="http://schemas.microsoft.com/office/drawing/2014/main" id="{5977577C-8CED-EEF9-593A-B828E0096D2A}"/>
              </a:ext>
            </a:extLst>
          </p:cNvPr>
          <p:cNvPicPr>
            <a:picLocks noGrp="1" noChangeAspect="1"/>
          </p:cNvPicPr>
          <p:nvPr>
            <p:ph idx="1"/>
          </p:nvPr>
        </p:nvPicPr>
        <p:blipFill>
          <a:blip r:embed="rId2"/>
          <a:stretch>
            <a:fillRect/>
          </a:stretch>
        </p:blipFill>
        <p:spPr>
          <a:xfrm>
            <a:off x="6353175" y="1690688"/>
            <a:ext cx="3840000" cy="2160000"/>
          </a:xfrm>
          <a:prstGeom prst="rect">
            <a:avLst/>
          </a:prstGeom>
        </p:spPr>
      </p:pic>
      <p:sp>
        <p:nvSpPr>
          <p:cNvPr id="7" name="CuadroTexto 6">
            <a:extLst>
              <a:ext uri="{FF2B5EF4-FFF2-40B4-BE49-F238E27FC236}">
                <a16:creationId xmlns:a16="http://schemas.microsoft.com/office/drawing/2014/main" id="{0D7AC86B-3B00-3A18-1D76-42631CF1FD15}"/>
              </a:ext>
            </a:extLst>
          </p:cNvPr>
          <p:cNvSpPr txBox="1"/>
          <p:nvPr/>
        </p:nvSpPr>
        <p:spPr>
          <a:xfrm>
            <a:off x="838200" y="2646313"/>
            <a:ext cx="4457700" cy="1754326"/>
          </a:xfrm>
          <a:prstGeom prst="rect">
            <a:avLst/>
          </a:prstGeom>
          <a:noFill/>
        </p:spPr>
        <p:txBody>
          <a:bodyPr wrap="square">
            <a:spAutoFit/>
          </a:bodyPr>
          <a:lstStyle>
            <a:defPPr>
              <a:defRPr lang="es-MX"/>
            </a:defPPr>
            <a:lvl1pPr>
              <a:buNone/>
              <a:defRPr sz="2800"/>
            </a:lvl1pPr>
          </a:lstStyle>
          <a:p>
            <a:r>
              <a:rPr lang="es-MX" dirty="0"/>
              <a:t>Prueba: a + b * c</a:t>
            </a:r>
          </a:p>
          <a:p>
            <a:r>
              <a:rPr lang="es-MX" dirty="0"/>
              <a:t>Explicación: El compilador generó las diferentes representaciones de código intermedio, respetando la prioridad de los operadores al realizar primero la multiplicación y posteriormente la suma.</a:t>
            </a:r>
          </a:p>
        </p:txBody>
      </p:sp>
      <p:pic>
        <p:nvPicPr>
          <p:cNvPr id="9" name="Imagen 8">
            <a:extLst>
              <a:ext uri="{FF2B5EF4-FFF2-40B4-BE49-F238E27FC236}">
                <a16:creationId xmlns:a16="http://schemas.microsoft.com/office/drawing/2014/main" id="{A1E023CD-D774-FE63-52E0-D5C44AA08710}"/>
              </a:ext>
            </a:extLst>
          </p:cNvPr>
          <p:cNvPicPr>
            <a:picLocks noChangeAspect="1"/>
          </p:cNvPicPr>
          <p:nvPr/>
        </p:nvPicPr>
        <p:blipFill>
          <a:blip r:embed="rId3"/>
          <a:stretch>
            <a:fillRect/>
          </a:stretch>
        </p:blipFill>
        <p:spPr>
          <a:xfrm>
            <a:off x="6353175" y="3850688"/>
            <a:ext cx="3840000" cy="2160000"/>
          </a:xfrm>
          <a:prstGeom prst="rect">
            <a:avLst/>
          </a:prstGeom>
        </p:spPr>
      </p:pic>
    </p:spTree>
    <p:extLst>
      <p:ext uri="{BB962C8B-B14F-4D97-AF65-F5344CB8AC3E}">
        <p14:creationId xmlns:p14="http://schemas.microsoft.com/office/powerpoint/2010/main" val="34479612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994A4A3-F528-0D45-C5E7-620B80695870}"/>
              </a:ext>
            </a:extLst>
          </p:cNvPr>
          <p:cNvSpPr>
            <a:spLocks noGrp="1"/>
          </p:cNvSpPr>
          <p:nvPr>
            <p:ph type="title"/>
          </p:nvPr>
        </p:nvSpPr>
        <p:spPr>
          <a:xfrm>
            <a:off x="838200" y="243282"/>
            <a:ext cx="10515600" cy="1325563"/>
          </a:xfrm>
        </p:spPr>
        <p:txBody>
          <a:bodyPr vert="horz" lIns="91440" tIns="45720" rIns="91440" bIns="45720" rtlCol="0" anchor="ctr">
            <a:normAutofit fontScale="90000"/>
          </a:bodyPr>
          <a:lstStyle/>
          <a:p>
            <a:r>
              <a:rPr lang="es-MX" sz="4800" b="1" dirty="0">
                <a:solidFill>
                  <a:schemeClr val="accent1"/>
                </a:solidFill>
              </a:rPr>
              <a:t>Ejercicio 2 Representaciones: expresión con paréntesis</a:t>
            </a:r>
          </a:p>
        </p:txBody>
      </p:sp>
      <p:pic>
        <p:nvPicPr>
          <p:cNvPr id="5" name="Marcador de contenido 4">
            <a:extLst>
              <a:ext uri="{FF2B5EF4-FFF2-40B4-BE49-F238E27FC236}">
                <a16:creationId xmlns:a16="http://schemas.microsoft.com/office/drawing/2014/main" id="{412ED540-31F0-34D3-4CB7-CF31080AB894}"/>
              </a:ext>
            </a:extLst>
          </p:cNvPr>
          <p:cNvPicPr>
            <a:picLocks noGrp="1" noChangeAspect="1"/>
          </p:cNvPicPr>
          <p:nvPr>
            <p:ph idx="1"/>
          </p:nvPr>
        </p:nvPicPr>
        <p:blipFill>
          <a:blip r:embed="rId2"/>
          <a:stretch>
            <a:fillRect/>
          </a:stretch>
        </p:blipFill>
        <p:spPr>
          <a:xfrm>
            <a:off x="6311264" y="1234301"/>
            <a:ext cx="4249065" cy="2390099"/>
          </a:xfrm>
          <a:prstGeom prst="rect">
            <a:avLst/>
          </a:prstGeom>
        </p:spPr>
      </p:pic>
      <p:pic>
        <p:nvPicPr>
          <p:cNvPr id="7" name="Imagen 6">
            <a:extLst>
              <a:ext uri="{FF2B5EF4-FFF2-40B4-BE49-F238E27FC236}">
                <a16:creationId xmlns:a16="http://schemas.microsoft.com/office/drawing/2014/main" id="{18D95321-34F6-EE37-0D4E-E6C3C812DD02}"/>
              </a:ext>
            </a:extLst>
          </p:cNvPr>
          <p:cNvPicPr>
            <a:picLocks noChangeAspect="1"/>
          </p:cNvPicPr>
          <p:nvPr/>
        </p:nvPicPr>
        <p:blipFill>
          <a:blip r:embed="rId3"/>
          <a:stretch>
            <a:fillRect/>
          </a:stretch>
        </p:blipFill>
        <p:spPr>
          <a:xfrm>
            <a:off x="6311264" y="3624400"/>
            <a:ext cx="4249067" cy="2390100"/>
          </a:xfrm>
          <a:prstGeom prst="rect">
            <a:avLst/>
          </a:prstGeom>
        </p:spPr>
      </p:pic>
      <p:sp>
        <p:nvSpPr>
          <p:cNvPr id="9" name="CuadroTexto 8">
            <a:extLst>
              <a:ext uri="{FF2B5EF4-FFF2-40B4-BE49-F238E27FC236}">
                <a16:creationId xmlns:a16="http://schemas.microsoft.com/office/drawing/2014/main" id="{5811661D-ED32-C82D-0E57-DBA856847E87}"/>
              </a:ext>
            </a:extLst>
          </p:cNvPr>
          <p:cNvSpPr txBox="1"/>
          <p:nvPr/>
        </p:nvSpPr>
        <p:spPr>
          <a:xfrm>
            <a:off x="1043940" y="2014280"/>
            <a:ext cx="4678680" cy="1754326"/>
          </a:xfrm>
          <a:prstGeom prst="rect">
            <a:avLst/>
          </a:prstGeom>
          <a:noFill/>
        </p:spPr>
        <p:txBody>
          <a:bodyPr wrap="square">
            <a:spAutoFit/>
          </a:bodyPr>
          <a:lstStyle>
            <a:defPPr>
              <a:defRPr lang="es-MX"/>
            </a:defPPr>
            <a:lvl1pPr>
              <a:buNone/>
              <a:defRPr sz="2800"/>
            </a:lvl1pPr>
          </a:lstStyle>
          <a:p>
            <a:r>
              <a:rPr lang="es-MX" dirty="0"/>
              <a:t>Prueba: (a + b) * c</a:t>
            </a:r>
          </a:p>
          <a:p>
            <a:endParaRPr lang="es-MX" dirty="0"/>
          </a:p>
          <a:p>
            <a:r>
              <a:rPr lang="es-MX" dirty="0"/>
              <a:t>Explicación: El compilador respetó el uso de los paréntesis, realizando primero la suma de a + b y posteriormente multiplicando el resultado por c.</a:t>
            </a:r>
          </a:p>
        </p:txBody>
      </p:sp>
    </p:spTree>
    <p:extLst>
      <p:ext uri="{BB962C8B-B14F-4D97-AF65-F5344CB8AC3E}">
        <p14:creationId xmlns:p14="http://schemas.microsoft.com/office/powerpoint/2010/main" val="41450349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9BEDED0-E4EF-87F4-EDAF-AEE81C24971D}"/>
              </a:ext>
            </a:extLst>
          </p:cNvPr>
          <p:cNvSpPr>
            <a:spLocks noGrp="1"/>
          </p:cNvSpPr>
          <p:nvPr>
            <p:ph type="title"/>
          </p:nvPr>
        </p:nvSpPr>
        <p:spPr/>
        <p:txBody>
          <a:bodyPr vert="horz" lIns="91440" tIns="45720" rIns="91440" bIns="45720" rtlCol="0" anchor="ctr">
            <a:normAutofit fontScale="90000"/>
          </a:bodyPr>
          <a:lstStyle/>
          <a:p>
            <a:r>
              <a:rPr lang="es-MX" sz="4800" b="1" dirty="0">
                <a:solidFill>
                  <a:schemeClr val="accent1"/>
                </a:solidFill>
              </a:rPr>
              <a:t>Ejercicio 3 Representaciones: expresión con varias operaciones</a:t>
            </a:r>
          </a:p>
        </p:txBody>
      </p:sp>
      <p:sp>
        <p:nvSpPr>
          <p:cNvPr id="3" name="Marcador de contenido 2">
            <a:extLst>
              <a:ext uri="{FF2B5EF4-FFF2-40B4-BE49-F238E27FC236}">
                <a16:creationId xmlns:a16="http://schemas.microsoft.com/office/drawing/2014/main" id="{4EFAE6B4-712F-3F3A-1C7A-746F20DC33A1}"/>
              </a:ext>
            </a:extLst>
          </p:cNvPr>
          <p:cNvSpPr>
            <a:spLocks noGrp="1"/>
          </p:cNvSpPr>
          <p:nvPr>
            <p:ph idx="1"/>
          </p:nvPr>
        </p:nvSpPr>
        <p:spPr>
          <a:xfrm>
            <a:off x="838200" y="1690688"/>
            <a:ext cx="4743450" cy="4999317"/>
          </a:xfrm>
          <a:noFill/>
        </p:spPr>
        <p:txBody>
          <a:bodyPr wrap="square">
            <a:spAutoFit/>
          </a:bodyPr>
          <a:lstStyle/>
          <a:p>
            <a:pPr marL="0" indent="0">
              <a:buNone/>
            </a:pPr>
            <a:r>
              <a:rPr lang="es-MX" sz="2000" dirty="0"/>
              <a:t>Prueba:</a:t>
            </a:r>
            <a:br>
              <a:rPr lang="es-MX" sz="2000" dirty="0"/>
            </a:br>
            <a:r>
              <a:rPr lang="es-MX" sz="2000" dirty="0"/>
              <a:t>a * b + c / d</a:t>
            </a:r>
          </a:p>
          <a:p>
            <a:pPr marL="0" indent="0">
              <a:buNone/>
            </a:pPr>
            <a:r>
              <a:rPr lang="es-MX" sz="2000" b="1" dirty="0"/>
              <a:t>Descripción:</a:t>
            </a:r>
            <a:br>
              <a:rPr lang="es-MX" sz="2000" dirty="0"/>
            </a:br>
            <a:r>
              <a:rPr lang="es-MX" sz="2000" dirty="0"/>
              <a:t>El ejercicio consiste en generar las diferentes representaciones de código intermedio de una expresión que contiene multiplicación, suma y división, verificando que se respete la prioridad de los operadores.</a:t>
            </a:r>
          </a:p>
          <a:p>
            <a:pPr marL="0" indent="0">
              <a:buNone/>
            </a:pPr>
            <a:r>
              <a:rPr lang="es-MX" sz="2000" b="1" dirty="0"/>
              <a:t>Resultados esperados:</a:t>
            </a:r>
            <a:endParaRPr lang="es-MX" sz="2000" dirty="0"/>
          </a:p>
          <a:p>
            <a:pPr marL="0" indent="0">
              <a:buNone/>
            </a:pPr>
            <a:r>
              <a:rPr lang="es-MX" sz="2000" b="1" dirty="0"/>
              <a:t>Notación Polaca / Prefija:</a:t>
            </a:r>
            <a:br>
              <a:rPr lang="es-MX" sz="2000" dirty="0"/>
            </a:br>
            <a:r>
              <a:rPr lang="es-MX" sz="2000" dirty="0"/>
              <a:t>+ * a b / c d</a:t>
            </a:r>
          </a:p>
          <a:p>
            <a:pPr marL="0" indent="0">
              <a:buNone/>
            </a:pPr>
            <a:r>
              <a:rPr lang="es-MX" sz="2000" b="1" dirty="0"/>
              <a:t>Notación Polaca Inversa / Postfija:</a:t>
            </a:r>
            <a:br>
              <a:rPr lang="es-MX" sz="2000" dirty="0"/>
            </a:br>
            <a:r>
              <a:rPr lang="es-MX" sz="2000" dirty="0"/>
              <a:t>a b * c d / +</a:t>
            </a:r>
          </a:p>
          <a:p>
            <a:pPr marL="0" indent="0">
              <a:buNone/>
            </a:pPr>
            <a:endParaRPr lang="es-MX" sz="2000" dirty="0"/>
          </a:p>
        </p:txBody>
      </p:sp>
      <p:pic>
        <p:nvPicPr>
          <p:cNvPr id="7" name="Imagen 6">
            <a:extLst>
              <a:ext uri="{FF2B5EF4-FFF2-40B4-BE49-F238E27FC236}">
                <a16:creationId xmlns:a16="http://schemas.microsoft.com/office/drawing/2014/main" id="{ADB999F3-947D-9542-155B-C1E4FA8B3BE8}"/>
              </a:ext>
            </a:extLst>
          </p:cNvPr>
          <p:cNvPicPr>
            <a:picLocks noChangeAspect="1"/>
          </p:cNvPicPr>
          <p:nvPr/>
        </p:nvPicPr>
        <p:blipFill>
          <a:blip r:embed="rId2"/>
          <a:stretch>
            <a:fillRect/>
          </a:stretch>
        </p:blipFill>
        <p:spPr>
          <a:xfrm>
            <a:off x="6430152" y="1324928"/>
            <a:ext cx="4309532" cy="2424112"/>
          </a:xfrm>
          <a:prstGeom prst="rect">
            <a:avLst/>
          </a:prstGeom>
        </p:spPr>
      </p:pic>
      <p:pic>
        <p:nvPicPr>
          <p:cNvPr id="9" name="Imagen 8">
            <a:extLst>
              <a:ext uri="{FF2B5EF4-FFF2-40B4-BE49-F238E27FC236}">
                <a16:creationId xmlns:a16="http://schemas.microsoft.com/office/drawing/2014/main" id="{EB4A7E11-7061-B8C3-ED06-D38BA003E977}"/>
              </a:ext>
            </a:extLst>
          </p:cNvPr>
          <p:cNvPicPr>
            <a:picLocks noChangeAspect="1"/>
          </p:cNvPicPr>
          <p:nvPr/>
        </p:nvPicPr>
        <p:blipFill>
          <a:blip r:embed="rId3"/>
          <a:stretch>
            <a:fillRect/>
          </a:stretch>
        </p:blipFill>
        <p:spPr>
          <a:xfrm>
            <a:off x="6430152" y="3749040"/>
            <a:ext cx="4309532" cy="2424112"/>
          </a:xfrm>
          <a:prstGeom prst="rect">
            <a:avLst/>
          </a:prstGeom>
        </p:spPr>
      </p:pic>
    </p:spTree>
    <p:extLst>
      <p:ext uri="{BB962C8B-B14F-4D97-AF65-F5344CB8AC3E}">
        <p14:creationId xmlns:p14="http://schemas.microsoft.com/office/powerpoint/2010/main" val="16664510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4F94447-FB1E-ED36-FC97-017949EA56C4}"/>
              </a:ext>
            </a:extLst>
          </p:cNvPr>
          <p:cNvSpPr>
            <a:spLocks noGrp="1"/>
          </p:cNvSpPr>
          <p:nvPr>
            <p:ph type="title"/>
          </p:nvPr>
        </p:nvSpPr>
        <p:spPr/>
        <p:txBody>
          <a:bodyPr/>
          <a:lstStyle/>
          <a:p>
            <a:r>
              <a:rPr lang="es-MX" sz="4300" b="1" dirty="0">
                <a:solidFill>
                  <a:schemeClr val="accent1"/>
                </a:solidFill>
              </a:rPr>
              <a:t>Explicación</a:t>
            </a:r>
            <a:r>
              <a:rPr lang="es-MX" dirty="0"/>
              <a:t> </a:t>
            </a:r>
            <a:r>
              <a:rPr lang="es-MX" sz="4300" b="1" dirty="0">
                <a:solidFill>
                  <a:schemeClr val="accent1"/>
                </a:solidFill>
              </a:rPr>
              <a:t>de las pruebas-</a:t>
            </a:r>
            <a:r>
              <a:rPr lang="es-MX" b="1" dirty="0">
                <a:solidFill>
                  <a:schemeClr val="accent1"/>
                </a:solidFill>
              </a:rPr>
              <a:t> Representaciones</a:t>
            </a:r>
            <a:endParaRPr lang="es-MX" sz="4300" b="1" dirty="0">
              <a:solidFill>
                <a:schemeClr val="accent1"/>
              </a:solidFill>
            </a:endParaRPr>
          </a:p>
        </p:txBody>
      </p:sp>
      <p:sp>
        <p:nvSpPr>
          <p:cNvPr id="3" name="Marcador de contenido 2">
            <a:extLst>
              <a:ext uri="{FF2B5EF4-FFF2-40B4-BE49-F238E27FC236}">
                <a16:creationId xmlns:a16="http://schemas.microsoft.com/office/drawing/2014/main" id="{D7D33181-997F-B0E9-3CB9-F2992B1DEE63}"/>
              </a:ext>
            </a:extLst>
          </p:cNvPr>
          <p:cNvSpPr>
            <a:spLocks noGrp="1"/>
          </p:cNvSpPr>
          <p:nvPr>
            <p:ph idx="1"/>
          </p:nvPr>
        </p:nvSpPr>
        <p:spPr/>
        <p:txBody>
          <a:bodyPr>
            <a:normAutofit/>
          </a:bodyPr>
          <a:lstStyle/>
          <a:p>
            <a:pPr marL="0" indent="0" algn="just">
              <a:buNone/>
            </a:pPr>
            <a:r>
              <a:rPr lang="es-MX" dirty="0"/>
              <a:t>En las pruebas realizadas se utilizaron distintas expresiones aritméticas para comprobar el funcionamiento del módulo de representaciones de código intermedio. El compilador generó las formas prefija, postfija, Código P, Triplos y Cuádruplos, respetando la prioridad de los operadores y el uso de paréntesis cuando fue necesario.</a:t>
            </a:r>
          </a:p>
          <a:p>
            <a:pPr marL="0" indent="0" algn="just">
              <a:buNone/>
            </a:pPr>
            <a:r>
              <a:rPr lang="es-MX" dirty="0"/>
              <a:t>Las pruebas permitieron verificar que las expresiones se descomponen correctamente en operaciones más simples y que cada representación conserva el orden lógico de ejecución. También se comprobó que el sistema puede trabajar con expresiones que incluyen suma, multiplicación, división y agrupación mediante paréntesis.</a:t>
            </a:r>
          </a:p>
          <a:p>
            <a:pPr marL="0" indent="0">
              <a:buNone/>
            </a:pPr>
            <a:endParaRPr lang="es-MX" dirty="0"/>
          </a:p>
        </p:txBody>
      </p:sp>
    </p:spTree>
    <p:extLst>
      <p:ext uri="{BB962C8B-B14F-4D97-AF65-F5344CB8AC3E}">
        <p14:creationId xmlns:p14="http://schemas.microsoft.com/office/powerpoint/2010/main" val="27767530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81BF58C-AB24-0D5E-47DF-4B2CF6D785BD}"/>
              </a:ext>
            </a:extLst>
          </p:cNvPr>
          <p:cNvSpPr>
            <a:spLocks noGrp="1"/>
          </p:cNvSpPr>
          <p:nvPr>
            <p:ph type="title"/>
          </p:nvPr>
        </p:nvSpPr>
        <p:spPr/>
        <p:txBody>
          <a:bodyPr vert="horz" lIns="91440" tIns="45720" rIns="91440" bIns="45720" rtlCol="0" anchor="ctr">
            <a:normAutofit/>
          </a:bodyPr>
          <a:lstStyle/>
          <a:p>
            <a:r>
              <a:rPr lang="es-MX" sz="4300" b="1" dirty="0">
                <a:solidFill>
                  <a:schemeClr val="accent1"/>
                </a:solidFill>
              </a:rPr>
              <a:t>Ejercicio 1. Generación de código intermedio: asignación con multiplicación y suma</a:t>
            </a:r>
          </a:p>
        </p:txBody>
      </p:sp>
      <p:sp>
        <p:nvSpPr>
          <p:cNvPr id="3" name="Marcador de contenido 2">
            <a:extLst>
              <a:ext uri="{FF2B5EF4-FFF2-40B4-BE49-F238E27FC236}">
                <a16:creationId xmlns:a16="http://schemas.microsoft.com/office/drawing/2014/main" id="{0305F973-5F85-8D4F-66ED-1BAE8E395D37}"/>
              </a:ext>
            </a:extLst>
          </p:cNvPr>
          <p:cNvSpPr>
            <a:spLocks noGrp="1"/>
          </p:cNvSpPr>
          <p:nvPr>
            <p:ph idx="1"/>
          </p:nvPr>
        </p:nvSpPr>
        <p:spPr>
          <a:xfrm>
            <a:off x="838200" y="2103119"/>
            <a:ext cx="4810760" cy="4073843"/>
          </a:xfrm>
        </p:spPr>
        <p:txBody>
          <a:bodyPr>
            <a:normAutofit/>
          </a:bodyPr>
          <a:lstStyle/>
          <a:p>
            <a:pPr marL="0" indent="0">
              <a:buNone/>
            </a:pPr>
            <a:r>
              <a:rPr lang="es-MX" b="1" dirty="0"/>
              <a:t>Prueba:</a:t>
            </a:r>
            <a:r>
              <a:rPr lang="es-MX" dirty="0"/>
              <a:t> x = a + b * c</a:t>
            </a:r>
          </a:p>
          <a:p>
            <a:pPr marL="0" indent="0">
              <a:buNone/>
            </a:pPr>
            <a:r>
              <a:rPr lang="es-MX" b="1" dirty="0"/>
              <a:t>Explicación:</a:t>
            </a:r>
            <a:r>
              <a:rPr lang="es-MX" dirty="0"/>
              <a:t> El compilador descompone la expresión en operaciones simples, utilizando variables temporales y respetando la prioridad de la multiplicación antes de realizar la suma.</a:t>
            </a:r>
          </a:p>
          <a:p>
            <a:pPr marL="0" indent="0">
              <a:buNone/>
            </a:pPr>
            <a:endParaRPr lang="es-MX" dirty="0"/>
          </a:p>
        </p:txBody>
      </p:sp>
      <p:pic>
        <p:nvPicPr>
          <p:cNvPr id="5" name="Imagen 4">
            <a:extLst>
              <a:ext uri="{FF2B5EF4-FFF2-40B4-BE49-F238E27FC236}">
                <a16:creationId xmlns:a16="http://schemas.microsoft.com/office/drawing/2014/main" id="{ADA8A92C-8EA2-E173-F9CD-4689E5914954}"/>
              </a:ext>
            </a:extLst>
          </p:cNvPr>
          <p:cNvPicPr>
            <a:picLocks noChangeAspect="1"/>
          </p:cNvPicPr>
          <p:nvPr/>
        </p:nvPicPr>
        <p:blipFill>
          <a:blip r:embed="rId2"/>
          <a:stretch>
            <a:fillRect/>
          </a:stretch>
        </p:blipFill>
        <p:spPr>
          <a:xfrm>
            <a:off x="5960532" y="2103119"/>
            <a:ext cx="5743787" cy="3230880"/>
          </a:xfrm>
          <a:prstGeom prst="rect">
            <a:avLst/>
          </a:prstGeom>
        </p:spPr>
      </p:pic>
    </p:spTree>
    <p:extLst>
      <p:ext uri="{BB962C8B-B14F-4D97-AF65-F5344CB8AC3E}">
        <p14:creationId xmlns:p14="http://schemas.microsoft.com/office/powerpoint/2010/main" val="22992994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ED096E8-5FDD-FE2D-4021-665CA84969E6}"/>
              </a:ext>
            </a:extLst>
          </p:cNvPr>
          <p:cNvSpPr>
            <a:spLocks noGrp="1"/>
          </p:cNvSpPr>
          <p:nvPr>
            <p:ph type="title"/>
          </p:nvPr>
        </p:nvSpPr>
        <p:spPr/>
        <p:txBody>
          <a:bodyPr vert="horz" lIns="91440" tIns="45720" rIns="91440" bIns="45720" rtlCol="0" anchor="ctr">
            <a:normAutofit/>
          </a:bodyPr>
          <a:lstStyle/>
          <a:p>
            <a:r>
              <a:rPr lang="es-MX" sz="4300" b="1" dirty="0">
                <a:solidFill>
                  <a:schemeClr val="accent1"/>
                </a:solidFill>
              </a:rPr>
              <a:t>Ejercicio 2. Generación de código intermedio: expresión con paréntesis</a:t>
            </a:r>
          </a:p>
        </p:txBody>
      </p:sp>
      <p:sp>
        <p:nvSpPr>
          <p:cNvPr id="3" name="Marcador de contenido 2">
            <a:extLst>
              <a:ext uri="{FF2B5EF4-FFF2-40B4-BE49-F238E27FC236}">
                <a16:creationId xmlns:a16="http://schemas.microsoft.com/office/drawing/2014/main" id="{7AA97E14-F23C-81C7-95DB-69DE83293FF3}"/>
              </a:ext>
            </a:extLst>
          </p:cNvPr>
          <p:cNvSpPr>
            <a:spLocks noGrp="1"/>
          </p:cNvSpPr>
          <p:nvPr>
            <p:ph idx="1"/>
          </p:nvPr>
        </p:nvSpPr>
        <p:spPr>
          <a:xfrm>
            <a:off x="838200" y="2056449"/>
            <a:ext cx="4414520" cy="3358832"/>
          </a:xfrm>
        </p:spPr>
        <p:txBody>
          <a:bodyPr/>
          <a:lstStyle/>
          <a:p>
            <a:pPr marL="0" indent="0">
              <a:buNone/>
            </a:pPr>
            <a:r>
              <a:rPr lang="es-MX" b="1" dirty="0"/>
              <a:t>Prueba:</a:t>
            </a:r>
            <a:r>
              <a:rPr lang="es-MX" dirty="0"/>
              <a:t> x = (a + b) * c</a:t>
            </a:r>
          </a:p>
          <a:p>
            <a:pPr marL="0" indent="0">
              <a:buNone/>
            </a:pPr>
            <a:r>
              <a:rPr lang="es-MX" b="1" dirty="0"/>
              <a:t>Explicación:</a:t>
            </a:r>
            <a:r>
              <a:rPr lang="es-MX" dirty="0"/>
              <a:t> El compilador respeta los paréntesis y genera primero la operación a + b; después utiliza el resultado temporal para realizar la multiplicación por c.</a:t>
            </a:r>
          </a:p>
        </p:txBody>
      </p:sp>
      <p:pic>
        <p:nvPicPr>
          <p:cNvPr id="5" name="Imagen 4">
            <a:extLst>
              <a:ext uri="{FF2B5EF4-FFF2-40B4-BE49-F238E27FC236}">
                <a16:creationId xmlns:a16="http://schemas.microsoft.com/office/drawing/2014/main" id="{9136224A-432E-686D-5F62-68EB4972B3B5}"/>
              </a:ext>
            </a:extLst>
          </p:cNvPr>
          <p:cNvPicPr>
            <a:picLocks noChangeAspect="1"/>
          </p:cNvPicPr>
          <p:nvPr/>
        </p:nvPicPr>
        <p:blipFill>
          <a:blip r:embed="rId2"/>
          <a:stretch>
            <a:fillRect/>
          </a:stretch>
        </p:blipFill>
        <p:spPr>
          <a:xfrm>
            <a:off x="5537764" y="2143761"/>
            <a:ext cx="5816036" cy="3271520"/>
          </a:xfrm>
          <a:prstGeom prst="rect">
            <a:avLst/>
          </a:prstGeom>
        </p:spPr>
      </p:pic>
    </p:spTree>
    <p:extLst>
      <p:ext uri="{BB962C8B-B14F-4D97-AF65-F5344CB8AC3E}">
        <p14:creationId xmlns:p14="http://schemas.microsoft.com/office/powerpoint/2010/main" val="15763076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8B2CDB9-E662-B17D-9363-35763CC90C9B}"/>
              </a:ext>
            </a:extLst>
          </p:cNvPr>
          <p:cNvSpPr>
            <a:spLocks noGrp="1"/>
          </p:cNvSpPr>
          <p:nvPr>
            <p:ph type="title"/>
          </p:nvPr>
        </p:nvSpPr>
        <p:spPr/>
        <p:txBody>
          <a:bodyPr vert="horz" lIns="91440" tIns="45720" rIns="91440" bIns="45720" rtlCol="0" anchor="ctr">
            <a:normAutofit/>
          </a:bodyPr>
          <a:lstStyle/>
          <a:p>
            <a:r>
              <a:rPr lang="es-MX" sz="4300" b="1" dirty="0">
                <a:solidFill>
                  <a:schemeClr val="accent1"/>
                </a:solidFill>
              </a:rPr>
              <a:t>Ejercicio 3. Generación de código intermedio: expresión con varias operaciones</a:t>
            </a:r>
          </a:p>
        </p:txBody>
      </p:sp>
      <p:sp>
        <p:nvSpPr>
          <p:cNvPr id="3" name="Marcador de contenido 2">
            <a:extLst>
              <a:ext uri="{FF2B5EF4-FFF2-40B4-BE49-F238E27FC236}">
                <a16:creationId xmlns:a16="http://schemas.microsoft.com/office/drawing/2014/main" id="{CB79026E-BBB5-0DD2-1C47-A651D6C69BC6}"/>
              </a:ext>
            </a:extLst>
          </p:cNvPr>
          <p:cNvSpPr>
            <a:spLocks noGrp="1"/>
          </p:cNvSpPr>
          <p:nvPr>
            <p:ph idx="1"/>
          </p:nvPr>
        </p:nvSpPr>
        <p:spPr>
          <a:xfrm>
            <a:off x="838200" y="2326639"/>
            <a:ext cx="4221480" cy="3850323"/>
          </a:xfrm>
        </p:spPr>
        <p:txBody>
          <a:bodyPr>
            <a:normAutofit/>
          </a:bodyPr>
          <a:lstStyle/>
          <a:p>
            <a:pPr marL="0" indent="0">
              <a:buNone/>
            </a:pPr>
            <a:r>
              <a:rPr lang="es-MX" b="1" dirty="0"/>
              <a:t>Prueba:</a:t>
            </a:r>
            <a:r>
              <a:rPr lang="es-MX" dirty="0"/>
              <a:t> x = a * b + c / d</a:t>
            </a:r>
          </a:p>
          <a:p>
            <a:pPr marL="0" indent="0">
              <a:buNone/>
            </a:pPr>
            <a:r>
              <a:rPr lang="es-MX" b="1" dirty="0"/>
              <a:t>Explicación:</a:t>
            </a:r>
            <a:r>
              <a:rPr lang="es-MX" dirty="0"/>
              <a:t> El compilador separa la expresión en operaciones individuales, procesa primero la multiplicación y la división y finalmente realiza la suma de los resultados temporales.</a:t>
            </a:r>
          </a:p>
          <a:p>
            <a:pPr marL="0" indent="0">
              <a:buNone/>
            </a:pPr>
            <a:endParaRPr lang="es-MX" dirty="0"/>
          </a:p>
        </p:txBody>
      </p:sp>
      <p:pic>
        <p:nvPicPr>
          <p:cNvPr id="5" name="Imagen 4">
            <a:extLst>
              <a:ext uri="{FF2B5EF4-FFF2-40B4-BE49-F238E27FC236}">
                <a16:creationId xmlns:a16="http://schemas.microsoft.com/office/drawing/2014/main" id="{636157F3-6135-8F5A-223F-F15DBF3641F5}"/>
              </a:ext>
            </a:extLst>
          </p:cNvPr>
          <p:cNvPicPr>
            <a:picLocks noChangeAspect="1"/>
          </p:cNvPicPr>
          <p:nvPr/>
        </p:nvPicPr>
        <p:blipFill>
          <a:blip r:embed="rId2"/>
          <a:stretch>
            <a:fillRect/>
          </a:stretch>
        </p:blipFill>
        <p:spPr>
          <a:xfrm>
            <a:off x="5174260" y="2184716"/>
            <a:ext cx="6845019" cy="3850323"/>
          </a:xfrm>
          <a:prstGeom prst="rect">
            <a:avLst/>
          </a:prstGeom>
        </p:spPr>
      </p:pic>
    </p:spTree>
    <p:extLst>
      <p:ext uri="{BB962C8B-B14F-4D97-AF65-F5344CB8AC3E}">
        <p14:creationId xmlns:p14="http://schemas.microsoft.com/office/powerpoint/2010/main" val="41289929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FFDEA6-5AEE-CB86-6D66-C38880608FB5}"/>
              </a:ext>
            </a:extLst>
          </p:cNvPr>
          <p:cNvSpPr>
            <a:spLocks noGrp="1"/>
          </p:cNvSpPr>
          <p:nvPr>
            <p:ph type="title"/>
          </p:nvPr>
        </p:nvSpPr>
        <p:spPr/>
        <p:txBody>
          <a:bodyPr vert="horz" lIns="91440" tIns="45720" rIns="91440" bIns="45720" rtlCol="0" anchor="ctr">
            <a:normAutofit/>
          </a:bodyPr>
          <a:lstStyle/>
          <a:p>
            <a:r>
              <a:rPr lang="es-MX" sz="4300" b="1" dirty="0">
                <a:solidFill>
                  <a:schemeClr val="accent1"/>
                </a:solidFill>
              </a:rPr>
              <a:t>Explicación de las pruebas- Generación de código intermedio</a:t>
            </a:r>
          </a:p>
        </p:txBody>
      </p:sp>
      <p:sp>
        <p:nvSpPr>
          <p:cNvPr id="3" name="Marcador de contenido 2">
            <a:extLst>
              <a:ext uri="{FF2B5EF4-FFF2-40B4-BE49-F238E27FC236}">
                <a16:creationId xmlns:a16="http://schemas.microsoft.com/office/drawing/2014/main" id="{3644C980-7A84-14F8-7D09-E90F9838185F}"/>
              </a:ext>
            </a:extLst>
          </p:cNvPr>
          <p:cNvSpPr>
            <a:spLocks noGrp="1"/>
          </p:cNvSpPr>
          <p:nvPr>
            <p:ph idx="1"/>
          </p:nvPr>
        </p:nvSpPr>
        <p:spPr/>
        <p:txBody>
          <a:bodyPr>
            <a:normAutofit lnSpcReduction="10000"/>
          </a:bodyPr>
          <a:lstStyle/>
          <a:p>
            <a:pPr marL="0" indent="0" algn="just">
              <a:buNone/>
            </a:pPr>
            <a:r>
              <a:rPr lang="es-MX" dirty="0"/>
              <a:t>Las pruebas realizadas permitieron comprobar el funcionamiento de la generación de código intermedio mediante expresiones con diferentes niveles de complejidad. En cada ejercicio, el compilador descompuso la expresión original en instrucciones más simples utilizando variables temporales.</a:t>
            </a:r>
          </a:p>
          <a:p>
            <a:pPr marL="0" indent="0" algn="just">
              <a:buNone/>
            </a:pPr>
            <a:r>
              <a:rPr lang="es-MX" dirty="0"/>
              <a:t>En la primera prueba se verificó la prioridad de operadores, realizando primero la multiplicación y después la suma. En la segunda se comprobó el uso de paréntesis, procesando primero la operación agrupada. Finalmente, en la tercera prueba se utilizaron varias operaciones, verificando que la multiplicación y la división se procesaran antes de la suma.</a:t>
            </a:r>
          </a:p>
          <a:p>
            <a:pPr marL="0" indent="0" algn="just">
              <a:buNone/>
            </a:pPr>
            <a:endParaRPr lang="es-MX" dirty="0"/>
          </a:p>
        </p:txBody>
      </p:sp>
    </p:spTree>
    <p:extLst>
      <p:ext uri="{BB962C8B-B14F-4D97-AF65-F5344CB8AC3E}">
        <p14:creationId xmlns:p14="http://schemas.microsoft.com/office/powerpoint/2010/main" val="25969520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130AC5D9-9FD1-99B5-CB0C-FC5B34DE4F9B}"/>
              </a:ext>
            </a:extLst>
          </p:cNvPr>
          <p:cNvSpPr>
            <a:spLocks noGrp="1"/>
          </p:cNvSpPr>
          <p:nvPr>
            <p:ph idx="1"/>
          </p:nvPr>
        </p:nvSpPr>
        <p:spPr>
          <a:xfrm>
            <a:off x="838200" y="968375"/>
            <a:ext cx="10515600" cy="4351338"/>
          </a:xfrm>
        </p:spPr>
        <p:txBody>
          <a:bodyPr>
            <a:normAutofit/>
          </a:bodyPr>
          <a:lstStyle/>
          <a:p>
            <a:pPr marL="0" indent="0">
              <a:buNone/>
            </a:pPr>
            <a:r>
              <a:rPr lang="es-MX" sz="4400" b="1" dirty="0">
                <a:solidFill>
                  <a:schemeClr val="accent1"/>
                </a:solidFill>
                <a:latin typeface="+mj-lt"/>
              </a:rPr>
              <a:t>Conclusión</a:t>
            </a:r>
          </a:p>
          <a:p>
            <a:pPr marL="0" indent="0">
              <a:buNone/>
            </a:pPr>
            <a:endParaRPr lang="es-MX" dirty="0"/>
          </a:p>
          <a:p>
            <a:pPr marL="0" indent="0" algn="just">
              <a:buNone/>
            </a:pPr>
            <a:r>
              <a:rPr lang="es-MX" dirty="0"/>
              <a:t> </a:t>
            </a:r>
          </a:p>
        </p:txBody>
      </p:sp>
      <p:sp>
        <p:nvSpPr>
          <p:cNvPr id="4" name="CuadroTexto 3">
            <a:extLst>
              <a:ext uri="{FF2B5EF4-FFF2-40B4-BE49-F238E27FC236}">
                <a16:creationId xmlns:a16="http://schemas.microsoft.com/office/drawing/2014/main" id="{DAA4F6D6-07BF-8DDB-B0CF-B5EA37EF780F}"/>
              </a:ext>
            </a:extLst>
          </p:cNvPr>
          <p:cNvSpPr txBox="1"/>
          <p:nvPr/>
        </p:nvSpPr>
        <p:spPr>
          <a:xfrm>
            <a:off x="923925" y="1859340"/>
            <a:ext cx="10629900" cy="523220"/>
          </a:xfrm>
          <a:prstGeom prst="rect">
            <a:avLst/>
          </a:prstGeom>
          <a:noFill/>
        </p:spPr>
        <p:txBody>
          <a:bodyPr wrap="square">
            <a:spAutoFit/>
          </a:bodyPr>
          <a:lstStyle/>
          <a:p>
            <a:endParaRPr lang="es-MX" sz="2800" dirty="0"/>
          </a:p>
        </p:txBody>
      </p:sp>
      <p:sp>
        <p:nvSpPr>
          <p:cNvPr id="5" name="CuadroTexto 4">
            <a:extLst>
              <a:ext uri="{FF2B5EF4-FFF2-40B4-BE49-F238E27FC236}">
                <a16:creationId xmlns:a16="http://schemas.microsoft.com/office/drawing/2014/main" id="{9A96AB62-DE36-2D17-61AF-AE5B7793E8F2}"/>
              </a:ext>
            </a:extLst>
          </p:cNvPr>
          <p:cNvSpPr txBox="1"/>
          <p:nvPr/>
        </p:nvSpPr>
        <p:spPr>
          <a:xfrm>
            <a:off x="923925" y="1724153"/>
            <a:ext cx="11082545" cy="4401205"/>
          </a:xfrm>
          <a:prstGeom prst="rect">
            <a:avLst/>
          </a:prstGeom>
          <a:noFill/>
        </p:spPr>
        <p:txBody>
          <a:bodyPr wrap="square">
            <a:spAutoFit/>
          </a:bodyPr>
          <a:lstStyle/>
          <a:p>
            <a:pPr algn="just">
              <a:buNone/>
            </a:pPr>
            <a:r>
              <a:rPr lang="es-MX" sz="2800" dirty="0"/>
              <a:t>La realización del banco de ejercicios permitió comprobar el funcionamiento de los módulos desarrollados para la generación de código intermedio. Mediante las pruebas se verificó la conversión correcta de expresiones entre las notaciones infija, prefija y postfija, así como la generación de Código P, triplos y cuádruplos.</a:t>
            </a:r>
          </a:p>
          <a:p>
            <a:pPr algn="just">
              <a:buNone/>
            </a:pPr>
            <a:r>
              <a:rPr lang="es-MX" sz="2800" dirty="0"/>
              <a:t>También se comprobó que el compilador respeta la prioridad de los operadores y el uso de paréntesis al descomponer expresiones complejas en instrucciones simples mediante variables temporales. Los resultados facilitaron la comprensión práctica del proceso de traducción del código fuente a una representación intermedia.</a:t>
            </a:r>
          </a:p>
        </p:txBody>
      </p:sp>
    </p:spTree>
    <p:extLst>
      <p:ext uri="{BB962C8B-B14F-4D97-AF65-F5344CB8AC3E}">
        <p14:creationId xmlns:p14="http://schemas.microsoft.com/office/powerpoint/2010/main" val="41559223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7B37826-C5F2-A1AC-A521-8D4B44C3BA2F}"/>
              </a:ext>
            </a:extLst>
          </p:cNvPr>
          <p:cNvSpPr>
            <a:spLocks noGrp="1"/>
          </p:cNvSpPr>
          <p:nvPr>
            <p:ph type="title"/>
          </p:nvPr>
        </p:nvSpPr>
        <p:spPr/>
        <p:txBody>
          <a:bodyPr vert="horz" lIns="91440" tIns="45720" rIns="91440" bIns="45720" rtlCol="0" anchor="ctr">
            <a:normAutofit/>
          </a:bodyPr>
          <a:lstStyle/>
          <a:p>
            <a:r>
              <a:rPr lang="es-MX" sz="4300" b="1" dirty="0" err="1">
                <a:solidFill>
                  <a:schemeClr val="accent1"/>
                </a:solidFill>
              </a:rPr>
              <a:t>FuenteS</a:t>
            </a:r>
            <a:r>
              <a:rPr lang="es-MX" sz="4300" b="1" dirty="0">
                <a:solidFill>
                  <a:schemeClr val="accent1"/>
                </a:solidFill>
              </a:rPr>
              <a:t> de </a:t>
            </a:r>
            <a:r>
              <a:rPr lang="es-MX" sz="4300" b="1" dirty="0" err="1">
                <a:solidFill>
                  <a:schemeClr val="accent1"/>
                </a:solidFill>
              </a:rPr>
              <a:t>imformacion</a:t>
            </a:r>
            <a:endParaRPr lang="es-MX" sz="4300" b="1" dirty="0">
              <a:solidFill>
                <a:schemeClr val="accent1"/>
              </a:solidFill>
            </a:endParaRPr>
          </a:p>
        </p:txBody>
      </p:sp>
      <p:sp>
        <p:nvSpPr>
          <p:cNvPr id="3" name="Marcador de contenido 2">
            <a:extLst>
              <a:ext uri="{FF2B5EF4-FFF2-40B4-BE49-F238E27FC236}">
                <a16:creationId xmlns:a16="http://schemas.microsoft.com/office/drawing/2014/main" id="{02AF2393-8DBE-9E8A-FD46-E6592B9758E0}"/>
              </a:ext>
            </a:extLst>
          </p:cNvPr>
          <p:cNvSpPr>
            <a:spLocks noGrp="1"/>
          </p:cNvSpPr>
          <p:nvPr>
            <p:ph idx="1"/>
          </p:nvPr>
        </p:nvSpPr>
        <p:spPr/>
        <p:txBody>
          <a:bodyPr>
            <a:normAutofit fontScale="85000" lnSpcReduction="20000"/>
          </a:bodyPr>
          <a:lstStyle/>
          <a:p>
            <a:pPr marL="0" indent="0">
              <a:buNone/>
            </a:pPr>
            <a:r>
              <a:rPr lang="es-MX" dirty="0"/>
              <a:t>Aquino Villanueva, R. (2026). </a:t>
            </a:r>
            <a:r>
              <a:rPr lang="es-MX" i="1" dirty="0"/>
              <a:t>LYAII</a:t>
            </a:r>
            <a:r>
              <a:rPr lang="es-MX" dirty="0"/>
              <a:t> Código fuente. GitHub.</a:t>
            </a:r>
            <a:br>
              <a:rPr lang="es-MX" dirty="0"/>
            </a:br>
            <a:r>
              <a:rPr lang="es-MX" dirty="0">
                <a:hlinkClick r:id="rId2"/>
              </a:rPr>
              <a:t>https://github.com/rafaelrav8770/LYAll.git</a:t>
            </a:r>
            <a:br>
              <a:rPr lang="es-MX" dirty="0"/>
            </a:br>
            <a:r>
              <a:rPr lang="es-MX" dirty="0" err="1"/>
              <a:t>OpenDSA</a:t>
            </a:r>
            <a:r>
              <a:rPr lang="es-MX" dirty="0"/>
              <a:t> Project </a:t>
            </a:r>
            <a:r>
              <a:rPr lang="es-MX" dirty="0" err="1"/>
              <a:t>Contributors</a:t>
            </a:r>
            <a:r>
              <a:rPr lang="es-MX" dirty="0"/>
              <a:t>. (2026). </a:t>
            </a:r>
            <a:r>
              <a:rPr lang="es-MX" i="1" dirty="0" err="1"/>
              <a:t>Structure</a:t>
            </a:r>
            <a:r>
              <a:rPr lang="es-MX" i="1" dirty="0"/>
              <a:t> </a:t>
            </a:r>
            <a:r>
              <a:rPr lang="es-MX" i="1" dirty="0" err="1"/>
              <a:t>of</a:t>
            </a:r>
            <a:r>
              <a:rPr lang="es-MX" i="1" dirty="0"/>
              <a:t> a </a:t>
            </a:r>
            <a:r>
              <a:rPr lang="es-MX" i="1" dirty="0" err="1"/>
              <a:t>compiler</a:t>
            </a:r>
            <a:r>
              <a:rPr lang="es-MX" dirty="0"/>
              <a:t>. </a:t>
            </a:r>
            <a:r>
              <a:rPr lang="es-MX" dirty="0" err="1"/>
              <a:t>OpenDSA</a:t>
            </a:r>
            <a:r>
              <a:rPr lang="es-MX" dirty="0"/>
              <a:t>.</a:t>
            </a:r>
            <a:br>
              <a:rPr lang="es-MX" dirty="0"/>
            </a:br>
            <a:r>
              <a:rPr lang="es-MX" dirty="0">
                <a:hlinkClick r:id="rId3"/>
              </a:rPr>
              <a:t>https://opendsa-server.cs.vt.edu/ODSA/StandaloneModules/20260113122745/html/Compiler.html</a:t>
            </a:r>
            <a:endParaRPr lang="es-MX" dirty="0"/>
          </a:p>
          <a:p>
            <a:pPr marL="0" indent="0">
              <a:buNone/>
            </a:pPr>
            <a:r>
              <a:rPr lang="es-MX" dirty="0"/>
              <a:t>Benítez Quecha, C. (2023). </a:t>
            </a:r>
            <a:r>
              <a:rPr lang="es-MX" i="1" dirty="0"/>
              <a:t>Apuntes para la materia de Lenguajes y Autómatas II</a:t>
            </a:r>
            <a:r>
              <a:rPr lang="es-MX" dirty="0"/>
              <a:t>. Tecnológico Nacional de México, Campus Oaxaca.</a:t>
            </a:r>
          </a:p>
          <a:p>
            <a:pPr marL="0" indent="0">
              <a:buNone/>
            </a:pPr>
            <a:r>
              <a:rPr lang="es-MX" dirty="0"/>
              <a:t>Instituto Tecnológico Superior de Calkiní en el Estado de Campeche. (s. f.). </a:t>
            </a:r>
            <a:r>
              <a:rPr lang="es-MX" i="1" dirty="0"/>
              <a:t>Syllabus SCD-1016: Lenguajes y Autómatas II</a:t>
            </a:r>
            <a:r>
              <a:rPr lang="es-MX" dirty="0"/>
              <a:t>. ITESCAM.</a:t>
            </a:r>
            <a:br>
              <a:rPr lang="es-MX" dirty="0"/>
            </a:br>
            <a:r>
              <a:rPr lang="es-MX" dirty="0">
                <a:hlinkClick r:id="rId4"/>
              </a:rPr>
              <a:t>https://www.itescam.edu.mx/portal/asignatura.php?clave_asig=SCD-1016&amp;carrera=ISIC-2010-224&amp;id_d=16</a:t>
            </a:r>
            <a:endParaRPr lang="es-MX" dirty="0"/>
          </a:p>
          <a:p>
            <a:pPr marL="0" indent="0">
              <a:buNone/>
            </a:pPr>
            <a:r>
              <a:rPr lang="es-MX"/>
              <a:t>JFlex</a:t>
            </a:r>
            <a:r>
              <a:rPr lang="es-MX" dirty="0"/>
              <a:t> Team. (s. f.). </a:t>
            </a:r>
            <a:r>
              <a:rPr lang="es-MX" i="1" dirty="0" err="1"/>
              <a:t>JFlex</a:t>
            </a:r>
            <a:r>
              <a:rPr lang="es-MX" i="1" dirty="0"/>
              <a:t> </a:t>
            </a:r>
            <a:r>
              <a:rPr lang="es-MX" i="1" dirty="0" err="1"/>
              <a:t>user’s</a:t>
            </a:r>
            <a:r>
              <a:rPr lang="es-MX" i="1" dirty="0"/>
              <a:t> manual</a:t>
            </a:r>
            <a:r>
              <a:rPr lang="es-MX" dirty="0"/>
              <a:t>.</a:t>
            </a:r>
            <a:br>
              <a:rPr lang="es-MX" dirty="0"/>
            </a:br>
            <a:r>
              <a:rPr lang="es-MX" dirty="0">
                <a:hlinkClick r:id="rId5"/>
              </a:rPr>
              <a:t>https://jflex.de/manual.html</a:t>
            </a:r>
            <a:endParaRPr lang="es-MX" dirty="0"/>
          </a:p>
          <a:p>
            <a:pPr marL="0" indent="0">
              <a:buNone/>
            </a:pPr>
            <a:r>
              <a:rPr lang="es-MX" dirty="0" err="1"/>
              <a:t>JetBrains</a:t>
            </a:r>
            <a:r>
              <a:rPr lang="es-MX" dirty="0"/>
              <a:t>. (s. f.). </a:t>
            </a:r>
            <a:r>
              <a:rPr lang="es-MX" i="1" dirty="0"/>
              <a:t>IntelliJ IDEA </a:t>
            </a:r>
            <a:r>
              <a:rPr lang="es-MX" i="1" dirty="0" err="1"/>
              <a:t>Documentation</a:t>
            </a:r>
            <a:r>
              <a:rPr lang="es-MX" dirty="0"/>
              <a:t>. </a:t>
            </a:r>
            <a:r>
              <a:rPr lang="es-MX" dirty="0" err="1"/>
              <a:t>JetBrains</a:t>
            </a:r>
            <a:r>
              <a:rPr lang="es-MX" dirty="0"/>
              <a:t>.</a:t>
            </a:r>
          </a:p>
        </p:txBody>
      </p:sp>
    </p:spTree>
    <p:extLst>
      <p:ext uri="{BB962C8B-B14F-4D97-AF65-F5344CB8AC3E}">
        <p14:creationId xmlns:p14="http://schemas.microsoft.com/office/powerpoint/2010/main" val="3712672589"/>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5707</TotalTime>
  <Words>1322</Words>
  <Application>Microsoft Office PowerPoint</Application>
  <PresentationFormat>Panorámica</PresentationFormat>
  <Paragraphs>84</Paragraphs>
  <Slides>19</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19</vt:i4>
      </vt:variant>
    </vt:vector>
  </HeadingPairs>
  <TitlesOfParts>
    <vt:vector size="24" baseType="lpstr">
      <vt:lpstr>Arial</vt:lpstr>
      <vt:lpstr>Calibri</vt:lpstr>
      <vt:lpstr>Calibri Light</vt:lpstr>
      <vt:lpstr>Wingdings</vt:lpstr>
      <vt:lpstr>Tema de Office</vt:lpstr>
      <vt:lpstr>Presentación de PowerPoint</vt:lpstr>
      <vt:lpstr>Presentación de PowerPoint</vt:lpstr>
      <vt:lpstr>Presentación de PowerPoint</vt:lpstr>
      <vt:lpstr>justificación</vt:lpstr>
      <vt:lpstr>Tema 2 Generacion de Codigo Intermedio</vt:lpstr>
      <vt:lpstr>Ejercicio 1. Notaciones: conversión de infija a postfija</vt:lpstr>
      <vt:lpstr>Ejercicio 2. Notaciones: conversión de infija a prefija</vt:lpstr>
      <vt:lpstr>Ejercicio 3. Notaciones: representación en las tres notaciones</vt:lpstr>
      <vt:lpstr>Explicación de las pruebas- Notaciones</vt:lpstr>
      <vt:lpstr>Ejercicio 1 Representaciones: expresión con multiplicación y suma</vt:lpstr>
      <vt:lpstr>Ejercicio 2 Representaciones: expresión con paréntesis</vt:lpstr>
      <vt:lpstr>Ejercicio 3 Representaciones: expresión con varias operaciones</vt:lpstr>
      <vt:lpstr>Explicación de las pruebas- Representaciones</vt:lpstr>
      <vt:lpstr>Ejercicio 1. Generación de código intermedio: asignación con multiplicación y suma</vt:lpstr>
      <vt:lpstr>Ejercicio 2. Generación de código intermedio: expresión con paréntesis</vt:lpstr>
      <vt:lpstr>Ejercicio 3. Generación de código intermedio: expresión con varias operaciones</vt:lpstr>
      <vt:lpstr>Explicación de las pruebas- Generación de código intermedio</vt:lpstr>
      <vt:lpstr>Presentación de PowerPoint</vt:lpstr>
      <vt:lpstr>FuenteS de imformacion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rafael aquino villanueva</dc:creator>
  <cp:lastModifiedBy>rafael aquino villanueva</cp:lastModifiedBy>
  <cp:revision>52</cp:revision>
  <dcterms:created xsi:type="dcterms:W3CDTF">2026-02-14T13:39:49Z</dcterms:created>
  <dcterms:modified xsi:type="dcterms:W3CDTF">2026-09-20T14:38:25Z</dcterms:modified>
</cp:coreProperties>
</file>