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63" r:id="rId3"/>
    <p:sldId id="258" r:id="rId4"/>
    <p:sldId id="303" r:id="rId5"/>
    <p:sldId id="277" r:id="rId6"/>
    <p:sldId id="304" r:id="rId7"/>
    <p:sldId id="305" r:id="rId8"/>
    <p:sldId id="306" r:id="rId9"/>
    <p:sldId id="307" r:id="rId10"/>
    <p:sldId id="332" r:id="rId11"/>
    <p:sldId id="325" r:id="rId12"/>
    <p:sldId id="326" r:id="rId13"/>
    <p:sldId id="327" r:id="rId14"/>
    <p:sldId id="328" r:id="rId15"/>
    <p:sldId id="333" r:id="rId16"/>
    <p:sldId id="329" r:id="rId17"/>
    <p:sldId id="330" r:id="rId18"/>
    <p:sldId id="331" r:id="rId19"/>
    <p:sldId id="334" r:id="rId20"/>
    <p:sldId id="336" r:id="rId21"/>
    <p:sldId id="309" r:id="rId22"/>
    <p:sldId id="337" r:id="rId23"/>
    <p:sldId id="338" r:id="rId24"/>
    <p:sldId id="340" r:id="rId25"/>
    <p:sldId id="342" r:id="rId26"/>
    <p:sldId id="341" r:id="rId27"/>
    <p:sldId id="343" r:id="rId28"/>
    <p:sldId id="344" r:id="rId29"/>
    <p:sldId id="362" r:id="rId30"/>
    <p:sldId id="345" r:id="rId31"/>
    <p:sldId id="346" r:id="rId32"/>
    <p:sldId id="347" r:id="rId33"/>
    <p:sldId id="348" r:id="rId34"/>
    <p:sldId id="350" r:id="rId35"/>
    <p:sldId id="353" r:id="rId36"/>
    <p:sldId id="351" r:id="rId37"/>
    <p:sldId id="352" r:id="rId38"/>
    <p:sldId id="355" r:id="rId39"/>
    <p:sldId id="361" r:id="rId40"/>
    <p:sldId id="360" r:id="rId41"/>
    <p:sldId id="357" r:id="rId42"/>
    <p:sldId id="358" r:id="rId43"/>
    <p:sldId id="356" r:id="rId44"/>
    <p:sldId id="359" r:id="rId45"/>
    <p:sldId id="260" r:id="rId46"/>
    <p:sldId id="363" r:id="rId4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Estilo claro 3 - Acento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0" d="100"/>
          <a:sy n="50" d="100"/>
        </p:scale>
        <p:origin x="922" y="2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30/08/2026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30/08/2026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youtube.com/watch?v=R6znBEekUVA" TargetMode="External"/><Relationship Id="rId2" Type="http://schemas.openxmlformats.org/officeDocument/2006/relationships/hyperlink" Target="https://github.com/rafaelrav8770/LYAll.git" TargetMode="External"/><Relationship Id="rId1" Type="http://schemas.openxmlformats.org/officeDocument/2006/relationships/slideLayout" Target="../slideLayouts/slideLayout2.xml"/><Relationship Id="rId5" Type="http://schemas.openxmlformats.org/officeDocument/2006/relationships/hyperlink" Target="https://jflex.de/manual.html?utm_source=chatgpt.com" TargetMode="External"/><Relationship Id="rId4" Type="http://schemas.openxmlformats.org/officeDocument/2006/relationships/hyperlink" Target="https://www.youtube.com/watch?v=5mIRrn2yEe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156920"/>
          </a:xfrm>
          <a:prstGeom prst="rect">
            <a:avLst/>
          </a:prstGeom>
          <a:noFill/>
        </p:spPr>
        <p:txBody>
          <a:bodyPr wrap="square">
            <a:spAutoFit/>
          </a:bodyPr>
          <a:lstStyle/>
          <a:p>
            <a:pPr algn="ctr">
              <a:lnSpc>
                <a:spcPct val="100000"/>
              </a:lnSpc>
              <a:spcAft>
                <a:spcPts val="800"/>
              </a:spcAft>
              <a:buNone/>
            </a:pPr>
            <a:r>
              <a:rPr lang="es-MX"/>
              <a:t>Lenguajes y Autómatas II</a:t>
            </a:r>
          </a:p>
          <a:p>
            <a:pPr algn="ctr">
              <a:lnSpc>
                <a:spcPct val="100000"/>
              </a:lnSpc>
              <a:spcAft>
                <a:spcPts val="800"/>
              </a:spcAft>
              <a:buNone/>
            </a:pPr>
            <a:r>
              <a:rPr lang="en-US" sz="1800" b="1" kern="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a:t>
            </a:r>
            <a:r>
              <a:rPr lang="es-MX" sz="2000" b="1" kern="0" dirty="0">
                <a:latin typeface="Arial" panose="020B0604020202020204" pitchFamily="34" charset="0"/>
                <a:ea typeface="Arial" panose="020B0604020202020204" pitchFamily="34" charset="0"/>
                <a:cs typeface="Arial" panose="020B0604020202020204" pitchFamily="34" charset="0"/>
              </a:rPr>
              <a:t>1</a:t>
            </a:r>
            <a:r>
              <a:rPr lang="es-MX" sz="2000" b="1" kern="0" dirty="0">
                <a:effectLst/>
                <a:latin typeface="Arial" panose="020B0604020202020204" pitchFamily="34" charset="0"/>
                <a:ea typeface="Arial" panose="020B0604020202020204" pitchFamily="34" charset="0"/>
                <a:cs typeface="Arial" panose="020B0604020202020204" pitchFamily="34" charset="0"/>
              </a:rPr>
              <a:t>.3 –</a:t>
            </a:r>
            <a:r>
              <a:rPr lang="es-MX" sz="2000" b="1" kern="0" dirty="0">
                <a:latin typeface="Arial" panose="020B0604020202020204" pitchFamily="34" charset="0"/>
                <a:ea typeface="Arial" panose="020B0604020202020204" pitchFamily="34" charset="0"/>
                <a:cs typeface="Arial" panose="020B0604020202020204" pitchFamily="34" charset="0"/>
              </a:rPr>
              <a:t>BANCO DE EJERCICIOS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833051900"/>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SEPTIMO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23</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a:t>
            </a:r>
            <a:r>
              <a:rPr lang="es-MX" sz="2000" b="1" kern="0" dirty="0">
                <a:latin typeface="Arial" panose="020B0604020202020204" pitchFamily="34" charset="0"/>
                <a:ea typeface="Times New Roman" panose="02020603050405020304" pitchFamily="18" charset="0"/>
                <a:cs typeface="Arial" panose="020B0604020202020204" pitchFamily="34" charset="0"/>
              </a:rPr>
              <a:t>AGOSTO</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4400" b="1" kern="0" dirty="0">
                <a:solidFill>
                  <a:schemeClr val="accent1"/>
                </a:solidFill>
                <a:latin typeface="+mj-lt"/>
                <a:cs typeface="Arial" panose="020B0604020202020204" pitchFamily="34" charset="0"/>
              </a:rPr>
              <a:t>Introducción</a:t>
            </a:r>
          </a:p>
          <a:p>
            <a:pPr marL="0" indent="0">
              <a:buNone/>
            </a:pPr>
            <a:endParaRPr lang="es-MX" dirty="0"/>
          </a:p>
          <a:p>
            <a:pPr marL="0" indent="0" algn="just">
              <a:buNone/>
            </a:pPr>
            <a:r>
              <a:rPr lang="es-MX" dirty="0"/>
              <a:t>El análisis semántico es una etapa del compilador encargada de verificar que las instrucciones tengan un significado válido, comprobando aspectos como tipos de datos, declaraciones, asignaciones, uso de variables y errores semánticos.</a:t>
            </a:r>
          </a:p>
          <a:p>
            <a:pPr marL="0" indent="0" algn="just">
              <a:buNone/>
            </a:pPr>
            <a:r>
              <a:rPr lang="es-MX" dirty="0"/>
              <a:t>En este banco de ejercicios se realizaron diferentes pruebas utilizando los módulos desarrollados en el compilador para comprobar el funcionamiento de los principales apartados correspondientes al  Análisis semántico.</a:t>
            </a:r>
          </a:p>
          <a:p>
            <a:pPr marL="0" indent="0" algn="just">
              <a:buNone/>
            </a:pPr>
            <a:endParaRPr lang="es-MX" dirty="0"/>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p:txBody>
          <a:bodyPr/>
          <a:lstStyle/>
          <a:p>
            <a:pPr marL="0" indent="0">
              <a:buNone/>
            </a:pPr>
            <a:r>
              <a:rPr lang="es-MX" sz="4400" b="1" kern="0" dirty="0">
                <a:solidFill>
                  <a:schemeClr val="accent1"/>
                </a:solidFill>
                <a:latin typeface="+mj-lt"/>
                <a:cs typeface="Arial" panose="020B0604020202020204" pitchFamily="34" charset="0"/>
              </a:rPr>
              <a:t>Objetivo</a:t>
            </a:r>
          </a:p>
          <a:p>
            <a:pPr marL="0" indent="0">
              <a:buNone/>
            </a:pPr>
            <a:r>
              <a:rPr lang="es-MX" dirty="0"/>
              <a:t> </a:t>
            </a:r>
          </a:p>
          <a:p>
            <a:pPr marL="0" indent="0" algn="just">
              <a:buNone/>
            </a:pPr>
            <a:r>
              <a:rPr lang="es-MX" dirty="0"/>
              <a:t>Comprobar mediante diferentes ejercicios el funcionamiento de los módulos desarrollados para el Tema 1: Análisis semántico, utilizando expresiones, variables y datos válidos e inválidos para observar la respuesta del compilador.</a:t>
            </a:r>
          </a:p>
          <a:p>
            <a:pPr marL="0" indent="0" algn="just">
              <a:buNone/>
            </a:pPr>
            <a:endParaRPr lang="es-MX" dirty="0"/>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D3867A-3E04-8632-141B-8C5FDD171C9C}"/>
              </a:ext>
            </a:extLst>
          </p:cNvPr>
          <p:cNvSpPr>
            <a:spLocks noGrp="1"/>
          </p:cNvSpPr>
          <p:nvPr>
            <p:ph type="title"/>
          </p:nvPr>
        </p:nvSpPr>
        <p:spPr/>
        <p:txBody>
          <a:bodyPr vert="horz" lIns="91440" tIns="45720" rIns="91440" bIns="45720" rtlCol="0" anchor="ctr">
            <a:normAutofit/>
          </a:bodyPr>
          <a:lstStyle/>
          <a:p>
            <a:r>
              <a:rPr lang="es-MX" sz="4800" b="1" dirty="0">
                <a:solidFill>
                  <a:schemeClr val="accent1"/>
                </a:solidFill>
              </a:rPr>
              <a:t>justificación</a:t>
            </a:r>
          </a:p>
        </p:txBody>
      </p:sp>
      <p:sp>
        <p:nvSpPr>
          <p:cNvPr id="3" name="Marcador de contenido 2">
            <a:extLst>
              <a:ext uri="{FF2B5EF4-FFF2-40B4-BE49-F238E27FC236}">
                <a16:creationId xmlns:a16="http://schemas.microsoft.com/office/drawing/2014/main" id="{8CEA835B-7257-6BC0-9849-98A1416CE74C}"/>
              </a:ext>
            </a:extLst>
          </p:cNvPr>
          <p:cNvSpPr>
            <a:spLocks noGrp="1"/>
          </p:cNvSpPr>
          <p:nvPr>
            <p:ph idx="1"/>
          </p:nvPr>
        </p:nvSpPr>
        <p:spPr/>
        <p:txBody>
          <a:bodyPr>
            <a:normAutofit/>
          </a:bodyPr>
          <a:lstStyle/>
          <a:p>
            <a:pPr algn="just">
              <a:buFont typeface="Wingdings" panose="05000000000000000000" pitchFamily="2" charset="2"/>
              <a:buChar char="Ø"/>
            </a:pPr>
            <a:r>
              <a:rPr lang="es-MX" dirty="0"/>
              <a:t>La realización de estas pruebas permite relacionar los conceptos teóricos del análisis semántico con su implementación dentro del compilador. Mediante los ejercicios se puede verificar el comportamiento de los árboles de expresiones, acciones semánticas, comprobación de tipos, pila semántica, esquema de traducción, tablas de símbolos y direcciones, así como el manejo de errores semánticos.</a:t>
            </a:r>
          </a:p>
        </p:txBody>
      </p:sp>
    </p:spTree>
    <p:extLst>
      <p:ext uri="{BB962C8B-B14F-4D97-AF65-F5344CB8AC3E}">
        <p14:creationId xmlns:p14="http://schemas.microsoft.com/office/powerpoint/2010/main" val="352723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1DE5D6-4298-34BA-DF41-540FC843FD09}"/>
              </a:ext>
            </a:extLst>
          </p:cNvPr>
          <p:cNvSpPr>
            <a:spLocks noGrp="1"/>
          </p:cNvSpPr>
          <p:nvPr>
            <p:ph type="title"/>
          </p:nvPr>
        </p:nvSpPr>
        <p:spPr/>
        <p:txBody>
          <a:bodyPr vert="horz" lIns="91440" tIns="45720" rIns="91440" bIns="45720" rtlCol="0" anchor="ctr">
            <a:normAutofit/>
          </a:bodyPr>
          <a:lstStyle/>
          <a:p>
            <a:r>
              <a:rPr lang="es-MX" sz="4800" b="1" dirty="0">
                <a:solidFill>
                  <a:schemeClr val="accent1"/>
                </a:solidFill>
              </a:rPr>
              <a:t>Tema 1. Análisis semántico</a:t>
            </a:r>
          </a:p>
        </p:txBody>
      </p:sp>
      <p:pic>
        <p:nvPicPr>
          <p:cNvPr id="4" name="Imagen 3">
            <a:extLst>
              <a:ext uri="{FF2B5EF4-FFF2-40B4-BE49-F238E27FC236}">
                <a16:creationId xmlns:a16="http://schemas.microsoft.com/office/drawing/2014/main" id="{1F5122B7-14E5-2315-4921-910B2D567A9A}"/>
              </a:ext>
            </a:extLst>
          </p:cNvPr>
          <p:cNvPicPr>
            <a:picLocks noChangeAspect="1"/>
          </p:cNvPicPr>
          <p:nvPr/>
        </p:nvPicPr>
        <p:blipFill>
          <a:blip r:embed="rId2"/>
          <a:stretch>
            <a:fillRect/>
          </a:stretch>
        </p:blipFill>
        <p:spPr>
          <a:xfrm>
            <a:off x="3343275" y="2134790"/>
            <a:ext cx="7448550" cy="4189809"/>
          </a:xfrm>
          <a:prstGeom prst="rect">
            <a:avLst/>
          </a:prstGeom>
        </p:spPr>
      </p:pic>
    </p:spTree>
    <p:extLst>
      <p:ext uri="{BB962C8B-B14F-4D97-AF65-F5344CB8AC3E}">
        <p14:creationId xmlns:p14="http://schemas.microsoft.com/office/powerpoint/2010/main" val="213364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F4A69-A0B9-BD2D-0748-309BE954C4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BC5F6F2-63CA-07E4-AC19-AC03422486D5}"/>
              </a:ext>
            </a:extLst>
          </p:cNvPr>
          <p:cNvSpPr>
            <a:spLocks noGrp="1"/>
          </p:cNvSpPr>
          <p:nvPr>
            <p:ph type="title"/>
          </p:nvPr>
        </p:nvSpPr>
        <p:spPr/>
        <p:txBody>
          <a:bodyPr>
            <a:normAutofit/>
          </a:bodyPr>
          <a:lstStyle/>
          <a:p>
            <a:pPr>
              <a:spcBef>
                <a:spcPts val="1000"/>
              </a:spcBef>
            </a:pPr>
            <a:r>
              <a:rPr lang="es-MX" b="1" dirty="0">
                <a:solidFill>
                  <a:schemeClr val="accent1"/>
                </a:solidFill>
              </a:rPr>
              <a:t>Ejercicio 1 de arboles de expresiones: prioridad de operadores</a:t>
            </a:r>
          </a:p>
        </p:txBody>
      </p:sp>
      <p:pic>
        <p:nvPicPr>
          <p:cNvPr id="4" name="Imagen 3">
            <a:extLst>
              <a:ext uri="{FF2B5EF4-FFF2-40B4-BE49-F238E27FC236}">
                <a16:creationId xmlns:a16="http://schemas.microsoft.com/office/drawing/2014/main" id="{1F1674C8-D789-A944-F6D5-D3C73C10BC16}"/>
              </a:ext>
            </a:extLst>
          </p:cNvPr>
          <p:cNvPicPr>
            <a:picLocks noChangeAspect="1"/>
          </p:cNvPicPr>
          <p:nvPr/>
        </p:nvPicPr>
        <p:blipFill>
          <a:blip r:embed="rId2"/>
          <a:stretch>
            <a:fillRect/>
          </a:stretch>
        </p:blipFill>
        <p:spPr>
          <a:xfrm>
            <a:off x="6096000" y="2397322"/>
            <a:ext cx="5762625" cy="3241477"/>
          </a:xfrm>
          <a:prstGeom prst="rect">
            <a:avLst/>
          </a:prstGeom>
        </p:spPr>
      </p:pic>
      <p:sp>
        <p:nvSpPr>
          <p:cNvPr id="6" name="CuadroTexto 5">
            <a:extLst>
              <a:ext uri="{FF2B5EF4-FFF2-40B4-BE49-F238E27FC236}">
                <a16:creationId xmlns:a16="http://schemas.microsoft.com/office/drawing/2014/main" id="{C030AC4E-0C33-8FDB-0ACA-2C0167136161}"/>
              </a:ext>
            </a:extLst>
          </p:cNvPr>
          <p:cNvSpPr txBox="1"/>
          <p:nvPr/>
        </p:nvSpPr>
        <p:spPr>
          <a:xfrm>
            <a:off x="1304924" y="2577197"/>
            <a:ext cx="4276725" cy="2246769"/>
          </a:xfrm>
          <a:prstGeom prst="rect">
            <a:avLst/>
          </a:prstGeom>
          <a:noFill/>
        </p:spPr>
        <p:txBody>
          <a:bodyPr wrap="square">
            <a:spAutoFit/>
          </a:bodyPr>
          <a:lstStyle/>
          <a:p>
            <a:pPr algn="just"/>
            <a:r>
              <a:rPr lang="es-MX" sz="2800" dirty="0"/>
              <a:t>El compilador respetó la prioridad de los operadores, realizando primero 	la multiplicación	 y posteriormente la suma.</a:t>
            </a:r>
          </a:p>
        </p:txBody>
      </p:sp>
    </p:spTree>
    <p:extLst>
      <p:ext uri="{BB962C8B-B14F-4D97-AF65-F5344CB8AC3E}">
        <p14:creationId xmlns:p14="http://schemas.microsoft.com/office/powerpoint/2010/main" val="1118749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E2301-B292-3301-68AB-0AE13E6FCDA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77A249-9EE9-E1FC-0B84-0F0BA2CF5322}"/>
              </a:ext>
            </a:extLst>
          </p:cNvPr>
          <p:cNvSpPr>
            <a:spLocks noGrp="1"/>
          </p:cNvSpPr>
          <p:nvPr>
            <p:ph type="title"/>
          </p:nvPr>
        </p:nvSpPr>
        <p:spPr/>
        <p:txBody>
          <a:bodyPr vert="horz" lIns="91440" tIns="45720" rIns="91440" bIns="45720" rtlCol="0" anchor="ctr">
            <a:normAutofit/>
          </a:bodyPr>
          <a:lstStyle/>
          <a:p>
            <a:pPr>
              <a:spcBef>
                <a:spcPts val="1000"/>
              </a:spcBef>
            </a:pPr>
            <a:r>
              <a:rPr lang="es-MX" b="1" dirty="0">
                <a:solidFill>
                  <a:schemeClr val="accent1"/>
                </a:solidFill>
              </a:rPr>
              <a:t>Ejercicio 2. Árboles de expresiones: uso de paréntesis</a:t>
            </a:r>
          </a:p>
        </p:txBody>
      </p:sp>
      <p:pic>
        <p:nvPicPr>
          <p:cNvPr id="4" name="Imagen 3">
            <a:extLst>
              <a:ext uri="{FF2B5EF4-FFF2-40B4-BE49-F238E27FC236}">
                <a16:creationId xmlns:a16="http://schemas.microsoft.com/office/drawing/2014/main" id="{EB778D27-FF29-3F8C-13B7-4668F31A1BE8}"/>
              </a:ext>
            </a:extLst>
          </p:cNvPr>
          <p:cNvPicPr>
            <a:picLocks noChangeAspect="1"/>
          </p:cNvPicPr>
          <p:nvPr/>
        </p:nvPicPr>
        <p:blipFill>
          <a:blip r:embed="rId2"/>
          <a:stretch>
            <a:fillRect/>
          </a:stretch>
        </p:blipFill>
        <p:spPr>
          <a:xfrm>
            <a:off x="5865282" y="2092324"/>
            <a:ext cx="5774267" cy="3248025"/>
          </a:xfrm>
          <a:prstGeom prst="rect">
            <a:avLst/>
          </a:prstGeom>
        </p:spPr>
      </p:pic>
      <p:sp>
        <p:nvSpPr>
          <p:cNvPr id="6" name="CuadroTexto 5">
            <a:extLst>
              <a:ext uri="{FF2B5EF4-FFF2-40B4-BE49-F238E27FC236}">
                <a16:creationId xmlns:a16="http://schemas.microsoft.com/office/drawing/2014/main" id="{F2690928-1E1F-55F8-A4C0-FDB763316D01}"/>
              </a:ext>
            </a:extLst>
          </p:cNvPr>
          <p:cNvSpPr txBox="1"/>
          <p:nvPr/>
        </p:nvSpPr>
        <p:spPr>
          <a:xfrm>
            <a:off x="1028700" y="2782669"/>
            <a:ext cx="3676650" cy="1200329"/>
          </a:xfrm>
          <a:prstGeom prst="rect">
            <a:avLst/>
          </a:prstGeom>
          <a:noFill/>
        </p:spPr>
        <p:txBody>
          <a:bodyPr wrap="square">
            <a:spAutoFit/>
          </a:bodyPr>
          <a:lstStyle>
            <a:defPPr>
              <a:defRPr lang="es-MX"/>
            </a:defPPr>
            <a:lvl1pPr algn="just">
              <a:defRPr sz="2800"/>
            </a:lvl1pPr>
          </a:lstStyle>
          <a:p>
            <a:r>
              <a:rPr lang="es-MX" dirty="0"/>
              <a:t>El compilador reconoció los paréntesis y realizó primero la suma a + b, antes de efectuar la multiplicación por c.</a:t>
            </a:r>
          </a:p>
        </p:txBody>
      </p:sp>
    </p:spTree>
    <p:extLst>
      <p:ext uri="{BB962C8B-B14F-4D97-AF65-F5344CB8AC3E}">
        <p14:creationId xmlns:p14="http://schemas.microsoft.com/office/powerpoint/2010/main" val="1598735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C6F96-F333-03CD-34F2-D4D9E6A3B4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972158-C8E6-7EEF-B719-F17C1E21872B}"/>
              </a:ext>
            </a:extLst>
          </p:cNvPr>
          <p:cNvSpPr>
            <a:spLocks noGrp="1"/>
          </p:cNvSpPr>
          <p:nvPr>
            <p:ph type="title"/>
          </p:nvPr>
        </p:nvSpPr>
        <p:spPr/>
        <p:txBody>
          <a:bodyPr vert="horz" lIns="91440" tIns="45720" rIns="91440" bIns="45720" rtlCol="0" anchor="ctr">
            <a:normAutofit/>
          </a:bodyPr>
          <a:lstStyle/>
          <a:p>
            <a:pPr>
              <a:spcBef>
                <a:spcPts val="1000"/>
              </a:spcBef>
            </a:pPr>
            <a:r>
              <a:rPr lang="es-MX" b="1" dirty="0">
                <a:solidFill>
                  <a:schemeClr val="accent1"/>
                </a:solidFill>
              </a:rPr>
              <a:t>Ejercicio 3 Árboles de expresiones: varios operadores</a:t>
            </a:r>
          </a:p>
        </p:txBody>
      </p:sp>
      <p:pic>
        <p:nvPicPr>
          <p:cNvPr id="4" name="Imagen 3">
            <a:extLst>
              <a:ext uri="{FF2B5EF4-FFF2-40B4-BE49-F238E27FC236}">
                <a16:creationId xmlns:a16="http://schemas.microsoft.com/office/drawing/2014/main" id="{CC75E0A0-E7CF-C2D3-35B2-356097107F15}"/>
              </a:ext>
            </a:extLst>
          </p:cNvPr>
          <p:cNvPicPr>
            <a:picLocks noChangeAspect="1"/>
          </p:cNvPicPr>
          <p:nvPr/>
        </p:nvPicPr>
        <p:blipFill>
          <a:blip r:embed="rId2"/>
          <a:stretch>
            <a:fillRect/>
          </a:stretch>
        </p:blipFill>
        <p:spPr>
          <a:xfrm>
            <a:off x="5803900" y="1933575"/>
            <a:ext cx="5892800" cy="3314700"/>
          </a:xfrm>
          <a:prstGeom prst="rect">
            <a:avLst/>
          </a:prstGeom>
        </p:spPr>
      </p:pic>
      <p:sp>
        <p:nvSpPr>
          <p:cNvPr id="6" name="CuadroTexto 5">
            <a:extLst>
              <a:ext uri="{FF2B5EF4-FFF2-40B4-BE49-F238E27FC236}">
                <a16:creationId xmlns:a16="http://schemas.microsoft.com/office/drawing/2014/main" id="{9C9ECF53-C5CE-4D4C-9826-EAB924E2476F}"/>
              </a:ext>
            </a:extLst>
          </p:cNvPr>
          <p:cNvSpPr txBox="1"/>
          <p:nvPr/>
        </p:nvSpPr>
        <p:spPr>
          <a:xfrm>
            <a:off x="1143000" y="2724835"/>
            <a:ext cx="3876675" cy="1354217"/>
          </a:xfrm>
          <a:prstGeom prst="rect">
            <a:avLst/>
          </a:prstGeom>
          <a:noFill/>
        </p:spPr>
        <p:txBody>
          <a:bodyPr wrap="square">
            <a:spAutoFit/>
          </a:bodyPr>
          <a:lstStyle>
            <a:defPPr>
              <a:defRPr lang="es-MX"/>
            </a:defPPr>
            <a:lvl1pPr algn="just">
              <a:defRPr sz="2800"/>
            </a:lvl1pPr>
          </a:lstStyle>
          <a:p>
            <a:r>
              <a:rPr lang="es-MX" dirty="0"/>
              <a:t>El compilador organizó la expresión respetando la prioridad de la división y el orden de las operaciones de suma y resta.</a:t>
            </a:r>
          </a:p>
        </p:txBody>
      </p:sp>
    </p:spTree>
    <p:extLst>
      <p:ext uri="{BB962C8B-B14F-4D97-AF65-F5344CB8AC3E}">
        <p14:creationId xmlns:p14="http://schemas.microsoft.com/office/powerpoint/2010/main" val="2291693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76BFF-6A95-2F36-96CA-B320849E30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49F8639-4C3D-0BC7-63F4-207551C397B4}"/>
              </a:ext>
            </a:extLst>
          </p:cNvPr>
          <p:cNvSpPr>
            <a:spLocks noGrp="1"/>
          </p:cNvSpPr>
          <p:nvPr>
            <p:ph type="title"/>
          </p:nvPr>
        </p:nvSpPr>
        <p:spPr/>
        <p:txBody>
          <a:bodyPr vert="horz" lIns="91440" tIns="45720" rIns="91440" bIns="45720" rtlCol="0" anchor="ctr">
            <a:normAutofit/>
          </a:bodyPr>
          <a:lstStyle/>
          <a:p>
            <a:pPr>
              <a:spcBef>
                <a:spcPts val="1000"/>
              </a:spcBef>
            </a:pPr>
            <a:r>
              <a:rPr lang="es-MX" b="1" dirty="0">
                <a:solidFill>
                  <a:schemeClr val="accent1"/>
                </a:solidFill>
              </a:rPr>
              <a:t>explicación de las pruebas</a:t>
            </a:r>
          </a:p>
        </p:txBody>
      </p:sp>
      <p:sp>
        <p:nvSpPr>
          <p:cNvPr id="4" name="CuadroTexto 3">
            <a:extLst>
              <a:ext uri="{FF2B5EF4-FFF2-40B4-BE49-F238E27FC236}">
                <a16:creationId xmlns:a16="http://schemas.microsoft.com/office/drawing/2014/main" id="{A1C31C36-8373-4C13-659F-AD4E049F1125}"/>
              </a:ext>
            </a:extLst>
          </p:cNvPr>
          <p:cNvSpPr txBox="1"/>
          <p:nvPr/>
        </p:nvSpPr>
        <p:spPr>
          <a:xfrm>
            <a:off x="771524" y="1583888"/>
            <a:ext cx="6372226" cy="4832092"/>
          </a:xfrm>
          <a:prstGeom prst="rect">
            <a:avLst/>
          </a:prstGeom>
          <a:noFill/>
        </p:spPr>
        <p:txBody>
          <a:bodyPr wrap="square">
            <a:spAutoFit/>
          </a:bodyPr>
          <a:lstStyle>
            <a:defPPr>
              <a:defRPr lang="es-MX"/>
            </a:defPPr>
            <a:lvl1pPr algn="just">
              <a:defRPr sz="2800"/>
            </a:lvl1pPr>
          </a:lstStyle>
          <a:p>
            <a:pPr algn="l"/>
            <a:r>
              <a:rPr lang="es-MX" dirty="0"/>
              <a:t>¿Qué se comprobó?</a:t>
            </a:r>
            <a:br>
              <a:rPr lang="es-MX" dirty="0"/>
            </a:br>
            <a:r>
              <a:rPr lang="es-MX" dirty="0"/>
              <a:t>Las pruebas permitieron observar cómo el compilador organiza una expresión de acuerdo con la prioridad de los operadores y el uso de paréntesis.</a:t>
            </a:r>
          </a:p>
          <a:p>
            <a:r>
              <a:rPr lang="es-MX" dirty="0"/>
              <a:t>¿Se pueden utilizar valores numéricos?</a:t>
            </a:r>
            <a:br>
              <a:rPr lang="es-MX" dirty="0"/>
            </a:br>
            <a:r>
              <a:rPr lang="es-MX" dirty="0"/>
              <a:t>Sí. Además de variables, pueden utilizarse números para comprobar el funcionamiento del árbol.</a:t>
            </a:r>
          </a:p>
          <a:p>
            <a:r>
              <a:rPr lang="es-MX" dirty="0"/>
              <a:t>Ejemplo:</a:t>
            </a:r>
          </a:p>
          <a:p>
            <a:r>
              <a:rPr lang="es-MX" dirty="0"/>
              <a:t>5 + 3 * 2</a:t>
            </a:r>
          </a:p>
        </p:txBody>
      </p:sp>
      <p:pic>
        <p:nvPicPr>
          <p:cNvPr id="6" name="Imagen 5">
            <a:extLst>
              <a:ext uri="{FF2B5EF4-FFF2-40B4-BE49-F238E27FC236}">
                <a16:creationId xmlns:a16="http://schemas.microsoft.com/office/drawing/2014/main" id="{F69ED504-D81F-8701-6DD7-CA227E824D7D}"/>
              </a:ext>
            </a:extLst>
          </p:cNvPr>
          <p:cNvPicPr>
            <a:picLocks noChangeAspect="1"/>
          </p:cNvPicPr>
          <p:nvPr/>
        </p:nvPicPr>
        <p:blipFill>
          <a:blip r:embed="rId2"/>
          <a:stretch>
            <a:fillRect/>
          </a:stretch>
        </p:blipFill>
        <p:spPr>
          <a:xfrm>
            <a:off x="7400925" y="1999059"/>
            <a:ext cx="4143374" cy="2330648"/>
          </a:xfrm>
          <a:prstGeom prst="rect">
            <a:avLst/>
          </a:prstGeom>
        </p:spPr>
      </p:pic>
    </p:spTree>
    <p:extLst>
      <p:ext uri="{BB962C8B-B14F-4D97-AF65-F5344CB8AC3E}">
        <p14:creationId xmlns:p14="http://schemas.microsoft.com/office/powerpoint/2010/main" val="3691059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1381E-0FA5-789C-285B-EFA2CDF947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EB962E-6885-7CA1-95ED-12C6E9BA32F3}"/>
              </a:ext>
            </a:extLst>
          </p:cNvPr>
          <p:cNvSpPr>
            <a:spLocks noGrp="1"/>
          </p:cNvSpPr>
          <p:nvPr>
            <p:ph type="title"/>
          </p:nvPr>
        </p:nvSpPr>
        <p:spPr/>
        <p:txBody>
          <a:bodyPr vert="horz" lIns="91440" tIns="45720" rIns="91440" bIns="45720" rtlCol="0" anchor="ctr">
            <a:normAutofit/>
          </a:bodyPr>
          <a:lstStyle/>
          <a:p>
            <a:pPr>
              <a:spcBef>
                <a:spcPts val="1000"/>
              </a:spcBef>
            </a:pPr>
            <a:r>
              <a:rPr lang="es-MX" b="1" dirty="0">
                <a:solidFill>
                  <a:schemeClr val="accent1"/>
                </a:solidFill>
              </a:rPr>
              <a:t>Tema 1 Acciones semánticas</a:t>
            </a:r>
          </a:p>
        </p:txBody>
      </p:sp>
      <p:pic>
        <p:nvPicPr>
          <p:cNvPr id="4" name="Imagen 3">
            <a:extLst>
              <a:ext uri="{FF2B5EF4-FFF2-40B4-BE49-F238E27FC236}">
                <a16:creationId xmlns:a16="http://schemas.microsoft.com/office/drawing/2014/main" id="{7B73A761-FFE1-D0AB-2E83-0215634524DC}"/>
              </a:ext>
            </a:extLst>
          </p:cNvPr>
          <p:cNvPicPr>
            <a:picLocks noChangeAspect="1"/>
          </p:cNvPicPr>
          <p:nvPr/>
        </p:nvPicPr>
        <p:blipFill>
          <a:blip r:embed="rId2"/>
          <a:stretch>
            <a:fillRect/>
          </a:stretch>
        </p:blipFill>
        <p:spPr>
          <a:xfrm>
            <a:off x="3343275" y="2134790"/>
            <a:ext cx="7448550" cy="4189809"/>
          </a:xfrm>
          <a:prstGeom prst="rect">
            <a:avLst/>
          </a:prstGeom>
        </p:spPr>
      </p:pic>
    </p:spTree>
    <p:extLst>
      <p:ext uri="{BB962C8B-B14F-4D97-AF65-F5344CB8AC3E}">
        <p14:creationId xmlns:p14="http://schemas.microsoft.com/office/powerpoint/2010/main" val="1919120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DC0ED-DF2D-4849-856E-5E788A91DF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DFAD98D-698E-8385-464D-9C57E134617B}"/>
              </a:ext>
            </a:extLst>
          </p:cNvPr>
          <p:cNvSpPr>
            <a:spLocks noGrp="1"/>
          </p:cNvSpPr>
          <p:nvPr>
            <p:ph type="title"/>
          </p:nvPr>
        </p:nvSpPr>
        <p:spPr/>
        <p:txBody>
          <a:bodyPr vert="horz" lIns="91440" tIns="45720" rIns="91440" bIns="45720" rtlCol="0" anchor="ctr">
            <a:normAutofit/>
          </a:bodyPr>
          <a:lstStyle/>
          <a:p>
            <a:pPr>
              <a:spcBef>
                <a:spcPts val="1000"/>
              </a:spcBef>
            </a:pPr>
            <a:r>
              <a:rPr lang="es-MX" b="1" dirty="0">
                <a:solidFill>
                  <a:schemeClr val="accent1"/>
                </a:solidFill>
              </a:rPr>
              <a:t>Ejercicio 1. Acciones semánticas: Declaración de una variable</a:t>
            </a:r>
          </a:p>
        </p:txBody>
      </p:sp>
      <p:sp>
        <p:nvSpPr>
          <p:cNvPr id="4" name="CuadroTexto 3">
            <a:extLst>
              <a:ext uri="{FF2B5EF4-FFF2-40B4-BE49-F238E27FC236}">
                <a16:creationId xmlns:a16="http://schemas.microsoft.com/office/drawing/2014/main" id="{CD7C46D0-2F9E-E7FD-A620-05D45EEA6216}"/>
              </a:ext>
            </a:extLst>
          </p:cNvPr>
          <p:cNvSpPr txBox="1"/>
          <p:nvPr/>
        </p:nvSpPr>
        <p:spPr>
          <a:xfrm>
            <a:off x="914400" y="2128361"/>
            <a:ext cx="3876675" cy="3970318"/>
          </a:xfrm>
          <a:prstGeom prst="rect">
            <a:avLst/>
          </a:prstGeom>
          <a:noFill/>
        </p:spPr>
        <p:txBody>
          <a:bodyPr wrap="square">
            <a:spAutoFit/>
          </a:bodyPr>
          <a:lstStyle>
            <a:defPPr>
              <a:defRPr lang="es-MX"/>
            </a:defPPr>
            <a:lvl1pPr>
              <a:defRPr sz="2800"/>
            </a:lvl1pPr>
          </a:lstStyle>
          <a:p>
            <a:r>
              <a:rPr lang="es-MX" b="1" dirty="0"/>
              <a:t>Prueba:</a:t>
            </a:r>
            <a:r>
              <a:rPr lang="es-MX" dirty="0"/>
              <a:t> instrucción </a:t>
            </a:r>
            <a:r>
              <a:rPr lang="es-MX" dirty="0" err="1"/>
              <a:t>int</a:t>
            </a:r>
            <a:r>
              <a:rPr lang="es-MX" dirty="0"/>
              <a:t> x;. </a:t>
            </a:r>
          </a:p>
          <a:p>
            <a:endParaRPr lang="es-MX" dirty="0"/>
          </a:p>
          <a:p>
            <a:r>
              <a:rPr lang="es-MX" dirty="0"/>
              <a:t>El compilador reconoció la declaración de la variable x como tipo </a:t>
            </a:r>
            <a:r>
              <a:rPr lang="es-MX" dirty="0" err="1"/>
              <a:t>int</a:t>
            </a:r>
            <a:r>
              <a:rPr lang="es-MX" dirty="0"/>
              <a:t> y verificó que la instrucción fuera semánticamente válida.</a:t>
            </a:r>
          </a:p>
        </p:txBody>
      </p:sp>
      <p:pic>
        <p:nvPicPr>
          <p:cNvPr id="5" name="Imagen 4">
            <a:extLst>
              <a:ext uri="{FF2B5EF4-FFF2-40B4-BE49-F238E27FC236}">
                <a16:creationId xmlns:a16="http://schemas.microsoft.com/office/drawing/2014/main" id="{3629014B-0AFA-45C8-EDE1-725408280E23}"/>
              </a:ext>
            </a:extLst>
          </p:cNvPr>
          <p:cNvPicPr>
            <a:picLocks noChangeAspect="1"/>
          </p:cNvPicPr>
          <p:nvPr/>
        </p:nvPicPr>
        <p:blipFill>
          <a:blip r:embed="rId2"/>
          <a:stretch>
            <a:fillRect/>
          </a:stretch>
        </p:blipFill>
        <p:spPr>
          <a:xfrm>
            <a:off x="5665304" y="1733315"/>
            <a:ext cx="6109251" cy="3436454"/>
          </a:xfrm>
          <a:prstGeom prst="rect">
            <a:avLst/>
          </a:prstGeom>
        </p:spPr>
      </p:pic>
    </p:spTree>
    <p:extLst>
      <p:ext uri="{BB962C8B-B14F-4D97-AF65-F5344CB8AC3E}">
        <p14:creationId xmlns:p14="http://schemas.microsoft.com/office/powerpoint/2010/main" val="1748481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3EA7B-D94D-F4E6-23C0-3C85DEDCED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6F874D-1D59-32A6-D682-FB35886A1147}"/>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Ejercicio 2. Acciones semánticas: Asignación compatible</a:t>
            </a:r>
          </a:p>
        </p:txBody>
      </p:sp>
      <p:sp>
        <p:nvSpPr>
          <p:cNvPr id="8" name="CuadroTexto 7">
            <a:extLst>
              <a:ext uri="{FF2B5EF4-FFF2-40B4-BE49-F238E27FC236}">
                <a16:creationId xmlns:a16="http://schemas.microsoft.com/office/drawing/2014/main" id="{871B1466-96D1-D60A-EEB9-13871B584DD8}"/>
              </a:ext>
            </a:extLst>
          </p:cNvPr>
          <p:cNvSpPr txBox="1"/>
          <p:nvPr/>
        </p:nvSpPr>
        <p:spPr>
          <a:xfrm>
            <a:off x="1009649" y="1833086"/>
            <a:ext cx="4479999" cy="4401205"/>
          </a:xfrm>
          <a:prstGeom prst="rect">
            <a:avLst/>
          </a:prstGeom>
          <a:noFill/>
        </p:spPr>
        <p:txBody>
          <a:bodyPr wrap="square">
            <a:spAutoFit/>
          </a:bodyPr>
          <a:lstStyle>
            <a:defPPr>
              <a:defRPr lang="es-MX"/>
            </a:defPPr>
            <a:lvl1pPr>
              <a:defRPr sz="2800" b="1"/>
            </a:lvl1pPr>
          </a:lstStyle>
          <a:p>
            <a:r>
              <a:rPr lang="es-MX" dirty="0"/>
              <a:t>prueba: </a:t>
            </a:r>
            <a:r>
              <a:rPr lang="es-MX" b="0" dirty="0"/>
              <a:t> ingresar </a:t>
            </a:r>
            <a:r>
              <a:rPr lang="es-MX" b="0" dirty="0" err="1"/>
              <a:t>int</a:t>
            </a:r>
            <a:r>
              <a:rPr lang="es-MX" b="0" dirty="0"/>
              <a:t> x; y después escribir x = 10;.</a:t>
            </a:r>
          </a:p>
          <a:p>
            <a:endParaRPr lang="es-MX" b="0" dirty="0"/>
          </a:p>
          <a:p>
            <a:r>
              <a:rPr lang="es-MX" b="0" dirty="0"/>
              <a:t>El compilador verificó que la variable x fue declarada como tipo </a:t>
            </a:r>
            <a:r>
              <a:rPr lang="es-MX" b="0" dirty="0" err="1"/>
              <a:t>int</a:t>
            </a:r>
            <a:r>
              <a:rPr lang="es-MX" b="0" dirty="0"/>
              <a:t> y que el valor 10 también corresponde a un entero, por lo que la asignación es semánticamente válida.</a:t>
            </a:r>
          </a:p>
        </p:txBody>
      </p:sp>
      <p:pic>
        <p:nvPicPr>
          <p:cNvPr id="4" name="Imagen 3">
            <a:extLst>
              <a:ext uri="{FF2B5EF4-FFF2-40B4-BE49-F238E27FC236}">
                <a16:creationId xmlns:a16="http://schemas.microsoft.com/office/drawing/2014/main" id="{B7EC6480-452D-1D20-D64A-768C019CE5B4}"/>
              </a:ext>
            </a:extLst>
          </p:cNvPr>
          <p:cNvPicPr>
            <a:picLocks noChangeAspect="1"/>
          </p:cNvPicPr>
          <p:nvPr/>
        </p:nvPicPr>
        <p:blipFill>
          <a:blip r:embed="rId2"/>
          <a:stretch>
            <a:fillRect/>
          </a:stretch>
        </p:blipFill>
        <p:spPr>
          <a:xfrm>
            <a:off x="6209430" y="3844498"/>
            <a:ext cx="4480000" cy="2520000"/>
          </a:xfrm>
          <a:prstGeom prst="rect">
            <a:avLst/>
          </a:prstGeom>
        </p:spPr>
      </p:pic>
      <p:pic>
        <p:nvPicPr>
          <p:cNvPr id="7" name="Imagen 6">
            <a:extLst>
              <a:ext uri="{FF2B5EF4-FFF2-40B4-BE49-F238E27FC236}">
                <a16:creationId xmlns:a16="http://schemas.microsoft.com/office/drawing/2014/main" id="{D1CC2212-9488-0B03-4F64-D1BC40F97F3C}"/>
              </a:ext>
            </a:extLst>
          </p:cNvPr>
          <p:cNvPicPr>
            <a:picLocks noChangeAspect="1"/>
          </p:cNvPicPr>
          <p:nvPr/>
        </p:nvPicPr>
        <p:blipFill>
          <a:blip r:embed="rId3"/>
          <a:stretch>
            <a:fillRect/>
          </a:stretch>
        </p:blipFill>
        <p:spPr>
          <a:xfrm>
            <a:off x="6209431" y="1341783"/>
            <a:ext cx="4479999" cy="2520000"/>
          </a:xfrm>
          <a:prstGeom prst="rect">
            <a:avLst/>
          </a:prstGeom>
        </p:spPr>
      </p:pic>
    </p:spTree>
    <p:extLst>
      <p:ext uri="{BB962C8B-B14F-4D97-AF65-F5344CB8AC3E}">
        <p14:creationId xmlns:p14="http://schemas.microsoft.com/office/powerpoint/2010/main" val="3518418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25052-539A-516E-CBB8-2F753540CF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F9F6257-D1FD-B86F-1076-D7F265D92BA7}"/>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Ejercicio 3. Acciones semánticas: Error por tipos incompatibles</a:t>
            </a:r>
          </a:p>
        </p:txBody>
      </p:sp>
      <p:sp>
        <p:nvSpPr>
          <p:cNvPr id="6" name="CuadroTexto 5">
            <a:extLst>
              <a:ext uri="{FF2B5EF4-FFF2-40B4-BE49-F238E27FC236}">
                <a16:creationId xmlns:a16="http://schemas.microsoft.com/office/drawing/2014/main" id="{90FFFB18-1528-785B-5C73-7AEDE7A25786}"/>
              </a:ext>
            </a:extLst>
          </p:cNvPr>
          <p:cNvSpPr txBox="1"/>
          <p:nvPr/>
        </p:nvSpPr>
        <p:spPr>
          <a:xfrm>
            <a:off x="1000124" y="1690688"/>
            <a:ext cx="4657725" cy="3970318"/>
          </a:xfrm>
          <a:prstGeom prst="rect">
            <a:avLst/>
          </a:prstGeom>
          <a:noFill/>
        </p:spPr>
        <p:txBody>
          <a:bodyPr wrap="square">
            <a:spAutoFit/>
          </a:bodyPr>
          <a:lstStyle>
            <a:defPPr>
              <a:defRPr lang="es-MX"/>
            </a:defPPr>
            <a:lvl1pPr>
              <a:defRPr sz="2800" b="1"/>
            </a:lvl1pPr>
          </a:lstStyle>
          <a:p>
            <a:r>
              <a:rPr lang="es-MX" dirty="0"/>
              <a:t>prueba</a:t>
            </a:r>
            <a:r>
              <a:rPr lang="es-MX" b="0" dirty="0"/>
              <a:t>: ingresar </a:t>
            </a:r>
            <a:r>
              <a:rPr lang="es-MX" b="0" dirty="0" err="1"/>
              <a:t>int</a:t>
            </a:r>
            <a:r>
              <a:rPr lang="es-MX" b="0" dirty="0"/>
              <a:t> x; y después escribir x = "hola";.</a:t>
            </a:r>
          </a:p>
          <a:p>
            <a:br>
              <a:rPr lang="es-MX" b="0" dirty="0"/>
            </a:br>
            <a:r>
              <a:rPr lang="es-MX" b="0" dirty="0"/>
              <a:t>El compilador detectó que la variable x fue declarada como tipo </a:t>
            </a:r>
            <a:r>
              <a:rPr lang="es-MX" b="0" dirty="0" err="1"/>
              <a:t>int</a:t>
            </a:r>
            <a:r>
              <a:rPr lang="es-MX" b="0" dirty="0"/>
              <a:t>, mientras que el valor "hola" corresponde a tipo </a:t>
            </a:r>
            <a:r>
              <a:rPr lang="es-MX" b="0" dirty="0" err="1"/>
              <a:t>string</a:t>
            </a:r>
            <a:r>
              <a:rPr lang="es-MX" b="0" dirty="0"/>
              <a:t>, por lo que la asignación es semánticamente inválida.</a:t>
            </a:r>
          </a:p>
        </p:txBody>
      </p:sp>
      <p:pic>
        <p:nvPicPr>
          <p:cNvPr id="5" name="Imagen 4">
            <a:extLst>
              <a:ext uri="{FF2B5EF4-FFF2-40B4-BE49-F238E27FC236}">
                <a16:creationId xmlns:a16="http://schemas.microsoft.com/office/drawing/2014/main" id="{30134BD6-6A93-2394-1DDF-0FF257AF6B30}"/>
              </a:ext>
            </a:extLst>
          </p:cNvPr>
          <p:cNvPicPr>
            <a:picLocks noChangeAspect="1"/>
          </p:cNvPicPr>
          <p:nvPr/>
        </p:nvPicPr>
        <p:blipFill>
          <a:blip r:embed="rId2"/>
          <a:stretch>
            <a:fillRect/>
          </a:stretch>
        </p:blipFill>
        <p:spPr>
          <a:xfrm>
            <a:off x="6209431" y="3972875"/>
            <a:ext cx="4479999" cy="2520000"/>
          </a:xfrm>
          <a:prstGeom prst="rect">
            <a:avLst/>
          </a:prstGeom>
        </p:spPr>
      </p:pic>
      <p:pic>
        <p:nvPicPr>
          <p:cNvPr id="8" name="Imagen 7">
            <a:extLst>
              <a:ext uri="{FF2B5EF4-FFF2-40B4-BE49-F238E27FC236}">
                <a16:creationId xmlns:a16="http://schemas.microsoft.com/office/drawing/2014/main" id="{894D71E1-BB60-0C6D-D568-8BAA98484A60}"/>
              </a:ext>
            </a:extLst>
          </p:cNvPr>
          <p:cNvPicPr>
            <a:picLocks noChangeAspect="1"/>
          </p:cNvPicPr>
          <p:nvPr/>
        </p:nvPicPr>
        <p:blipFill>
          <a:blip r:embed="rId3"/>
          <a:stretch>
            <a:fillRect/>
          </a:stretch>
        </p:blipFill>
        <p:spPr>
          <a:xfrm>
            <a:off x="6209431" y="1341783"/>
            <a:ext cx="4479999" cy="2520000"/>
          </a:xfrm>
          <a:prstGeom prst="rect">
            <a:avLst/>
          </a:prstGeom>
        </p:spPr>
      </p:pic>
    </p:spTree>
    <p:extLst>
      <p:ext uri="{BB962C8B-B14F-4D97-AF65-F5344CB8AC3E}">
        <p14:creationId xmlns:p14="http://schemas.microsoft.com/office/powerpoint/2010/main" val="3927094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628C1-457F-662A-726D-904388AA1CA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7C261C-164E-3B45-0FC5-52C9ADBBE120}"/>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Explicación de las pruebas-</a:t>
            </a:r>
            <a:r>
              <a:rPr lang="es-MX" b="1" dirty="0">
                <a:solidFill>
                  <a:schemeClr val="accent1"/>
                </a:solidFill>
              </a:rPr>
              <a:t> Acciones semánticas</a:t>
            </a:r>
            <a:endParaRPr lang="es-MX" b="1" dirty="0">
              <a:solidFill>
                <a:schemeClr val="accent1"/>
              </a:solidFill>
              <a:ea typeface="+mn-ea"/>
              <a:cs typeface="+mn-cs"/>
            </a:endParaRPr>
          </a:p>
        </p:txBody>
      </p:sp>
      <p:sp>
        <p:nvSpPr>
          <p:cNvPr id="4" name="CuadroTexto 3">
            <a:extLst>
              <a:ext uri="{FF2B5EF4-FFF2-40B4-BE49-F238E27FC236}">
                <a16:creationId xmlns:a16="http://schemas.microsoft.com/office/drawing/2014/main" id="{036C429E-2109-33A2-EB4F-616FCDC72028}"/>
              </a:ext>
            </a:extLst>
          </p:cNvPr>
          <p:cNvSpPr txBox="1"/>
          <p:nvPr/>
        </p:nvSpPr>
        <p:spPr>
          <a:xfrm>
            <a:off x="506896" y="2413338"/>
            <a:ext cx="11241156" cy="2677656"/>
          </a:xfrm>
          <a:prstGeom prst="rect">
            <a:avLst/>
          </a:prstGeom>
          <a:noFill/>
        </p:spPr>
        <p:txBody>
          <a:bodyPr wrap="square">
            <a:spAutoFit/>
          </a:bodyPr>
          <a:lstStyle/>
          <a:p>
            <a:pPr algn="just">
              <a:buNone/>
            </a:pPr>
            <a:r>
              <a:rPr lang="es-MX" sz="2800" dirty="0"/>
              <a:t>Las pruebas permitieron comprobar cómo el compilador analiza declaraciones y asignaciones para determinar si una instrucción tiene un significado semántico válido.</a:t>
            </a:r>
          </a:p>
          <a:p>
            <a:pPr algn="just">
              <a:buNone/>
            </a:pPr>
            <a:r>
              <a:rPr lang="es-MX" sz="2800" dirty="0"/>
              <a:t>Se verificaron casos correctos, como la declaración de una variable </a:t>
            </a:r>
            <a:r>
              <a:rPr lang="es-MX" sz="2800" dirty="0" err="1"/>
              <a:t>int</a:t>
            </a:r>
            <a:r>
              <a:rPr lang="es-MX" sz="2800" dirty="0"/>
              <a:t> y la asignación de un valor entero, así como un caso incorrecto donde se intentó asignar un valor String a una variable de tipo </a:t>
            </a:r>
            <a:r>
              <a:rPr lang="es-MX" sz="2800" dirty="0" err="1"/>
              <a:t>int</a:t>
            </a:r>
            <a:r>
              <a:rPr lang="es-MX" sz="2800" dirty="0"/>
              <a:t>.</a:t>
            </a:r>
          </a:p>
        </p:txBody>
      </p:sp>
    </p:spTree>
    <p:extLst>
      <p:ext uri="{BB962C8B-B14F-4D97-AF65-F5344CB8AC3E}">
        <p14:creationId xmlns:p14="http://schemas.microsoft.com/office/powerpoint/2010/main" val="352148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E449C-2FFB-4955-58A0-E18416B9B6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B19158-C5D0-6CC3-B97E-A0C3DF303E7A}"/>
              </a:ext>
            </a:extLst>
          </p:cNvPr>
          <p:cNvSpPr>
            <a:spLocks noGrp="1"/>
          </p:cNvSpPr>
          <p:nvPr>
            <p:ph type="title"/>
          </p:nvPr>
        </p:nvSpPr>
        <p:spPr/>
        <p:txBody>
          <a:bodyPr/>
          <a:lstStyle/>
          <a:p>
            <a:pPr>
              <a:spcBef>
                <a:spcPts val="1000"/>
              </a:spcBef>
            </a:pPr>
            <a:r>
              <a:rPr lang="es-MX" b="1" kern="0" dirty="0">
                <a:solidFill>
                  <a:schemeClr val="accent1"/>
                </a:solidFill>
                <a:ea typeface="+mn-ea"/>
                <a:cs typeface="Arial" panose="020B0604020202020204" pitchFamily="34" charset="0"/>
              </a:rPr>
              <a:t>Tema 1 Comprobación de Tipos</a:t>
            </a:r>
          </a:p>
        </p:txBody>
      </p:sp>
      <p:pic>
        <p:nvPicPr>
          <p:cNvPr id="4" name="Imagen 3">
            <a:extLst>
              <a:ext uri="{FF2B5EF4-FFF2-40B4-BE49-F238E27FC236}">
                <a16:creationId xmlns:a16="http://schemas.microsoft.com/office/drawing/2014/main" id="{29D99076-70F2-E626-CE82-C0BF0F3F415B}"/>
              </a:ext>
            </a:extLst>
          </p:cNvPr>
          <p:cNvPicPr>
            <a:picLocks noChangeAspect="1"/>
          </p:cNvPicPr>
          <p:nvPr/>
        </p:nvPicPr>
        <p:blipFill>
          <a:blip r:embed="rId2"/>
          <a:stretch>
            <a:fillRect/>
          </a:stretch>
        </p:blipFill>
        <p:spPr>
          <a:xfrm>
            <a:off x="1943100" y="1690688"/>
            <a:ext cx="7448550" cy="4189809"/>
          </a:xfrm>
          <a:prstGeom prst="rect">
            <a:avLst/>
          </a:prstGeom>
        </p:spPr>
      </p:pic>
    </p:spTree>
    <p:extLst>
      <p:ext uri="{BB962C8B-B14F-4D97-AF65-F5344CB8AC3E}">
        <p14:creationId xmlns:p14="http://schemas.microsoft.com/office/powerpoint/2010/main" val="2656705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C9385-CFF6-E371-70F3-0F3D0DF9ED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D2C58E-D31A-8772-1250-7792C46F3C14}"/>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Ejercicio 1 Comprobación de tipos: tipos compatibles</a:t>
            </a:r>
          </a:p>
        </p:txBody>
      </p:sp>
      <p:pic>
        <p:nvPicPr>
          <p:cNvPr id="4" name="Imagen 3">
            <a:extLst>
              <a:ext uri="{FF2B5EF4-FFF2-40B4-BE49-F238E27FC236}">
                <a16:creationId xmlns:a16="http://schemas.microsoft.com/office/drawing/2014/main" id="{77FAD310-8A74-D74F-BB88-5D67359D90CA}"/>
              </a:ext>
            </a:extLst>
          </p:cNvPr>
          <p:cNvPicPr>
            <a:picLocks noChangeAspect="1"/>
          </p:cNvPicPr>
          <p:nvPr/>
        </p:nvPicPr>
        <p:blipFill>
          <a:blip r:embed="rId2"/>
          <a:stretch>
            <a:fillRect/>
          </a:stretch>
        </p:blipFill>
        <p:spPr>
          <a:xfrm>
            <a:off x="6705600" y="2030611"/>
            <a:ext cx="4972050" cy="2796778"/>
          </a:xfrm>
          <a:prstGeom prst="rect">
            <a:avLst/>
          </a:prstGeom>
        </p:spPr>
      </p:pic>
      <p:sp>
        <p:nvSpPr>
          <p:cNvPr id="6" name="CuadroTexto 5">
            <a:extLst>
              <a:ext uri="{FF2B5EF4-FFF2-40B4-BE49-F238E27FC236}">
                <a16:creationId xmlns:a16="http://schemas.microsoft.com/office/drawing/2014/main" id="{776BC716-105F-BDB3-C095-CD028975E23B}"/>
              </a:ext>
            </a:extLst>
          </p:cNvPr>
          <p:cNvSpPr txBox="1"/>
          <p:nvPr/>
        </p:nvSpPr>
        <p:spPr>
          <a:xfrm>
            <a:off x="1057276" y="2343835"/>
            <a:ext cx="4429125" cy="2677656"/>
          </a:xfrm>
          <a:prstGeom prst="rect">
            <a:avLst/>
          </a:prstGeom>
          <a:noFill/>
        </p:spPr>
        <p:txBody>
          <a:bodyPr wrap="square">
            <a:spAutoFit/>
          </a:bodyPr>
          <a:lstStyle>
            <a:defPPr>
              <a:defRPr lang="es-MX"/>
            </a:defPPr>
            <a:lvl1pPr algn="just">
              <a:buNone/>
              <a:defRPr sz="2800"/>
            </a:lvl1pPr>
          </a:lstStyle>
          <a:p>
            <a:r>
              <a:rPr lang="es-MX" dirty="0"/>
              <a:t>El compilador comprobó que el valor asignado corresponde al tipo </a:t>
            </a:r>
            <a:r>
              <a:rPr lang="es-MX" dirty="0" err="1"/>
              <a:t>int</a:t>
            </a:r>
            <a:r>
              <a:rPr lang="es-MX" dirty="0"/>
              <a:t>, por lo que no se generó ningún error semántico ya que son </a:t>
            </a:r>
            <a:r>
              <a:rPr lang="es-MX" dirty="0" err="1"/>
              <a:t>copatibles</a:t>
            </a:r>
            <a:r>
              <a:rPr lang="es-MX" dirty="0"/>
              <a:t>.</a:t>
            </a:r>
          </a:p>
        </p:txBody>
      </p:sp>
    </p:spTree>
    <p:extLst>
      <p:ext uri="{BB962C8B-B14F-4D97-AF65-F5344CB8AC3E}">
        <p14:creationId xmlns:p14="http://schemas.microsoft.com/office/powerpoint/2010/main" val="1325075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E1CF6-68A8-6E9A-F52A-D675913F721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3AFFF21-994A-4294-32E4-86D1F5B8A0BA}"/>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Ejercicio 2 Comprobación de tipos: tipos incompatibles</a:t>
            </a:r>
          </a:p>
        </p:txBody>
      </p:sp>
      <p:pic>
        <p:nvPicPr>
          <p:cNvPr id="4" name="Imagen 3">
            <a:extLst>
              <a:ext uri="{FF2B5EF4-FFF2-40B4-BE49-F238E27FC236}">
                <a16:creationId xmlns:a16="http://schemas.microsoft.com/office/drawing/2014/main" id="{84465510-F22E-A4C8-21D6-BF2C2E6EEFD8}"/>
              </a:ext>
            </a:extLst>
          </p:cNvPr>
          <p:cNvPicPr>
            <a:picLocks noChangeAspect="1"/>
          </p:cNvPicPr>
          <p:nvPr/>
        </p:nvPicPr>
        <p:blipFill>
          <a:blip r:embed="rId2"/>
          <a:stretch>
            <a:fillRect/>
          </a:stretch>
        </p:blipFill>
        <p:spPr>
          <a:xfrm>
            <a:off x="5705476" y="1571030"/>
            <a:ext cx="6215592" cy="3496270"/>
          </a:xfrm>
          <a:prstGeom prst="rect">
            <a:avLst/>
          </a:prstGeom>
        </p:spPr>
      </p:pic>
      <p:sp>
        <p:nvSpPr>
          <p:cNvPr id="6" name="CuadroTexto 5">
            <a:extLst>
              <a:ext uri="{FF2B5EF4-FFF2-40B4-BE49-F238E27FC236}">
                <a16:creationId xmlns:a16="http://schemas.microsoft.com/office/drawing/2014/main" id="{B09237E7-0288-6407-7FA3-AF87A58E3FA5}"/>
              </a:ext>
            </a:extLst>
          </p:cNvPr>
          <p:cNvSpPr txBox="1"/>
          <p:nvPr/>
        </p:nvSpPr>
        <p:spPr>
          <a:xfrm>
            <a:off x="838200" y="2481560"/>
            <a:ext cx="4600575" cy="2246769"/>
          </a:xfrm>
          <a:prstGeom prst="rect">
            <a:avLst/>
          </a:prstGeom>
          <a:noFill/>
        </p:spPr>
        <p:txBody>
          <a:bodyPr wrap="square">
            <a:spAutoFit/>
          </a:bodyPr>
          <a:lstStyle>
            <a:defPPr>
              <a:defRPr lang="es-MX"/>
            </a:defPPr>
            <a:lvl1pPr algn="just">
              <a:buNone/>
              <a:defRPr sz="2800"/>
            </a:lvl1pPr>
          </a:lstStyle>
          <a:p>
            <a:r>
              <a:rPr lang="es-MX" dirty="0"/>
              <a:t>El compilador detectó que un valor de tipo String no puede asignarse directamente a una variable </a:t>
            </a:r>
            <a:r>
              <a:rPr lang="es-MX" dirty="0" err="1"/>
              <a:t>int</a:t>
            </a:r>
            <a:r>
              <a:rPr lang="es-MX" dirty="0"/>
              <a:t>, generando un error de tipos.</a:t>
            </a:r>
          </a:p>
        </p:txBody>
      </p:sp>
    </p:spTree>
    <p:extLst>
      <p:ext uri="{BB962C8B-B14F-4D97-AF65-F5344CB8AC3E}">
        <p14:creationId xmlns:p14="http://schemas.microsoft.com/office/powerpoint/2010/main" val="1400514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896A1-FF8E-03C8-E1E2-0DEC010F420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99C428-90EB-B42D-E1A8-8A5C15CBE77F}"/>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Ejercicio 3 Comprobación de tipos: comparación de cadenas</a:t>
            </a:r>
          </a:p>
        </p:txBody>
      </p:sp>
      <p:sp>
        <p:nvSpPr>
          <p:cNvPr id="6" name="CuadroTexto 5">
            <a:extLst>
              <a:ext uri="{FF2B5EF4-FFF2-40B4-BE49-F238E27FC236}">
                <a16:creationId xmlns:a16="http://schemas.microsoft.com/office/drawing/2014/main" id="{DFF56056-5914-E071-7B18-C221AE46C403}"/>
              </a:ext>
            </a:extLst>
          </p:cNvPr>
          <p:cNvSpPr txBox="1"/>
          <p:nvPr/>
        </p:nvSpPr>
        <p:spPr>
          <a:xfrm>
            <a:off x="923925" y="2333625"/>
            <a:ext cx="3305175" cy="3108543"/>
          </a:xfrm>
          <a:prstGeom prst="rect">
            <a:avLst/>
          </a:prstGeom>
          <a:noFill/>
        </p:spPr>
        <p:txBody>
          <a:bodyPr wrap="square">
            <a:spAutoFit/>
          </a:bodyPr>
          <a:lstStyle>
            <a:defPPr>
              <a:defRPr lang="es-MX"/>
            </a:defPPr>
            <a:lvl1pPr algn="just">
              <a:buNone/>
              <a:defRPr sz="2800"/>
            </a:lvl1pPr>
          </a:lstStyle>
          <a:p>
            <a:r>
              <a:rPr lang="es-MX" dirty="0"/>
              <a:t>El compilador comprobó que ambos elementos pertenecen al tipo String, permitiendo la asignación correctamente.</a:t>
            </a:r>
          </a:p>
        </p:txBody>
      </p:sp>
      <p:pic>
        <p:nvPicPr>
          <p:cNvPr id="10" name="Imagen 9">
            <a:extLst>
              <a:ext uri="{FF2B5EF4-FFF2-40B4-BE49-F238E27FC236}">
                <a16:creationId xmlns:a16="http://schemas.microsoft.com/office/drawing/2014/main" id="{E9CD5CC1-A17A-D164-4221-E429B9364C6D}"/>
              </a:ext>
            </a:extLst>
          </p:cNvPr>
          <p:cNvPicPr>
            <a:picLocks noChangeAspect="1"/>
          </p:cNvPicPr>
          <p:nvPr/>
        </p:nvPicPr>
        <p:blipFill>
          <a:blip r:embed="rId2"/>
          <a:stretch>
            <a:fillRect/>
          </a:stretch>
        </p:blipFill>
        <p:spPr>
          <a:xfrm>
            <a:off x="4594227" y="2124075"/>
            <a:ext cx="6908800" cy="3886200"/>
          </a:xfrm>
          <a:prstGeom prst="rect">
            <a:avLst/>
          </a:prstGeom>
        </p:spPr>
      </p:pic>
    </p:spTree>
    <p:extLst>
      <p:ext uri="{BB962C8B-B14F-4D97-AF65-F5344CB8AC3E}">
        <p14:creationId xmlns:p14="http://schemas.microsoft.com/office/powerpoint/2010/main" val="3123559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6EF912-CC99-DFFA-DFBA-95B2A854EE85}"/>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Explicación de las pruebas – Comprobación de tipos</a:t>
            </a:r>
          </a:p>
        </p:txBody>
      </p:sp>
      <p:graphicFrame>
        <p:nvGraphicFramePr>
          <p:cNvPr id="4" name="Marcador de contenido 3">
            <a:extLst>
              <a:ext uri="{FF2B5EF4-FFF2-40B4-BE49-F238E27FC236}">
                <a16:creationId xmlns:a16="http://schemas.microsoft.com/office/drawing/2014/main" id="{DE64C3BC-4E93-BD21-5A28-8C5D48010478}"/>
              </a:ext>
            </a:extLst>
          </p:cNvPr>
          <p:cNvGraphicFramePr>
            <a:graphicFrameLocks noGrp="1"/>
          </p:cNvGraphicFramePr>
          <p:nvPr>
            <p:ph idx="1"/>
            <p:extLst>
              <p:ext uri="{D42A27DB-BD31-4B8C-83A1-F6EECF244321}">
                <p14:modId xmlns:p14="http://schemas.microsoft.com/office/powerpoint/2010/main" val="2569943460"/>
              </p:ext>
            </p:extLst>
          </p:nvPr>
        </p:nvGraphicFramePr>
        <p:xfrm>
          <a:off x="733425" y="4363244"/>
          <a:ext cx="10515600" cy="1828800"/>
        </p:xfrm>
        <a:graphic>
          <a:graphicData uri="http://schemas.openxmlformats.org/drawingml/2006/table">
            <a:tbl>
              <a:tblPr>
                <a:tableStyleId>{BC89EF96-8CEA-46FF-86C4-4CE0E7609802}</a:tableStyleId>
              </a:tblPr>
              <a:tblGrid>
                <a:gridCol w="2628900">
                  <a:extLst>
                    <a:ext uri="{9D8B030D-6E8A-4147-A177-3AD203B41FA5}">
                      <a16:colId xmlns:a16="http://schemas.microsoft.com/office/drawing/2014/main" val="533324799"/>
                    </a:ext>
                  </a:extLst>
                </a:gridCol>
                <a:gridCol w="2628900">
                  <a:extLst>
                    <a:ext uri="{9D8B030D-6E8A-4147-A177-3AD203B41FA5}">
                      <a16:colId xmlns:a16="http://schemas.microsoft.com/office/drawing/2014/main" val="3046586349"/>
                    </a:ext>
                  </a:extLst>
                </a:gridCol>
                <a:gridCol w="2628900">
                  <a:extLst>
                    <a:ext uri="{9D8B030D-6E8A-4147-A177-3AD203B41FA5}">
                      <a16:colId xmlns:a16="http://schemas.microsoft.com/office/drawing/2014/main" val="4011401529"/>
                    </a:ext>
                  </a:extLst>
                </a:gridCol>
                <a:gridCol w="2628900">
                  <a:extLst>
                    <a:ext uri="{9D8B030D-6E8A-4147-A177-3AD203B41FA5}">
                      <a16:colId xmlns:a16="http://schemas.microsoft.com/office/drawing/2014/main" val="617432196"/>
                    </a:ext>
                  </a:extLst>
                </a:gridCol>
              </a:tblGrid>
              <a:tr h="0">
                <a:tc>
                  <a:txBody>
                    <a:bodyPr/>
                    <a:lstStyle/>
                    <a:p>
                      <a:pPr>
                        <a:buNone/>
                      </a:pPr>
                      <a:r>
                        <a:rPr lang="es-MX"/>
                        <a:t>Tipo variable</a:t>
                      </a:r>
                    </a:p>
                  </a:txBody>
                  <a:tcPr anchor="ctr"/>
                </a:tc>
                <a:tc>
                  <a:txBody>
                    <a:bodyPr/>
                    <a:lstStyle/>
                    <a:p>
                      <a:pPr>
                        <a:buNone/>
                      </a:pPr>
                      <a:r>
                        <a:rPr lang="es-MX"/>
                        <a:t>Tipo valor</a:t>
                      </a:r>
                    </a:p>
                  </a:txBody>
                  <a:tcPr anchor="ctr"/>
                </a:tc>
                <a:tc>
                  <a:txBody>
                    <a:bodyPr/>
                    <a:lstStyle/>
                    <a:p>
                      <a:pPr>
                        <a:buNone/>
                      </a:pPr>
                      <a:r>
                        <a:rPr lang="es-MX"/>
                        <a:t>¿Válida?</a:t>
                      </a:r>
                    </a:p>
                  </a:txBody>
                  <a:tcPr anchor="ctr"/>
                </a:tc>
                <a:tc>
                  <a:txBody>
                    <a:bodyPr/>
                    <a:lstStyle/>
                    <a:p>
                      <a:pPr>
                        <a:buNone/>
                      </a:pPr>
                      <a:r>
                        <a:rPr lang="es-MX"/>
                        <a:t>Motivo</a:t>
                      </a:r>
                    </a:p>
                  </a:txBody>
                  <a:tcPr anchor="ctr"/>
                </a:tc>
                <a:extLst>
                  <a:ext uri="{0D108BD9-81ED-4DB2-BD59-A6C34878D82A}">
                    <a16:rowId xmlns:a16="http://schemas.microsoft.com/office/drawing/2014/main" val="291716071"/>
                  </a:ext>
                </a:extLst>
              </a:tr>
              <a:tr h="0">
                <a:tc>
                  <a:txBody>
                    <a:bodyPr/>
                    <a:lstStyle/>
                    <a:p>
                      <a:pPr>
                        <a:buNone/>
                      </a:pPr>
                      <a:r>
                        <a:rPr lang="es-MX"/>
                        <a:t>int</a:t>
                      </a:r>
                    </a:p>
                  </a:txBody>
                  <a:tcPr anchor="ctr"/>
                </a:tc>
                <a:tc>
                  <a:txBody>
                    <a:bodyPr/>
                    <a:lstStyle/>
                    <a:p>
                      <a:pPr>
                        <a:buNone/>
                      </a:pPr>
                      <a:r>
                        <a:rPr lang="es-MX"/>
                        <a:t>int</a:t>
                      </a:r>
                    </a:p>
                  </a:txBody>
                  <a:tcPr anchor="ctr"/>
                </a:tc>
                <a:tc>
                  <a:txBody>
                    <a:bodyPr/>
                    <a:lstStyle/>
                    <a:p>
                      <a:pPr>
                        <a:buNone/>
                      </a:pPr>
                      <a:r>
                        <a:rPr lang="es-MX"/>
                        <a:t>Sí</a:t>
                      </a:r>
                    </a:p>
                  </a:txBody>
                  <a:tcPr anchor="ctr"/>
                </a:tc>
                <a:tc>
                  <a:txBody>
                    <a:bodyPr/>
                    <a:lstStyle/>
                    <a:p>
                      <a:pPr>
                        <a:buNone/>
                      </a:pPr>
                      <a:r>
                        <a:rPr lang="es-MX"/>
                        <a:t>Tipos idénticos</a:t>
                      </a:r>
                    </a:p>
                  </a:txBody>
                  <a:tcPr anchor="ctr"/>
                </a:tc>
                <a:extLst>
                  <a:ext uri="{0D108BD9-81ED-4DB2-BD59-A6C34878D82A}">
                    <a16:rowId xmlns:a16="http://schemas.microsoft.com/office/drawing/2014/main" val="198887258"/>
                  </a:ext>
                </a:extLst>
              </a:tr>
              <a:tr h="0">
                <a:tc>
                  <a:txBody>
                    <a:bodyPr/>
                    <a:lstStyle/>
                    <a:p>
                      <a:pPr>
                        <a:buNone/>
                      </a:pPr>
                      <a:r>
                        <a:rPr lang="es-MX"/>
                        <a:t>int</a:t>
                      </a:r>
                    </a:p>
                  </a:txBody>
                  <a:tcPr anchor="ctr"/>
                </a:tc>
                <a:tc>
                  <a:txBody>
                    <a:bodyPr/>
                    <a:lstStyle/>
                    <a:p>
                      <a:pPr>
                        <a:buNone/>
                      </a:pPr>
                      <a:r>
                        <a:rPr lang="es-MX"/>
                        <a:t>String</a:t>
                      </a:r>
                    </a:p>
                  </a:txBody>
                  <a:tcPr anchor="ctr"/>
                </a:tc>
                <a:tc>
                  <a:txBody>
                    <a:bodyPr/>
                    <a:lstStyle/>
                    <a:p>
                      <a:pPr>
                        <a:buNone/>
                      </a:pPr>
                      <a:r>
                        <a:rPr lang="es-MX"/>
                        <a:t>No</a:t>
                      </a:r>
                    </a:p>
                  </a:txBody>
                  <a:tcPr anchor="ctr"/>
                </a:tc>
                <a:tc>
                  <a:txBody>
                    <a:bodyPr/>
                    <a:lstStyle/>
                    <a:p>
                      <a:pPr>
                        <a:buNone/>
                      </a:pPr>
                      <a:r>
                        <a:rPr lang="es-MX"/>
                        <a:t>Tipos incompatibles</a:t>
                      </a:r>
                    </a:p>
                  </a:txBody>
                  <a:tcPr anchor="ctr"/>
                </a:tc>
                <a:extLst>
                  <a:ext uri="{0D108BD9-81ED-4DB2-BD59-A6C34878D82A}">
                    <a16:rowId xmlns:a16="http://schemas.microsoft.com/office/drawing/2014/main" val="2231579042"/>
                  </a:ext>
                </a:extLst>
              </a:tr>
              <a:tr h="0">
                <a:tc>
                  <a:txBody>
                    <a:bodyPr/>
                    <a:lstStyle/>
                    <a:p>
                      <a:pPr>
                        <a:buNone/>
                      </a:pPr>
                      <a:r>
                        <a:rPr lang="es-MX"/>
                        <a:t>String</a:t>
                      </a:r>
                    </a:p>
                  </a:txBody>
                  <a:tcPr anchor="ctr"/>
                </a:tc>
                <a:tc>
                  <a:txBody>
                    <a:bodyPr/>
                    <a:lstStyle/>
                    <a:p>
                      <a:pPr>
                        <a:buNone/>
                      </a:pPr>
                      <a:r>
                        <a:rPr lang="es-MX"/>
                        <a:t>String</a:t>
                      </a:r>
                    </a:p>
                  </a:txBody>
                  <a:tcPr anchor="ctr"/>
                </a:tc>
                <a:tc>
                  <a:txBody>
                    <a:bodyPr/>
                    <a:lstStyle/>
                    <a:p>
                      <a:pPr>
                        <a:buNone/>
                      </a:pPr>
                      <a:r>
                        <a:rPr lang="es-MX"/>
                        <a:t>Sí</a:t>
                      </a:r>
                    </a:p>
                  </a:txBody>
                  <a:tcPr anchor="ctr"/>
                </a:tc>
                <a:tc>
                  <a:txBody>
                    <a:bodyPr/>
                    <a:lstStyle/>
                    <a:p>
                      <a:pPr>
                        <a:buNone/>
                      </a:pPr>
                      <a:r>
                        <a:rPr lang="es-MX"/>
                        <a:t>Tipos idénticos</a:t>
                      </a:r>
                    </a:p>
                  </a:txBody>
                  <a:tcPr anchor="ctr"/>
                </a:tc>
                <a:extLst>
                  <a:ext uri="{0D108BD9-81ED-4DB2-BD59-A6C34878D82A}">
                    <a16:rowId xmlns:a16="http://schemas.microsoft.com/office/drawing/2014/main" val="2839759841"/>
                  </a:ext>
                </a:extLst>
              </a:tr>
              <a:tr h="0">
                <a:tc>
                  <a:txBody>
                    <a:bodyPr/>
                    <a:lstStyle/>
                    <a:p>
                      <a:pPr>
                        <a:buNone/>
                      </a:pPr>
                      <a:r>
                        <a:rPr lang="es-MX"/>
                        <a:t>String</a:t>
                      </a:r>
                    </a:p>
                  </a:txBody>
                  <a:tcPr anchor="ctr"/>
                </a:tc>
                <a:tc>
                  <a:txBody>
                    <a:bodyPr/>
                    <a:lstStyle/>
                    <a:p>
                      <a:pPr>
                        <a:buNone/>
                      </a:pPr>
                      <a:r>
                        <a:rPr lang="es-MX"/>
                        <a:t>int</a:t>
                      </a:r>
                    </a:p>
                  </a:txBody>
                  <a:tcPr anchor="ctr"/>
                </a:tc>
                <a:tc>
                  <a:txBody>
                    <a:bodyPr/>
                    <a:lstStyle/>
                    <a:p>
                      <a:pPr>
                        <a:buNone/>
                      </a:pPr>
                      <a:r>
                        <a:rPr lang="es-MX"/>
                        <a:t>No</a:t>
                      </a:r>
                    </a:p>
                  </a:txBody>
                  <a:tcPr anchor="ctr"/>
                </a:tc>
                <a:tc>
                  <a:txBody>
                    <a:bodyPr/>
                    <a:lstStyle/>
                    <a:p>
                      <a:pPr>
                        <a:buNone/>
                      </a:pPr>
                      <a:r>
                        <a:rPr lang="es-MX" dirty="0"/>
                        <a:t>Tipos incompatibles</a:t>
                      </a:r>
                    </a:p>
                  </a:txBody>
                  <a:tcPr anchor="ctr"/>
                </a:tc>
                <a:extLst>
                  <a:ext uri="{0D108BD9-81ED-4DB2-BD59-A6C34878D82A}">
                    <a16:rowId xmlns:a16="http://schemas.microsoft.com/office/drawing/2014/main" val="3106477786"/>
                  </a:ext>
                </a:extLst>
              </a:tr>
            </a:tbl>
          </a:graphicData>
        </a:graphic>
      </p:graphicFrame>
      <p:sp>
        <p:nvSpPr>
          <p:cNvPr id="6" name="CuadroTexto 5">
            <a:extLst>
              <a:ext uri="{FF2B5EF4-FFF2-40B4-BE49-F238E27FC236}">
                <a16:creationId xmlns:a16="http://schemas.microsoft.com/office/drawing/2014/main" id="{CDA69045-D505-8EE3-8C7D-3E7014445F21}"/>
              </a:ext>
            </a:extLst>
          </p:cNvPr>
          <p:cNvSpPr txBox="1"/>
          <p:nvPr/>
        </p:nvSpPr>
        <p:spPr>
          <a:xfrm>
            <a:off x="733425" y="1688138"/>
            <a:ext cx="10839450" cy="2677656"/>
          </a:xfrm>
          <a:prstGeom prst="rect">
            <a:avLst/>
          </a:prstGeom>
          <a:noFill/>
        </p:spPr>
        <p:txBody>
          <a:bodyPr wrap="square">
            <a:spAutoFit/>
          </a:bodyPr>
          <a:lstStyle>
            <a:defPPr>
              <a:defRPr lang="es-MX"/>
            </a:defPPr>
            <a:lvl1pPr algn="just">
              <a:buNone/>
              <a:defRPr sz="2800"/>
            </a:lvl1pPr>
          </a:lstStyle>
          <a:p>
            <a:r>
              <a:rPr lang="es-MX" dirty="0"/>
              <a:t>La comprobación de tipos permite verificar que los datos utilizados en una asignación sean compatibles.</a:t>
            </a:r>
            <a:br>
              <a:rPr lang="es-MX" dirty="0"/>
            </a:br>
            <a:r>
              <a:rPr lang="es-MX" dirty="0"/>
              <a:t>El compilador identifica el tipo de la variable y el tipo del valor para determinar si la operación puede realizarse correctamente.</a:t>
            </a:r>
            <a:br>
              <a:rPr lang="es-MX" dirty="0"/>
            </a:br>
            <a:r>
              <a:rPr lang="es-MX" dirty="0"/>
              <a:t>Cuando ambos tipos son compatibles, la asignación es válida; en caso contrario, se genera un error semántico.</a:t>
            </a:r>
          </a:p>
        </p:txBody>
      </p:sp>
    </p:spTree>
    <p:extLst>
      <p:ext uri="{BB962C8B-B14F-4D97-AF65-F5344CB8AC3E}">
        <p14:creationId xmlns:p14="http://schemas.microsoft.com/office/powerpoint/2010/main" val="3521881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71E24-AF30-005B-D84A-BD774B8D42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86F44E-098B-A31B-EAE5-87D373B3AB57}"/>
              </a:ext>
            </a:extLst>
          </p:cNvPr>
          <p:cNvSpPr>
            <a:spLocks noGrp="1"/>
          </p:cNvSpPr>
          <p:nvPr>
            <p:ph type="title"/>
          </p:nvPr>
        </p:nvSpPr>
        <p:spPr/>
        <p:txBody>
          <a:bodyPr/>
          <a:lstStyle/>
          <a:p>
            <a:pPr>
              <a:spcBef>
                <a:spcPts val="1000"/>
              </a:spcBef>
            </a:pPr>
            <a:r>
              <a:rPr lang="es-MX" b="1" kern="0" dirty="0">
                <a:solidFill>
                  <a:schemeClr val="accent1"/>
                </a:solidFill>
                <a:ea typeface="+mn-ea"/>
                <a:cs typeface="Arial" panose="020B0604020202020204" pitchFamily="34" charset="0"/>
              </a:rPr>
              <a:t>Tema 1 Pila </a:t>
            </a:r>
            <a:r>
              <a:rPr lang="es-MX" b="1" kern="0" dirty="0" err="1">
                <a:solidFill>
                  <a:schemeClr val="accent1"/>
                </a:solidFill>
                <a:ea typeface="+mn-ea"/>
                <a:cs typeface="Arial" panose="020B0604020202020204" pitchFamily="34" charset="0"/>
              </a:rPr>
              <a:t>semantica</a:t>
            </a:r>
            <a:endParaRPr lang="es-MX" b="1" kern="0" dirty="0">
              <a:solidFill>
                <a:schemeClr val="accent1"/>
              </a:solidFill>
              <a:ea typeface="+mn-ea"/>
              <a:cs typeface="Arial" panose="020B0604020202020204" pitchFamily="34" charset="0"/>
            </a:endParaRPr>
          </a:p>
        </p:txBody>
      </p:sp>
      <p:pic>
        <p:nvPicPr>
          <p:cNvPr id="4" name="Imagen 3">
            <a:extLst>
              <a:ext uri="{FF2B5EF4-FFF2-40B4-BE49-F238E27FC236}">
                <a16:creationId xmlns:a16="http://schemas.microsoft.com/office/drawing/2014/main" id="{10E0435A-B7C9-16D3-5199-DD0FC38DECC1}"/>
              </a:ext>
            </a:extLst>
          </p:cNvPr>
          <p:cNvPicPr>
            <a:picLocks noChangeAspect="1"/>
          </p:cNvPicPr>
          <p:nvPr/>
        </p:nvPicPr>
        <p:blipFill>
          <a:blip r:embed="rId2"/>
          <a:stretch>
            <a:fillRect/>
          </a:stretch>
        </p:blipFill>
        <p:spPr>
          <a:xfrm>
            <a:off x="3343275" y="2134790"/>
            <a:ext cx="7448550" cy="4189809"/>
          </a:xfrm>
          <a:prstGeom prst="rect">
            <a:avLst/>
          </a:prstGeom>
        </p:spPr>
      </p:pic>
    </p:spTree>
    <p:extLst>
      <p:ext uri="{BB962C8B-B14F-4D97-AF65-F5344CB8AC3E}">
        <p14:creationId xmlns:p14="http://schemas.microsoft.com/office/powerpoint/2010/main" val="1802082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E1B00-E0B9-6FD1-6658-CFA8BDF273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F0E1C0-0C5E-EA26-4251-0107827953A1}"/>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Ejercicio 1 Pila semántica: inserción de un elemento</a:t>
            </a:r>
          </a:p>
        </p:txBody>
      </p:sp>
      <p:sp>
        <p:nvSpPr>
          <p:cNvPr id="4" name="CuadroTexto 3">
            <a:extLst>
              <a:ext uri="{FF2B5EF4-FFF2-40B4-BE49-F238E27FC236}">
                <a16:creationId xmlns:a16="http://schemas.microsoft.com/office/drawing/2014/main" id="{31A7859C-C12D-01B5-02A6-67B940646FB5}"/>
              </a:ext>
            </a:extLst>
          </p:cNvPr>
          <p:cNvSpPr txBox="1"/>
          <p:nvPr/>
        </p:nvSpPr>
        <p:spPr>
          <a:xfrm>
            <a:off x="714375" y="2967335"/>
            <a:ext cx="4114800" cy="1477328"/>
          </a:xfrm>
          <a:prstGeom prst="rect">
            <a:avLst/>
          </a:prstGeom>
          <a:noFill/>
        </p:spPr>
        <p:txBody>
          <a:bodyPr wrap="square">
            <a:spAutoFit/>
          </a:bodyPr>
          <a:lstStyle>
            <a:defPPr>
              <a:defRPr lang="es-MX"/>
            </a:defPPr>
            <a:lvl1pPr algn="just">
              <a:buNone/>
              <a:defRPr sz="2800"/>
            </a:lvl1pPr>
          </a:lstStyle>
          <a:p>
            <a:r>
              <a:rPr lang="es-MX" dirty="0"/>
              <a:t>El compilador almacenó la expresión a + b dentro de la pila semántica mediante la operación PUSH, mostrando cómo un elemento puede ser insertado correctamente. </a:t>
            </a:r>
          </a:p>
        </p:txBody>
      </p:sp>
      <p:pic>
        <p:nvPicPr>
          <p:cNvPr id="6" name="Imagen 5">
            <a:extLst>
              <a:ext uri="{FF2B5EF4-FFF2-40B4-BE49-F238E27FC236}">
                <a16:creationId xmlns:a16="http://schemas.microsoft.com/office/drawing/2014/main" id="{F7BB0F9B-022D-4413-0490-B9262A61DB45}"/>
              </a:ext>
            </a:extLst>
          </p:cNvPr>
          <p:cNvPicPr>
            <a:picLocks noChangeAspect="1"/>
          </p:cNvPicPr>
          <p:nvPr/>
        </p:nvPicPr>
        <p:blipFill>
          <a:blip r:embed="rId2"/>
          <a:stretch>
            <a:fillRect/>
          </a:stretch>
        </p:blipFill>
        <p:spPr>
          <a:xfrm>
            <a:off x="5895975" y="1952624"/>
            <a:ext cx="5808133" cy="3267075"/>
          </a:xfrm>
          <a:prstGeom prst="rect">
            <a:avLst/>
          </a:prstGeom>
        </p:spPr>
      </p:pic>
      <p:sp>
        <p:nvSpPr>
          <p:cNvPr id="8" name="CuadroTexto 7">
            <a:extLst>
              <a:ext uri="{FF2B5EF4-FFF2-40B4-BE49-F238E27FC236}">
                <a16:creationId xmlns:a16="http://schemas.microsoft.com/office/drawing/2014/main" id="{16381901-2450-8B71-28DB-905CD77C6125}"/>
              </a:ext>
            </a:extLst>
          </p:cNvPr>
          <p:cNvSpPr txBox="1"/>
          <p:nvPr/>
        </p:nvSpPr>
        <p:spPr>
          <a:xfrm>
            <a:off x="838200" y="2282369"/>
            <a:ext cx="3524250" cy="369332"/>
          </a:xfrm>
          <a:prstGeom prst="rect">
            <a:avLst/>
          </a:prstGeom>
          <a:noFill/>
        </p:spPr>
        <p:txBody>
          <a:bodyPr wrap="square">
            <a:spAutoFit/>
          </a:bodyPr>
          <a:lstStyle>
            <a:defPPr>
              <a:defRPr lang="es-MX"/>
            </a:defPPr>
            <a:lvl1pPr algn="just">
              <a:buNone/>
              <a:defRPr sz="2800"/>
            </a:lvl1pPr>
          </a:lstStyle>
          <a:p>
            <a:r>
              <a:rPr lang="es-MX" dirty="0"/>
              <a:t>Prueba: ingresar a + b.</a:t>
            </a:r>
          </a:p>
        </p:txBody>
      </p:sp>
    </p:spTree>
    <p:extLst>
      <p:ext uri="{BB962C8B-B14F-4D97-AF65-F5344CB8AC3E}">
        <p14:creationId xmlns:p14="http://schemas.microsoft.com/office/powerpoint/2010/main" val="3764095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351D-9AD1-D5DC-0225-494A1A10A1A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A595BC-7242-4D43-C8A4-4AFAC9DDE4C7}"/>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Ejercicio 2 Pila semántica: almacenamiento de varios elementos</a:t>
            </a:r>
          </a:p>
        </p:txBody>
      </p:sp>
      <p:sp>
        <p:nvSpPr>
          <p:cNvPr id="12" name="CuadroTexto 11">
            <a:extLst>
              <a:ext uri="{FF2B5EF4-FFF2-40B4-BE49-F238E27FC236}">
                <a16:creationId xmlns:a16="http://schemas.microsoft.com/office/drawing/2014/main" id="{84113894-3859-FB2D-88B7-DA2E0BD741CA}"/>
              </a:ext>
            </a:extLst>
          </p:cNvPr>
          <p:cNvSpPr txBox="1"/>
          <p:nvPr/>
        </p:nvSpPr>
        <p:spPr>
          <a:xfrm>
            <a:off x="838200" y="2956143"/>
            <a:ext cx="4143374" cy="1938992"/>
          </a:xfrm>
          <a:prstGeom prst="rect">
            <a:avLst/>
          </a:prstGeom>
          <a:noFill/>
        </p:spPr>
        <p:txBody>
          <a:bodyPr wrap="square">
            <a:spAutoFit/>
          </a:bodyPr>
          <a:lstStyle>
            <a:defPPr>
              <a:defRPr lang="es-MX"/>
            </a:defPPr>
            <a:lvl1pPr algn="just">
              <a:buNone/>
              <a:defRPr sz="2800"/>
            </a:lvl1pPr>
          </a:lstStyle>
          <a:p>
            <a:r>
              <a:rPr lang="es-MX" sz="2000" dirty="0"/>
              <a:t>El compilador permitió almacenar varios elementos dentro de la pila semántica, mostrando que esta estructura puede conservar distintas expresiones para su posterior uso durante el análisis.</a:t>
            </a:r>
          </a:p>
        </p:txBody>
      </p:sp>
      <p:sp>
        <p:nvSpPr>
          <p:cNvPr id="14" name="CuadroTexto 13">
            <a:extLst>
              <a:ext uri="{FF2B5EF4-FFF2-40B4-BE49-F238E27FC236}">
                <a16:creationId xmlns:a16="http://schemas.microsoft.com/office/drawing/2014/main" id="{9A658624-8B28-1E46-540A-C3E63313E9CB}"/>
              </a:ext>
            </a:extLst>
          </p:cNvPr>
          <p:cNvSpPr txBox="1"/>
          <p:nvPr/>
        </p:nvSpPr>
        <p:spPr>
          <a:xfrm>
            <a:off x="914400" y="1815584"/>
            <a:ext cx="4067175" cy="1015663"/>
          </a:xfrm>
          <a:prstGeom prst="rect">
            <a:avLst/>
          </a:prstGeom>
          <a:noFill/>
        </p:spPr>
        <p:txBody>
          <a:bodyPr wrap="square">
            <a:spAutoFit/>
          </a:bodyPr>
          <a:lstStyle>
            <a:defPPr>
              <a:defRPr lang="es-MX"/>
            </a:defPPr>
            <a:lvl1pPr algn="just">
              <a:buNone/>
              <a:defRPr sz="2800"/>
            </a:lvl1pPr>
          </a:lstStyle>
          <a:p>
            <a:r>
              <a:rPr lang="es-MX" sz="2000" dirty="0"/>
              <a:t>Prueba: ingresar de forma sucesiva a + b, a + b * c y (a + b) * c, presionando PUSH en cada caso.</a:t>
            </a:r>
          </a:p>
        </p:txBody>
      </p:sp>
      <p:pic>
        <p:nvPicPr>
          <p:cNvPr id="16" name="Imagen 15">
            <a:extLst>
              <a:ext uri="{FF2B5EF4-FFF2-40B4-BE49-F238E27FC236}">
                <a16:creationId xmlns:a16="http://schemas.microsoft.com/office/drawing/2014/main" id="{30BCFF09-27FF-B2FB-AA65-69853F3ABB6D}"/>
              </a:ext>
            </a:extLst>
          </p:cNvPr>
          <p:cNvPicPr>
            <a:picLocks noChangeAspect="1"/>
          </p:cNvPicPr>
          <p:nvPr/>
        </p:nvPicPr>
        <p:blipFill>
          <a:blip r:embed="rId2"/>
          <a:stretch>
            <a:fillRect/>
          </a:stretch>
        </p:blipFill>
        <p:spPr>
          <a:xfrm>
            <a:off x="5367868" y="2457450"/>
            <a:ext cx="5841998" cy="3286124"/>
          </a:xfrm>
          <a:prstGeom prst="rect">
            <a:avLst/>
          </a:prstGeom>
        </p:spPr>
      </p:pic>
    </p:spTree>
    <p:extLst>
      <p:ext uri="{BB962C8B-B14F-4D97-AF65-F5344CB8AC3E}">
        <p14:creationId xmlns:p14="http://schemas.microsoft.com/office/powerpoint/2010/main" val="14136262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D349-0949-8D53-85A5-6C2401F533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BA7C04C-BC6B-851E-5501-70B2F2EAC415}"/>
              </a:ext>
            </a:extLst>
          </p:cNvPr>
          <p:cNvSpPr>
            <a:spLocks noGrp="1"/>
          </p:cNvSpPr>
          <p:nvPr>
            <p:ph type="title"/>
          </p:nvPr>
        </p:nvSpPr>
        <p:spPr>
          <a:xfrm>
            <a:off x="838200" y="272345"/>
            <a:ext cx="10515600" cy="1325563"/>
          </a:xfrm>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Ejercicio 3. Pila semántica: eliminación de un elemento</a:t>
            </a:r>
          </a:p>
        </p:txBody>
      </p:sp>
      <p:sp>
        <p:nvSpPr>
          <p:cNvPr id="4" name="CuadroTexto 3">
            <a:extLst>
              <a:ext uri="{FF2B5EF4-FFF2-40B4-BE49-F238E27FC236}">
                <a16:creationId xmlns:a16="http://schemas.microsoft.com/office/drawing/2014/main" id="{C876B803-D47E-879D-FF3E-8CA1C32151E5}"/>
              </a:ext>
            </a:extLst>
          </p:cNvPr>
          <p:cNvSpPr txBox="1"/>
          <p:nvPr/>
        </p:nvSpPr>
        <p:spPr>
          <a:xfrm>
            <a:off x="1304924" y="3943468"/>
            <a:ext cx="4333876" cy="646331"/>
          </a:xfrm>
          <a:prstGeom prst="rect">
            <a:avLst/>
          </a:prstGeom>
          <a:noFill/>
        </p:spPr>
        <p:txBody>
          <a:bodyPr wrap="square">
            <a:spAutoFit/>
          </a:bodyPr>
          <a:lstStyle>
            <a:defPPr>
              <a:defRPr lang="es-MX"/>
            </a:defPPr>
            <a:lvl1pPr algn="just">
              <a:buNone/>
              <a:defRPr sz="2000"/>
            </a:lvl1pPr>
          </a:lstStyle>
          <a:p>
            <a:r>
              <a:rPr lang="es-MX" dirty="0"/>
              <a:t>Prueba: después de insertar varias expresiones, presionar POP.</a:t>
            </a:r>
          </a:p>
        </p:txBody>
      </p:sp>
      <p:sp>
        <p:nvSpPr>
          <p:cNvPr id="6" name="CuadroTexto 5">
            <a:extLst>
              <a:ext uri="{FF2B5EF4-FFF2-40B4-BE49-F238E27FC236}">
                <a16:creationId xmlns:a16="http://schemas.microsoft.com/office/drawing/2014/main" id="{D3683F42-F6BB-75A5-6A78-84BD9BECBD0F}"/>
              </a:ext>
            </a:extLst>
          </p:cNvPr>
          <p:cNvSpPr txBox="1"/>
          <p:nvPr/>
        </p:nvSpPr>
        <p:spPr>
          <a:xfrm>
            <a:off x="1209674" y="4744134"/>
            <a:ext cx="4524375" cy="1631216"/>
          </a:xfrm>
          <a:prstGeom prst="rect">
            <a:avLst/>
          </a:prstGeom>
          <a:noFill/>
        </p:spPr>
        <p:txBody>
          <a:bodyPr wrap="square">
            <a:spAutoFit/>
          </a:bodyPr>
          <a:lstStyle>
            <a:defPPr>
              <a:defRPr lang="es-MX"/>
            </a:defPPr>
            <a:lvl1pPr algn="just">
              <a:buNone/>
              <a:defRPr sz="2000"/>
            </a:lvl1pPr>
          </a:lstStyle>
          <a:p>
            <a:r>
              <a:rPr lang="es-MX" dirty="0"/>
              <a:t>El compilador eliminó el elemento más reciente almacenado en la pila semántica mediante la operación POP, comprobando el funcionamiento básico de esta estructura de tipo LIFO. </a:t>
            </a:r>
          </a:p>
        </p:txBody>
      </p:sp>
      <p:pic>
        <p:nvPicPr>
          <p:cNvPr id="10" name="Imagen 9">
            <a:extLst>
              <a:ext uri="{FF2B5EF4-FFF2-40B4-BE49-F238E27FC236}">
                <a16:creationId xmlns:a16="http://schemas.microsoft.com/office/drawing/2014/main" id="{B8C98CD9-0C80-1F8A-45BA-0E28926A177A}"/>
              </a:ext>
            </a:extLst>
          </p:cNvPr>
          <p:cNvPicPr>
            <a:picLocks noChangeAspect="1"/>
          </p:cNvPicPr>
          <p:nvPr/>
        </p:nvPicPr>
        <p:blipFill>
          <a:blip r:embed="rId2"/>
          <a:stretch>
            <a:fillRect/>
          </a:stretch>
        </p:blipFill>
        <p:spPr>
          <a:xfrm>
            <a:off x="1468254" y="1690688"/>
            <a:ext cx="3839999" cy="2160000"/>
          </a:xfrm>
          <a:prstGeom prst="rect">
            <a:avLst/>
          </a:prstGeom>
        </p:spPr>
      </p:pic>
      <p:pic>
        <p:nvPicPr>
          <p:cNvPr id="12" name="Imagen 11">
            <a:extLst>
              <a:ext uri="{FF2B5EF4-FFF2-40B4-BE49-F238E27FC236}">
                <a16:creationId xmlns:a16="http://schemas.microsoft.com/office/drawing/2014/main" id="{BFF9863D-ADA7-3187-E342-125BD55BCAD1}"/>
              </a:ext>
            </a:extLst>
          </p:cNvPr>
          <p:cNvPicPr>
            <a:picLocks noChangeAspect="1"/>
          </p:cNvPicPr>
          <p:nvPr/>
        </p:nvPicPr>
        <p:blipFill>
          <a:blip r:embed="rId3"/>
          <a:stretch>
            <a:fillRect/>
          </a:stretch>
        </p:blipFill>
        <p:spPr>
          <a:xfrm>
            <a:off x="6205007" y="1690688"/>
            <a:ext cx="3839999" cy="2160000"/>
          </a:xfrm>
          <a:prstGeom prst="rect">
            <a:avLst/>
          </a:prstGeom>
        </p:spPr>
      </p:pic>
      <p:pic>
        <p:nvPicPr>
          <p:cNvPr id="14" name="Imagen 13">
            <a:extLst>
              <a:ext uri="{FF2B5EF4-FFF2-40B4-BE49-F238E27FC236}">
                <a16:creationId xmlns:a16="http://schemas.microsoft.com/office/drawing/2014/main" id="{03FE33EF-5584-C5CD-D701-DDD97481A30E}"/>
              </a:ext>
            </a:extLst>
          </p:cNvPr>
          <p:cNvPicPr>
            <a:picLocks noChangeAspect="1"/>
          </p:cNvPicPr>
          <p:nvPr/>
        </p:nvPicPr>
        <p:blipFill>
          <a:blip r:embed="rId4"/>
          <a:stretch>
            <a:fillRect/>
          </a:stretch>
        </p:blipFill>
        <p:spPr>
          <a:xfrm>
            <a:off x="6216647" y="4211136"/>
            <a:ext cx="3840000" cy="2160000"/>
          </a:xfrm>
          <a:prstGeom prst="rect">
            <a:avLst/>
          </a:prstGeom>
        </p:spPr>
      </p:pic>
    </p:spTree>
    <p:extLst>
      <p:ext uri="{BB962C8B-B14F-4D97-AF65-F5344CB8AC3E}">
        <p14:creationId xmlns:p14="http://schemas.microsoft.com/office/powerpoint/2010/main" val="8360432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BFB20-261B-7F23-03D0-FFCD15C332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3B1C4E-341B-BBD2-038F-3FC3FE4A7EE8}"/>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Explicación de las pruebas – Pila semántica</a:t>
            </a:r>
          </a:p>
        </p:txBody>
      </p:sp>
      <p:sp>
        <p:nvSpPr>
          <p:cNvPr id="4" name="CuadroTexto 3">
            <a:extLst>
              <a:ext uri="{FF2B5EF4-FFF2-40B4-BE49-F238E27FC236}">
                <a16:creationId xmlns:a16="http://schemas.microsoft.com/office/drawing/2014/main" id="{B567BADE-F8A7-E54B-E7C5-EED8ABFC92CC}"/>
              </a:ext>
            </a:extLst>
          </p:cNvPr>
          <p:cNvSpPr txBox="1"/>
          <p:nvPr/>
        </p:nvSpPr>
        <p:spPr>
          <a:xfrm>
            <a:off x="933449" y="2413338"/>
            <a:ext cx="9782175" cy="3108543"/>
          </a:xfrm>
          <a:prstGeom prst="rect">
            <a:avLst/>
          </a:prstGeom>
          <a:noFill/>
        </p:spPr>
        <p:txBody>
          <a:bodyPr wrap="square">
            <a:spAutoFit/>
          </a:bodyPr>
          <a:lstStyle>
            <a:defPPr>
              <a:defRPr lang="es-MX"/>
            </a:defPPr>
            <a:lvl1pPr algn="just">
              <a:buNone/>
              <a:defRPr sz="2800"/>
            </a:lvl1pPr>
          </a:lstStyle>
          <a:p>
            <a:r>
              <a:rPr lang="es-MX" dirty="0"/>
              <a:t>La pila semántica es una estructura que permite almacenar temporalmente elementos utilizados durante el análisis de expresiones.</a:t>
            </a:r>
            <a:br>
              <a:rPr lang="es-MX" dirty="0"/>
            </a:br>
            <a:r>
              <a:rPr lang="es-MX" dirty="0"/>
              <a:t>En este módulo, el compilador permite insertar elementos con la operación PUSH y retirarlos con la operación POP.</a:t>
            </a:r>
            <a:br>
              <a:rPr lang="es-MX" dirty="0"/>
            </a:br>
            <a:r>
              <a:rPr lang="es-MX" dirty="0"/>
              <a:t>De esta manera, se representa el funcionamiento básico de una pila, donde el último elemento en entrar es el primero en salir.</a:t>
            </a:r>
          </a:p>
        </p:txBody>
      </p:sp>
    </p:spTree>
    <p:extLst>
      <p:ext uri="{BB962C8B-B14F-4D97-AF65-F5344CB8AC3E}">
        <p14:creationId xmlns:p14="http://schemas.microsoft.com/office/powerpoint/2010/main" val="25383030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2DE2A-C2A7-5E54-E19C-9185F9177E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0D89B2-4339-099E-A413-86A27638633C}"/>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Tema 1 Esquema de traducción</a:t>
            </a:r>
          </a:p>
        </p:txBody>
      </p:sp>
      <p:pic>
        <p:nvPicPr>
          <p:cNvPr id="4" name="Imagen 3">
            <a:extLst>
              <a:ext uri="{FF2B5EF4-FFF2-40B4-BE49-F238E27FC236}">
                <a16:creationId xmlns:a16="http://schemas.microsoft.com/office/drawing/2014/main" id="{35445B83-D74F-96C9-AFEB-EA812769F6C5}"/>
              </a:ext>
            </a:extLst>
          </p:cNvPr>
          <p:cNvPicPr>
            <a:picLocks noChangeAspect="1"/>
          </p:cNvPicPr>
          <p:nvPr/>
        </p:nvPicPr>
        <p:blipFill>
          <a:blip r:embed="rId2"/>
          <a:stretch>
            <a:fillRect/>
          </a:stretch>
        </p:blipFill>
        <p:spPr>
          <a:xfrm>
            <a:off x="3343275" y="2134790"/>
            <a:ext cx="7448550" cy="4189809"/>
          </a:xfrm>
          <a:prstGeom prst="rect">
            <a:avLst/>
          </a:prstGeom>
        </p:spPr>
      </p:pic>
    </p:spTree>
    <p:extLst>
      <p:ext uri="{BB962C8B-B14F-4D97-AF65-F5344CB8AC3E}">
        <p14:creationId xmlns:p14="http://schemas.microsoft.com/office/powerpoint/2010/main" val="165659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10DF6-1E49-6C78-F178-646904E08D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74283A8-F500-209D-AA17-738C590E6E75}"/>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Ejercicio 1. Esquema de traducción: expresión simple</a:t>
            </a:r>
          </a:p>
        </p:txBody>
      </p:sp>
      <p:sp>
        <p:nvSpPr>
          <p:cNvPr id="6" name="CuadroTexto 5">
            <a:extLst>
              <a:ext uri="{FF2B5EF4-FFF2-40B4-BE49-F238E27FC236}">
                <a16:creationId xmlns:a16="http://schemas.microsoft.com/office/drawing/2014/main" id="{E77115AA-284D-A9AF-CB11-5527922E8517}"/>
              </a:ext>
            </a:extLst>
          </p:cNvPr>
          <p:cNvSpPr txBox="1"/>
          <p:nvPr/>
        </p:nvSpPr>
        <p:spPr>
          <a:xfrm>
            <a:off x="838200" y="1985962"/>
            <a:ext cx="3676650" cy="4401205"/>
          </a:xfrm>
          <a:prstGeom prst="rect">
            <a:avLst/>
          </a:prstGeom>
          <a:noFill/>
        </p:spPr>
        <p:txBody>
          <a:bodyPr wrap="square">
            <a:spAutoFit/>
          </a:bodyPr>
          <a:lstStyle>
            <a:defPPr>
              <a:defRPr lang="es-MX"/>
            </a:defPPr>
            <a:lvl1pPr algn="just">
              <a:buNone/>
              <a:defRPr sz="2800"/>
            </a:lvl1pPr>
          </a:lstStyle>
          <a:p>
            <a:r>
              <a:rPr lang="es-MX" sz="2000" dirty="0"/>
              <a:t>Prueba: ingresar a + b y presionar Analizar expresión. </a:t>
            </a:r>
          </a:p>
          <a:p>
            <a:r>
              <a:rPr lang="es-MX" sz="2000" dirty="0"/>
              <a:t>el programa reconoce los identificadores y determina que la expresión pertenece a la gramática. </a:t>
            </a:r>
          </a:p>
          <a:p>
            <a:r>
              <a:rPr lang="es-MX" sz="2000" dirty="0"/>
              <a:t> El compilador aplicó las producciones correspondientes para reconocer los identificadores a y b y la operación de suma, determinando que la expresión es válida.</a:t>
            </a:r>
          </a:p>
          <a:p>
            <a:endParaRPr lang="es-MX" sz="2000" dirty="0"/>
          </a:p>
        </p:txBody>
      </p:sp>
      <p:pic>
        <p:nvPicPr>
          <p:cNvPr id="8" name="Imagen 7">
            <a:extLst>
              <a:ext uri="{FF2B5EF4-FFF2-40B4-BE49-F238E27FC236}">
                <a16:creationId xmlns:a16="http://schemas.microsoft.com/office/drawing/2014/main" id="{D848AAB9-EAC5-7354-36DC-D1DE7F05ACF4}"/>
              </a:ext>
            </a:extLst>
          </p:cNvPr>
          <p:cNvPicPr>
            <a:picLocks noChangeAspect="1"/>
          </p:cNvPicPr>
          <p:nvPr/>
        </p:nvPicPr>
        <p:blipFill>
          <a:blip r:embed="rId2"/>
          <a:stretch>
            <a:fillRect/>
          </a:stretch>
        </p:blipFill>
        <p:spPr>
          <a:xfrm>
            <a:off x="5103282" y="2038349"/>
            <a:ext cx="6824133" cy="3838575"/>
          </a:xfrm>
          <a:prstGeom prst="rect">
            <a:avLst/>
          </a:prstGeom>
        </p:spPr>
      </p:pic>
    </p:spTree>
    <p:extLst>
      <p:ext uri="{BB962C8B-B14F-4D97-AF65-F5344CB8AC3E}">
        <p14:creationId xmlns:p14="http://schemas.microsoft.com/office/powerpoint/2010/main" val="3100714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A494D-D5B6-77D4-E573-CBA4352E6B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1031C2-FB53-713B-66E9-8285B110CD82}"/>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Ejercicio 2. Esquema de traducción: prioridad de operadores</a:t>
            </a:r>
          </a:p>
        </p:txBody>
      </p:sp>
      <p:sp>
        <p:nvSpPr>
          <p:cNvPr id="4" name="CuadroTexto 3">
            <a:extLst>
              <a:ext uri="{FF2B5EF4-FFF2-40B4-BE49-F238E27FC236}">
                <a16:creationId xmlns:a16="http://schemas.microsoft.com/office/drawing/2014/main" id="{74AEEC1D-4170-7597-2F0C-90A222A7C428}"/>
              </a:ext>
            </a:extLst>
          </p:cNvPr>
          <p:cNvSpPr txBox="1"/>
          <p:nvPr/>
        </p:nvSpPr>
        <p:spPr>
          <a:xfrm>
            <a:off x="600075" y="2566511"/>
            <a:ext cx="4343400" cy="2308324"/>
          </a:xfrm>
          <a:prstGeom prst="rect">
            <a:avLst/>
          </a:prstGeom>
          <a:noFill/>
        </p:spPr>
        <p:txBody>
          <a:bodyPr wrap="square">
            <a:spAutoFit/>
          </a:bodyPr>
          <a:lstStyle/>
          <a:p>
            <a:pPr lvl="0"/>
            <a:r>
              <a:rPr lang="es-MX" b="1" dirty="0"/>
              <a:t>Prueba:</a:t>
            </a:r>
            <a:r>
              <a:rPr lang="es-MX" dirty="0"/>
              <a:t> ingresar a + b * c. </a:t>
            </a:r>
          </a:p>
          <a:p>
            <a:pPr lvl="0"/>
            <a:r>
              <a:rPr lang="es-MX" dirty="0"/>
              <a:t>la expresión es reconocida correctamente mediante las producciones de E, T y F. </a:t>
            </a:r>
          </a:p>
          <a:p>
            <a:pPr lvl="0"/>
            <a:r>
              <a:rPr lang="es-MX" dirty="0"/>
              <a:t>Y el compilador analizó la expresión mediante las reglas de la gramática, identificando la suma y la multiplicación y respetando la estructura correspondiente a cada producción.</a:t>
            </a:r>
          </a:p>
        </p:txBody>
      </p:sp>
      <p:pic>
        <p:nvPicPr>
          <p:cNvPr id="5" name="Imagen 4">
            <a:extLst>
              <a:ext uri="{FF2B5EF4-FFF2-40B4-BE49-F238E27FC236}">
                <a16:creationId xmlns:a16="http://schemas.microsoft.com/office/drawing/2014/main" id="{4ABF992F-DBE2-2A0A-E59A-C4E2346BA2DD}"/>
              </a:ext>
            </a:extLst>
          </p:cNvPr>
          <p:cNvPicPr>
            <a:picLocks noChangeAspect="1"/>
          </p:cNvPicPr>
          <p:nvPr/>
        </p:nvPicPr>
        <p:blipFill>
          <a:blip r:embed="rId2"/>
          <a:stretch>
            <a:fillRect/>
          </a:stretch>
        </p:blipFill>
        <p:spPr>
          <a:xfrm>
            <a:off x="6326716" y="2009775"/>
            <a:ext cx="4741333" cy="2667000"/>
          </a:xfrm>
          <a:prstGeom prst="rect">
            <a:avLst/>
          </a:prstGeom>
        </p:spPr>
      </p:pic>
    </p:spTree>
    <p:extLst>
      <p:ext uri="{BB962C8B-B14F-4D97-AF65-F5344CB8AC3E}">
        <p14:creationId xmlns:p14="http://schemas.microsoft.com/office/powerpoint/2010/main" val="2008189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FC1DE-BB7D-1741-E070-FD36F07E8E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69FC5C-2FD5-5F3F-1568-033C0668D73D}"/>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Ejercicio 3. Esquema de traducción: expresión no válida</a:t>
            </a:r>
          </a:p>
        </p:txBody>
      </p:sp>
      <p:sp>
        <p:nvSpPr>
          <p:cNvPr id="6" name="CuadroTexto 5">
            <a:extLst>
              <a:ext uri="{FF2B5EF4-FFF2-40B4-BE49-F238E27FC236}">
                <a16:creationId xmlns:a16="http://schemas.microsoft.com/office/drawing/2014/main" id="{96180D19-4B68-93A4-8FDA-87346E8B6C32}"/>
              </a:ext>
            </a:extLst>
          </p:cNvPr>
          <p:cNvSpPr txBox="1"/>
          <p:nvPr/>
        </p:nvSpPr>
        <p:spPr>
          <a:xfrm>
            <a:off x="942975" y="2207806"/>
            <a:ext cx="3800475" cy="3785652"/>
          </a:xfrm>
          <a:prstGeom prst="rect">
            <a:avLst/>
          </a:prstGeom>
          <a:noFill/>
        </p:spPr>
        <p:txBody>
          <a:bodyPr wrap="square">
            <a:spAutoFit/>
          </a:bodyPr>
          <a:lstStyle>
            <a:defPPr>
              <a:defRPr lang="es-MX"/>
            </a:defPPr>
            <a:lvl1pPr algn="just">
              <a:buNone/>
              <a:defRPr sz="2000"/>
            </a:lvl1pPr>
          </a:lstStyle>
          <a:p>
            <a:r>
              <a:rPr lang="es-MX" dirty="0"/>
              <a:t>Prueba: ingresar a + * b. </a:t>
            </a:r>
          </a:p>
          <a:p>
            <a:endParaRPr lang="es-MX" dirty="0"/>
          </a:p>
          <a:p>
            <a:r>
              <a:rPr lang="es-MX" dirty="0"/>
              <a:t>el programa indica que la expresión no pertenece a la gramática. </a:t>
            </a:r>
          </a:p>
          <a:p>
            <a:r>
              <a:rPr lang="es-MX" dirty="0"/>
              <a:t>Y El compilador detectó que después del operador + no aparece un identificador, número o expresión válida, por lo que la cadena no cumple con las producciones definidas en la gramática.</a:t>
            </a:r>
          </a:p>
        </p:txBody>
      </p:sp>
      <p:pic>
        <p:nvPicPr>
          <p:cNvPr id="5" name="Imagen 4">
            <a:extLst>
              <a:ext uri="{FF2B5EF4-FFF2-40B4-BE49-F238E27FC236}">
                <a16:creationId xmlns:a16="http://schemas.microsoft.com/office/drawing/2014/main" id="{E6A7756B-8BBB-FFA5-286C-30BD58B21047}"/>
              </a:ext>
            </a:extLst>
          </p:cNvPr>
          <p:cNvPicPr>
            <a:picLocks noChangeAspect="1"/>
          </p:cNvPicPr>
          <p:nvPr/>
        </p:nvPicPr>
        <p:blipFill>
          <a:blip r:embed="rId2"/>
          <a:stretch>
            <a:fillRect/>
          </a:stretch>
        </p:blipFill>
        <p:spPr>
          <a:xfrm>
            <a:off x="4943475" y="2297728"/>
            <a:ext cx="6410325" cy="3605808"/>
          </a:xfrm>
          <a:prstGeom prst="rect">
            <a:avLst/>
          </a:prstGeom>
        </p:spPr>
      </p:pic>
    </p:spTree>
    <p:extLst>
      <p:ext uri="{BB962C8B-B14F-4D97-AF65-F5344CB8AC3E}">
        <p14:creationId xmlns:p14="http://schemas.microsoft.com/office/powerpoint/2010/main" val="37988644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A39E5D-BDD2-AD36-81B3-7600FC52A819}"/>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ea typeface="+mn-ea"/>
                <a:cs typeface="Arial" panose="020B0604020202020204" pitchFamily="34" charset="0"/>
              </a:rPr>
              <a:t>Explicación de las pruebas-</a:t>
            </a:r>
            <a:r>
              <a:rPr lang="es-MX" b="1" kern="0" dirty="0">
                <a:solidFill>
                  <a:schemeClr val="accent1"/>
                </a:solidFill>
                <a:cs typeface="Arial" panose="020B0604020202020204" pitchFamily="34" charset="0"/>
              </a:rPr>
              <a:t> Esquema de traducción</a:t>
            </a:r>
            <a:endParaRPr lang="es-MX" b="1" kern="0" dirty="0">
              <a:solidFill>
                <a:schemeClr val="accent1"/>
              </a:solidFill>
              <a:ea typeface="+mn-ea"/>
              <a:cs typeface="Arial" panose="020B0604020202020204" pitchFamily="34" charset="0"/>
            </a:endParaRPr>
          </a:p>
        </p:txBody>
      </p:sp>
      <p:sp>
        <p:nvSpPr>
          <p:cNvPr id="4" name="CuadroTexto 3">
            <a:extLst>
              <a:ext uri="{FF2B5EF4-FFF2-40B4-BE49-F238E27FC236}">
                <a16:creationId xmlns:a16="http://schemas.microsoft.com/office/drawing/2014/main" id="{FF0BC53E-D203-4886-F6E2-10C4EE896016}"/>
              </a:ext>
            </a:extLst>
          </p:cNvPr>
          <p:cNvSpPr txBox="1"/>
          <p:nvPr/>
        </p:nvSpPr>
        <p:spPr>
          <a:xfrm>
            <a:off x="1083365" y="2413338"/>
            <a:ext cx="10108096" cy="2677656"/>
          </a:xfrm>
          <a:prstGeom prst="rect">
            <a:avLst/>
          </a:prstGeom>
          <a:noFill/>
        </p:spPr>
        <p:txBody>
          <a:bodyPr wrap="square">
            <a:spAutoFit/>
          </a:bodyPr>
          <a:lstStyle>
            <a:defPPr>
              <a:defRPr lang="es-MX"/>
            </a:defPPr>
            <a:lvl1pPr algn="just">
              <a:buNone/>
              <a:defRPr sz="2000"/>
            </a:lvl1pPr>
          </a:lstStyle>
          <a:p>
            <a:r>
              <a:rPr lang="es-MX" sz="2800" dirty="0"/>
              <a:t>Las pruebas permitieron comprobar cómo el compilador analiza expresiones utilizando las producciones definidas en la gramática.</a:t>
            </a:r>
          </a:p>
          <a:p>
            <a:r>
              <a:rPr lang="es-MX" sz="2800" dirty="0"/>
              <a:t>Se utilizaron expresiones simples, expresiones con diferentes operadores y una expresión incorrecta para verificar que el programa pueda distinguir entre cadenas válidas y cadenas que no pertenecen a la gramática.</a:t>
            </a:r>
          </a:p>
        </p:txBody>
      </p:sp>
    </p:spTree>
    <p:extLst>
      <p:ext uri="{BB962C8B-B14F-4D97-AF65-F5344CB8AC3E}">
        <p14:creationId xmlns:p14="http://schemas.microsoft.com/office/powerpoint/2010/main" val="310740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B1F1E-64B3-4430-723C-6982EFFA39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7408416-4F35-AD9E-3335-51697A051061}"/>
              </a:ext>
            </a:extLst>
          </p:cNvPr>
          <p:cNvSpPr>
            <a:spLocks noGrp="1"/>
          </p:cNvSpPr>
          <p:nvPr>
            <p:ph type="title"/>
          </p:nvPr>
        </p:nvSpPr>
        <p:spPr/>
        <p:txBody>
          <a:bodyPr/>
          <a:lstStyle/>
          <a:p>
            <a:pPr>
              <a:spcBef>
                <a:spcPts val="1000"/>
              </a:spcBef>
            </a:pPr>
            <a:r>
              <a:rPr lang="es-MX" b="1" kern="0" dirty="0">
                <a:solidFill>
                  <a:schemeClr val="accent1"/>
                </a:solidFill>
                <a:cs typeface="Arial" panose="020B0604020202020204" pitchFamily="34" charset="0"/>
              </a:rPr>
              <a:t>Tema 1 tabla de </a:t>
            </a:r>
            <a:r>
              <a:rPr lang="es-MX" b="1" kern="0" dirty="0" err="1">
                <a:solidFill>
                  <a:schemeClr val="accent1"/>
                </a:solidFill>
                <a:cs typeface="Arial" panose="020B0604020202020204" pitchFamily="34" charset="0"/>
              </a:rPr>
              <a:t>simbolos</a:t>
            </a:r>
            <a:endParaRPr lang="es-MX" b="1" kern="0" dirty="0">
              <a:solidFill>
                <a:schemeClr val="accent1"/>
              </a:solidFill>
              <a:ea typeface="+mn-ea"/>
              <a:cs typeface="Arial" panose="020B0604020202020204" pitchFamily="34" charset="0"/>
            </a:endParaRPr>
          </a:p>
        </p:txBody>
      </p:sp>
      <p:pic>
        <p:nvPicPr>
          <p:cNvPr id="4" name="Imagen 3">
            <a:extLst>
              <a:ext uri="{FF2B5EF4-FFF2-40B4-BE49-F238E27FC236}">
                <a16:creationId xmlns:a16="http://schemas.microsoft.com/office/drawing/2014/main" id="{64569847-61A9-1F79-AD19-3A9B3FDD6E28}"/>
              </a:ext>
            </a:extLst>
          </p:cNvPr>
          <p:cNvPicPr>
            <a:picLocks noChangeAspect="1"/>
          </p:cNvPicPr>
          <p:nvPr/>
        </p:nvPicPr>
        <p:blipFill>
          <a:blip r:embed="rId2"/>
          <a:stretch>
            <a:fillRect/>
          </a:stretch>
        </p:blipFill>
        <p:spPr>
          <a:xfrm>
            <a:off x="3343275" y="2134790"/>
            <a:ext cx="7448550" cy="4189809"/>
          </a:xfrm>
          <a:prstGeom prst="rect">
            <a:avLst/>
          </a:prstGeom>
        </p:spPr>
      </p:pic>
    </p:spTree>
    <p:extLst>
      <p:ext uri="{BB962C8B-B14F-4D97-AF65-F5344CB8AC3E}">
        <p14:creationId xmlns:p14="http://schemas.microsoft.com/office/powerpoint/2010/main" val="3449575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B0B78-C50A-2CA8-111A-3EFE8B3830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A74618-FB64-BF5E-4965-18F2597F5F35}"/>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cs typeface="Arial" panose="020B0604020202020204" pitchFamily="34" charset="0"/>
              </a:rPr>
              <a:t>Ejercicio 1. Tabla de símbolos: registro de una variable</a:t>
            </a:r>
          </a:p>
        </p:txBody>
      </p:sp>
      <p:sp>
        <p:nvSpPr>
          <p:cNvPr id="4" name="CuadroTexto 3">
            <a:extLst>
              <a:ext uri="{FF2B5EF4-FFF2-40B4-BE49-F238E27FC236}">
                <a16:creationId xmlns:a16="http://schemas.microsoft.com/office/drawing/2014/main" id="{FE4345CB-8E41-EC6E-3388-FE1BAEDF61AD}"/>
              </a:ext>
            </a:extLst>
          </p:cNvPr>
          <p:cNvSpPr txBox="1"/>
          <p:nvPr/>
        </p:nvSpPr>
        <p:spPr>
          <a:xfrm>
            <a:off x="723900" y="2170746"/>
            <a:ext cx="4343400" cy="3108543"/>
          </a:xfrm>
          <a:prstGeom prst="rect">
            <a:avLst/>
          </a:prstGeom>
          <a:noFill/>
        </p:spPr>
        <p:txBody>
          <a:bodyPr wrap="square">
            <a:spAutoFit/>
          </a:bodyPr>
          <a:lstStyle/>
          <a:p>
            <a:pPr lvl="0"/>
            <a:r>
              <a:rPr lang="es-MX" sz="2800" dirty="0"/>
              <a:t>El compilador registró el identificador </a:t>
            </a:r>
            <a:r>
              <a:rPr lang="es-MX" sz="2800" dirty="0">
                <a:latin typeface="+mn-lt"/>
              </a:rPr>
              <a:t>x</a:t>
            </a:r>
            <a:r>
              <a:rPr lang="es-MX" sz="2800" dirty="0"/>
              <a:t> junto con su tipo </a:t>
            </a:r>
            <a:r>
              <a:rPr lang="es-MX" sz="2800" dirty="0" err="1">
                <a:latin typeface="+mn-lt"/>
              </a:rPr>
              <a:t>int</a:t>
            </a:r>
            <a:r>
              <a:rPr lang="es-MX" sz="2800" dirty="0"/>
              <a:t> dentro de la tabla de símbolos, almacenando la información necesaria para utilizarla durante el análisis semántico. </a:t>
            </a:r>
          </a:p>
        </p:txBody>
      </p:sp>
      <p:pic>
        <p:nvPicPr>
          <p:cNvPr id="6" name="Imagen 5">
            <a:extLst>
              <a:ext uri="{FF2B5EF4-FFF2-40B4-BE49-F238E27FC236}">
                <a16:creationId xmlns:a16="http://schemas.microsoft.com/office/drawing/2014/main" id="{1A0270F8-ECCB-0073-3EAA-FDD151E20626}"/>
              </a:ext>
            </a:extLst>
          </p:cNvPr>
          <p:cNvPicPr>
            <a:picLocks noChangeAspect="1"/>
          </p:cNvPicPr>
          <p:nvPr/>
        </p:nvPicPr>
        <p:blipFill>
          <a:blip r:embed="rId2"/>
          <a:stretch>
            <a:fillRect/>
          </a:stretch>
        </p:blipFill>
        <p:spPr>
          <a:xfrm>
            <a:off x="5761567" y="2170746"/>
            <a:ext cx="5706533" cy="3209925"/>
          </a:xfrm>
          <a:prstGeom prst="rect">
            <a:avLst/>
          </a:prstGeom>
        </p:spPr>
      </p:pic>
    </p:spTree>
    <p:extLst>
      <p:ext uri="{BB962C8B-B14F-4D97-AF65-F5344CB8AC3E}">
        <p14:creationId xmlns:p14="http://schemas.microsoft.com/office/powerpoint/2010/main" val="486619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0C5F1-33A7-67ED-CEBF-0C76663D16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9C50F5C-0DAF-882C-634B-DAE5CEE85DD5}"/>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cs typeface="Arial" panose="020B0604020202020204" pitchFamily="34" charset="0"/>
              </a:rPr>
              <a:t>Ejercicio 2. Tabla de símbolos: registro de varios identificadores</a:t>
            </a:r>
          </a:p>
        </p:txBody>
      </p:sp>
      <p:pic>
        <p:nvPicPr>
          <p:cNvPr id="4" name="Imagen 3">
            <a:extLst>
              <a:ext uri="{FF2B5EF4-FFF2-40B4-BE49-F238E27FC236}">
                <a16:creationId xmlns:a16="http://schemas.microsoft.com/office/drawing/2014/main" id="{1E5B951E-FCA7-DD35-351C-E0C91793C5C5}"/>
              </a:ext>
            </a:extLst>
          </p:cNvPr>
          <p:cNvPicPr>
            <a:picLocks noChangeAspect="1"/>
          </p:cNvPicPr>
          <p:nvPr/>
        </p:nvPicPr>
        <p:blipFill>
          <a:blip r:embed="rId2"/>
          <a:stretch>
            <a:fillRect/>
          </a:stretch>
        </p:blipFill>
        <p:spPr>
          <a:xfrm>
            <a:off x="5267325" y="2524125"/>
            <a:ext cx="5198532" cy="2924174"/>
          </a:xfrm>
          <a:prstGeom prst="rect">
            <a:avLst/>
          </a:prstGeom>
        </p:spPr>
      </p:pic>
      <p:sp>
        <p:nvSpPr>
          <p:cNvPr id="6" name="CuadroTexto 5">
            <a:extLst>
              <a:ext uri="{FF2B5EF4-FFF2-40B4-BE49-F238E27FC236}">
                <a16:creationId xmlns:a16="http://schemas.microsoft.com/office/drawing/2014/main" id="{2252D536-5570-49A2-4F7A-07FC105C5EBC}"/>
              </a:ext>
            </a:extLst>
          </p:cNvPr>
          <p:cNvSpPr txBox="1"/>
          <p:nvPr/>
        </p:nvSpPr>
        <p:spPr>
          <a:xfrm>
            <a:off x="1085850" y="2300585"/>
            <a:ext cx="3590925" cy="3539430"/>
          </a:xfrm>
          <a:prstGeom prst="rect">
            <a:avLst/>
          </a:prstGeom>
          <a:noFill/>
        </p:spPr>
        <p:txBody>
          <a:bodyPr wrap="square">
            <a:spAutoFit/>
          </a:bodyPr>
          <a:lstStyle/>
          <a:p>
            <a:pPr algn="just"/>
            <a:r>
              <a:rPr lang="es-MX" sz="2800" dirty="0"/>
              <a:t>el compilador permitió registrar varios identificadores en la tabla de símbolos, conservando el nombre y tipo correspondiente de cada variable.</a:t>
            </a:r>
          </a:p>
        </p:txBody>
      </p:sp>
    </p:spTree>
    <p:extLst>
      <p:ext uri="{BB962C8B-B14F-4D97-AF65-F5344CB8AC3E}">
        <p14:creationId xmlns:p14="http://schemas.microsoft.com/office/powerpoint/2010/main" val="583037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147F-0B44-DD95-2981-700B0076591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D07C29-6E3B-4B1A-FF32-2845B270B84A}"/>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cs typeface="Arial" panose="020B0604020202020204" pitchFamily="34" charset="0"/>
              </a:rPr>
              <a:t>Ejercicio 3. Tabla de símbolos: registro de varios tipos de datos</a:t>
            </a:r>
          </a:p>
        </p:txBody>
      </p:sp>
      <p:pic>
        <p:nvPicPr>
          <p:cNvPr id="4" name="Imagen 3">
            <a:extLst>
              <a:ext uri="{FF2B5EF4-FFF2-40B4-BE49-F238E27FC236}">
                <a16:creationId xmlns:a16="http://schemas.microsoft.com/office/drawing/2014/main" id="{D8C10124-9EAA-64B9-02BB-22DA4252F3AE}"/>
              </a:ext>
            </a:extLst>
          </p:cNvPr>
          <p:cNvPicPr>
            <a:picLocks noChangeAspect="1"/>
          </p:cNvPicPr>
          <p:nvPr/>
        </p:nvPicPr>
        <p:blipFill>
          <a:blip r:embed="rId2"/>
          <a:stretch>
            <a:fillRect/>
          </a:stretch>
        </p:blipFill>
        <p:spPr>
          <a:xfrm>
            <a:off x="4114800" y="1949450"/>
            <a:ext cx="8077200" cy="4543425"/>
          </a:xfrm>
          <a:prstGeom prst="rect">
            <a:avLst/>
          </a:prstGeom>
        </p:spPr>
      </p:pic>
      <p:sp>
        <p:nvSpPr>
          <p:cNvPr id="6" name="CuadroTexto 5">
            <a:extLst>
              <a:ext uri="{FF2B5EF4-FFF2-40B4-BE49-F238E27FC236}">
                <a16:creationId xmlns:a16="http://schemas.microsoft.com/office/drawing/2014/main" id="{13001A13-CCBE-D408-94E4-A6581557A7C7}"/>
              </a:ext>
            </a:extLst>
          </p:cNvPr>
          <p:cNvSpPr txBox="1"/>
          <p:nvPr/>
        </p:nvSpPr>
        <p:spPr>
          <a:xfrm>
            <a:off x="762000" y="2104936"/>
            <a:ext cx="3114675" cy="3970318"/>
          </a:xfrm>
          <a:prstGeom prst="rect">
            <a:avLst/>
          </a:prstGeom>
          <a:noFill/>
        </p:spPr>
        <p:txBody>
          <a:bodyPr wrap="square">
            <a:spAutoFit/>
          </a:bodyPr>
          <a:lstStyle/>
          <a:p>
            <a:r>
              <a:rPr lang="es-MX" b="1" dirty="0"/>
              <a:t>Prueba:</a:t>
            </a:r>
            <a:r>
              <a:rPr lang="es-MX" dirty="0"/>
              <a:t> agregar z como </a:t>
            </a:r>
            <a:r>
              <a:rPr lang="es-MX" dirty="0" err="1"/>
              <a:t>int</a:t>
            </a:r>
            <a:r>
              <a:rPr lang="es-MX" dirty="0"/>
              <a:t>, promedio como </a:t>
            </a:r>
            <a:r>
              <a:rPr lang="es-MX" dirty="0" err="1"/>
              <a:t>float</a:t>
            </a:r>
            <a:r>
              <a:rPr lang="es-MX" dirty="0"/>
              <a:t>, actividad como </a:t>
            </a:r>
            <a:r>
              <a:rPr lang="es-MX" dirty="0" err="1"/>
              <a:t>boolean</a:t>
            </a:r>
            <a:r>
              <a:rPr lang="es-MX" dirty="0"/>
              <a:t> y juan como String.</a:t>
            </a:r>
          </a:p>
          <a:p>
            <a:endParaRPr lang="es-MX" dirty="0"/>
          </a:p>
          <a:p>
            <a:pPr algn="just"/>
            <a:r>
              <a:rPr lang="es-MX" dirty="0"/>
              <a:t>El compilador permitió registrar diferentes identificadores con tipos distintos dentro de la tabla de símbolos, comprobando que esta estructura almacena correctamente la información semántica de cada variable.</a:t>
            </a:r>
          </a:p>
          <a:p>
            <a:pPr lvl="0" algn="just"/>
            <a:r>
              <a:rPr lang="es-MX" dirty="0"/>
              <a:t>. </a:t>
            </a:r>
          </a:p>
        </p:txBody>
      </p:sp>
    </p:spTree>
    <p:extLst>
      <p:ext uri="{BB962C8B-B14F-4D97-AF65-F5344CB8AC3E}">
        <p14:creationId xmlns:p14="http://schemas.microsoft.com/office/powerpoint/2010/main" val="3320946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EBDAB-AA54-0F2F-F6A3-DDE7F78FA92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EEF490F-32E9-454C-ADF3-A625335CA4C5}"/>
              </a:ext>
            </a:extLst>
          </p:cNvPr>
          <p:cNvSpPr>
            <a:spLocks noGrp="1"/>
          </p:cNvSpPr>
          <p:nvPr>
            <p:ph type="title"/>
          </p:nvPr>
        </p:nvSpPr>
        <p:spPr/>
        <p:txBody>
          <a:bodyPr vert="horz" lIns="91440" tIns="45720" rIns="91440" bIns="45720" rtlCol="0" anchor="ctr">
            <a:normAutofit/>
          </a:bodyPr>
          <a:lstStyle/>
          <a:p>
            <a:pPr>
              <a:spcBef>
                <a:spcPts val="1000"/>
              </a:spcBef>
            </a:pPr>
            <a:r>
              <a:rPr lang="es-MX" b="1" kern="0" dirty="0">
                <a:solidFill>
                  <a:schemeClr val="accent1"/>
                </a:solidFill>
                <a:cs typeface="Arial" panose="020B0604020202020204" pitchFamily="34" charset="0"/>
              </a:rPr>
              <a:t>Explicación de las pruebas – Tabla de símbolos</a:t>
            </a:r>
          </a:p>
        </p:txBody>
      </p:sp>
      <p:graphicFrame>
        <p:nvGraphicFramePr>
          <p:cNvPr id="3" name="Tabla 2">
            <a:extLst>
              <a:ext uri="{FF2B5EF4-FFF2-40B4-BE49-F238E27FC236}">
                <a16:creationId xmlns:a16="http://schemas.microsoft.com/office/drawing/2014/main" id="{DD19298A-70D5-46A2-0E7A-A8E96E3C7533}"/>
              </a:ext>
            </a:extLst>
          </p:cNvPr>
          <p:cNvGraphicFramePr>
            <a:graphicFrameLocks noGrp="1"/>
          </p:cNvGraphicFramePr>
          <p:nvPr>
            <p:extLst>
              <p:ext uri="{D42A27DB-BD31-4B8C-83A1-F6EECF244321}">
                <p14:modId xmlns:p14="http://schemas.microsoft.com/office/powerpoint/2010/main" val="1208787135"/>
              </p:ext>
            </p:extLst>
          </p:nvPr>
        </p:nvGraphicFramePr>
        <p:xfrm>
          <a:off x="657225" y="4410175"/>
          <a:ext cx="10515600" cy="1828800"/>
        </p:xfrm>
        <a:graphic>
          <a:graphicData uri="http://schemas.openxmlformats.org/drawingml/2006/table">
            <a:tbl>
              <a:tblPr>
                <a:tableStyleId>{BDBED569-4797-4DF1-A0F4-6AAB3CD982D8}</a:tableStyleId>
              </a:tblPr>
              <a:tblGrid>
                <a:gridCol w="5257800">
                  <a:extLst>
                    <a:ext uri="{9D8B030D-6E8A-4147-A177-3AD203B41FA5}">
                      <a16:colId xmlns:a16="http://schemas.microsoft.com/office/drawing/2014/main" val="77685351"/>
                    </a:ext>
                  </a:extLst>
                </a:gridCol>
                <a:gridCol w="5257800">
                  <a:extLst>
                    <a:ext uri="{9D8B030D-6E8A-4147-A177-3AD203B41FA5}">
                      <a16:colId xmlns:a16="http://schemas.microsoft.com/office/drawing/2014/main" val="1732070011"/>
                    </a:ext>
                  </a:extLst>
                </a:gridCol>
              </a:tblGrid>
              <a:tr h="0">
                <a:tc>
                  <a:txBody>
                    <a:bodyPr/>
                    <a:lstStyle/>
                    <a:p>
                      <a:pPr>
                        <a:buNone/>
                      </a:pPr>
                      <a:r>
                        <a:rPr lang="es-MX" dirty="0"/>
                        <a:t>Identificador</a:t>
                      </a:r>
                    </a:p>
                  </a:txBody>
                  <a:tcPr anchor="ctr"/>
                </a:tc>
                <a:tc>
                  <a:txBody>
                    <a:bodyPr/>
                    <a:lstStyle/>
                    <a:p>
                      <a:pPr>
                        <a:buNone/>
                      </a:pPr>
                      <a:r>
                        <a:rPr lang="es-MX"/>
                        <a:t>Tipo</a:t>
                      </a:r>
                    </a:p>
                  </a:txBody>
                  <a:tcPr anchor="ctr"/>
                </a:tc>
                <a:extLst>
                  <a:ext uri="{0D108BD9-81ED-4DB2-BD59-A6C34878D82A}">
                    <a16:rowId xmlns:a16="http://schemas.microsoft.com/office/drawing/2014/main" val="1046274807"/>
                  </a:ext>
                </a:extLst>
              </a:tr>
              <a:tr h="0">
                <a:tc>
                  <a:txBody>
                    <a:bodyPr/>
                    <a:lstStyle/>
                    <a:p>
                      <a:pPr>
                        <a:buNone/>
                      </a:pPr>
                      <a:r>
                        <a:rPr lang="es-MX"/>
                        <a:t>z</a:t>
                      </a:r>
                    </a:p>
                  </a:txBody>
                  <a:tcPr anchor="ctr"/>
                </a:tc>
                <a:tc>
                  <a:txBody>
                    <a:bodyPr/>
                    <a:lstStyle/>
                    <a:p>
                      <a:pPr>
                        <a:buNone/>
                      </a:pPr>
                      <a:r>
                        <a:rPr lang="es-MX"/>
                        <a:t>int</a:t>
                      </a:r>
                    </a:p>
                  </a:txBody>
                  <a:tcPr anchor="ctr"/>
                </a:tc>
                <a:extLst>
                  <a:ext uri="{0D108BD9-81ED-4DB2-BD59-A6C34878D82A}">
                    <a16:rowId xmlns:a16="http://schemas.microsoft.com/office/drawing/2014/main" val="1068484574"/>
                  </a:ext>
                </a:extLst>
              </a:tr>
              <a:tr h="0">
                <a:tc>
                  <a:txBody>
                    <a:bodyPr/>
                    <a:lstStyle/>
                    <a:p>
                      <a:pPr>
                        <a:buNone/>
                      </a:pPr>
                      <a:r>
                        <a:rPr lang="es-MX"/>
                        <a:t>promedio</a:t>
                      </a:r>
                    </a:p>
                  </a:txBody>
                  <a:tcPr anchor="ctr"/>
                </a:tc>
                <a:tc>
                  <a:txBody>
                    <a:bodyPr/>
                    <a:lstStyle/>
                    <a:p>
                      <a:pPr>
                        <a:buNone/>
                      </a:pPr>
                      <a:r>
                        <a:rPr lang="es-MX"/>
                        <a:t>float</a:t>
                      </a:r>
                    </a:p>
                  </a:txBody>
                  <a:tcPr anchor="ctr"/>
                </a:tc>
                <a:extLst>
                  <a:ext uri="{0D108BD9-81ED-4DB2-BD59-A6C34878D82A}">
                    <a16:rowId xmlns:a16="http://schemas.microsoft.com/office/drawing/2014/main" val="3807396806"/>
                  </a:ext>
                </a:extLst>
              </a:tr>
              <a:tr h="0">
                <a:tc>
                  <a:txBody>
                    <a:bodyPr/>
                    <a:lstStyle/>
                    <a:p>
                      <a:pPr>
                        <a:buNone/>
                      </a:pPr>
                      <a:r>
                        <a:rPr lang="es-MX"/>
                        <a:t>actividad</a:t>
                      </a:r>
                    </a:p>
                  </a:txBody>
                  <a:tcPr anchor="ctr"/>
                </a:tc>
                <a:tc>
                  <a:txBody>
                    <a:bodyPr/>
                    <a:lstStyle/>
                    <a:p>
                      <a:pPr>
                        <a:buNone/>
                      </a:pPr>
                      <a:r>
                        <a:rPr lang="es-MX"/>
                        <a:t>boolean</a:t>
                      </a:r>
                    </a:p>
                  </a:txBody>
                  <a:tcPr anchor="ctr"/>
                </a:tc>
                <a:extLst>
                  <a:ext uri="{0D108BD9-81ED-4DB2-BD59-A6C34878D82A}">
                    <a16:rowId xmlns:a16="http://schemas.microsoft.com/office/drawing/2014/main" val="3140010912"/>
                  </a:ext>
                </a:extLst>
              </a:tr>
              <a:tr h="0">
                <a:tc>
                  <a:txBody>
                    <a:bodyPr/>
                    <a:lstStyle/>
                    <a:p>
                      <a:pPr>
                        <a:buNone/>
                      </a:pPr>
                      <a:r>
                        <a:rPr lang="es-MX"/>
                        <a:t>juan</a:t>
                      </a:r>
                    </a:p>
                  </a:txBody>
                  <a:tcPr anchor="ctr"/>
                </a:tc>
                <a:tc>
                  <a:txBody>
                    <a:bodyPr/>
                    <a:lstStyle/>
                    <a:p>
                      <a:pPr>
                        <a:buNone/>
                      </a:pPr>
                      <a:r>
                        <a:rPr lang="es-MX" dirty="0"/>
                        <a:t>String</a:t>
                      </a:r>
                    </a:p>
                  </a:txBody>
                  <a:tcPr anchor="ctr"/>
                </a:tc>
                <a:extLst>
                  <a:ext uri="{0D108BD9-81ED-4DB2-BD59-A6C34878D82A}">
                    <a16:rowId xmlns:a16="http://schemas.microsoft.com/office/drawing/2014/main" val="950013432"/>
                  </a:ext>
                </a:extLst>
              </a:tr>
            </a:tbl>
          </a:graphicData>
        </a:graphic>
      </p:graphicFrame>
      <p:sp>
        <p:nvSpPr>
          <p:cNvPr id="5" name="CuadroTexto 4">
            <a:extLst>
              <a:ext uri="{FF2B5EF4-FFF2-40B4-BE49-F238E27FC236}">
                <a16:creationId xmlns:a16="http://schemas.microsoft.com/office/drawing/2014/main" id="{19B8FBCF-7CD5-50E1-D69A-40F1966CFAD5}"/>
              </a:ext>
            </a:extLst>
          </p:cNvPr>
          <p:cNvSpPr txBox="1"/>
          <p:nvPr/>
        </p:nvSpPr>
        <p:spPr>
          <a:xfrm>
            <a:off x="533399" y="1473181"/>
            <a:ext cx="11001375" cy="2677656"/>
          </a:xfrm>
          <a:prstGeom prst="rect">
            <a:avLst/>
          </a:prstGeom>
          <a:noFill/>
        </p:spPr>
        <p:txBody>
          <a:bodyPr wrap="square">
            <a:spAutoFit/>
          </a:bodyPr>
          <a:lstStyle/>
          <a:p>
            <a:pPr>
              <a:buNone/>
            </a:pPr>
            <a:r>
              <a:rPr lang="es-MX" sz="2400"/>
              <a:t>La tabla de símbolos permite almacenar la información de los identificadores utilizados durante el análisis del programa.</a:t>
            </a:r>
          </a:p>
          <a:p>
            <a:pPr>
              <a:buNone/>
            </a:pPr>
            <a:r>
              <a:rPr lang="es-MX" sz="2400" dirty="0"/>
              <a:t>En las pruebas se registraron diferentes variables junto con su tipo de dato, comprobando que el compilador puede conservar información de tipos como </a:t>
            </a:r>
            <a:r>
              <a:rPr lang="es-MX" sz="2400" dirty="0" err="1">
                <a:latin typeface="+mn-lt"/>
              </a:rPr>
              <a:t>int</a:t>
            </a:r>
            <a:r>
              <a:rPr lang="es-MX" sz="2400" dirty="0"/>
              <a:t>, </a:t>
            </a:r>
            <a:r>
              <a:rPr lang="es-MX" sz="2400" dirty="0" err="1">
                <a:latin typeface="+mn-lt"/>
              </a:rPr>
              <a:t>float</a:t>
            </a:r>
            <a:r>
              <a:rPr lang="es-MX" sz="2400" dirty="0"/>
              <a:t>, </a:t>
            </a:r>
            <a:r>
              <a:rPr lang="es-MX" sz="2400" dirty="0">
                <a:latin typeface="+mn-lt"/>
              </a:rPr>
              <a:t>String</a:t>
            </a:r>
            <a:r>
              <a:rPr lang="es-MX" sz="2400" dirty="0"/>
              <a:t> y </a:t>
            </a:r>
            <a:r>
              <a:rPr lang="es-MX" sz="2400" dirty="0" err="1">
                <a:latin typeface="+mn-lt"/>
              </a:rPr>
              <a:t>boolean</a:t>
            </a:r>
            <a:r>
              <a:rPr lang="es-MX" sz="2400" dirty="0"/>
              <a:t>.</a:t>
            </a:r>
          </a:p>
          <a:p>
            <a:pPr>
              <a:buNone/>
            </a:pPr>
            <a:r>
              <a:rPr lang="es-MX" sz="2400" dirty="0"/>
              <a:t>Esto permite que cada identificador quede asociado con su tipo correspondiente para ser utilizado posteriormente durante el análisis semántico.</a:t>
            </a:r>
          </a:p>
        </p:txBody>
      </p:sp>
    </p:spTree>
    <p:extLst>
      <p:ext uri="{BB962C8B-B14F-4D97-AF65-F5344CB8AC3E}">
        <p14:creationId xmlns:p14="http://schemas.microsoft.com/office/powerpoint/2010/main" val="9794766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31D05-FC4D-D0D1-D5C5-A9AE77D1E5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F3011A-0115-DD21-05D2-F16CEC65C422}"/>
              </a:ext>
            </a:extLst>
          </p:cNvPr>
          <p:cNvSpPr>
            <a:spLocks noGrp="1"/>
          </p:cNvSpPr>
          <p:nvPr>
            <p:ph type="title"/>
          </p:nvPr>
        </p:nvSpPr>
        <p:spPr/>
        <p:txBody>
          <a:bodyPr/>
          <a:lstStyle/>
          <a:p>
            <a:pPr>
              <a:spcBef>
                <a:spcPts val="1000"/>
              </a:spcBef>
            </a:pPr>
            <a:r>
              <a:rPr lang="es-MX" b="1" kern="0" dirty="0">
                <a:solidFill>
                  <a:schemeClr val="accent1"/>
                </a:solidFill>
                <a:cs typeface="Arial" panose="020B0604020202020204" pitchFamily="34" charset="0"/>
              </a:rPr>
              <a:t>Tema 1 tabla de direcciones</a:t>
            </a:r>
            <a:endParaRPr lang="es-MX" b="1" kern="0" dirty="0">
              <a:solidFill>
                <a:schemeClr val="accent1"/>
              </a:solidFill>
              <a:ea typeface="+mn-ea"/>
              <a:cs typeface="Arial" panose="020B0604020202020204" pitchFamily="34" charset="0"/>
            </a:endParaRPr>
          </a:p>
        </p:txBody>
      </p:sp>
      <p:pic>
        <p:nvPicPr>
          <p:cNvPr id="4" name="Imagen 3">
            <a:extLst>
              <a:ext uri="{FF2B5EF4-FFF2-40B4-BE49-F238E27FC236}">
                <a16:creationId xmlns:a16="http://schemas.microsoft.com/office/drawing/2014/main" id="{1CE21A4D-CE17-B651-6F1B-1FA52C36C6BE}"/>
              </a:ext>
            </a:extLst>
          </p:cNvPr>
          <p:cNvPicPr>
            <a:picLocks noChangeAspect="1"/>
          </p:cNvPicPr>
          <p:nvPr/>
        </p:nvPicPr>
        <p:blipFill>
          <a:blip r:embed="rId2"/>
          <a:stretch>
            <a:fillRect/>
          </a:stretch>
        </p:blipFill>
        <p:spPr>
          <a:xfrm>
            <a:off x="3343275" y="2134790"/>
            <a:ext cx="7448550" cy="4189809"/>
          </a:xfrm>
          <a:prstGeom prst="rect">
            <a:avLst/>
          </a:prstGeom>
        </p:spPr>
      </p:pic>
    </p:spTree>
    <p:extLst>
      <p:ext uri="{BB962C8B-B14F-4D97-AF65-F5344CB8AC3E}">
        <p14:creationId xmlns:p14="http://schemas.microsoft.com/office/powerpoint/2010/main" val="21041335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8CF1-1488-23C3-1646-0B6F795E6AC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202A79-FFB5-54F5-4A79-55201449DCDB}"/>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Ejercicio 1. Tabla de direcciones: asignación de una variable</a:t>
            </a:r>
          </a:p>
        </p:txBody>
      </p:sp>
      <p:sp>
        <p:nvSpPr>
          <p:cNvPr id="4" name="CuadroTexto 3">
            <a:extLst>
              <a:ext uri="{FF2B5EF4-FFF2-40B4-BE49-F238E27FC236}">
                <a16:creationId xmlns:a16="http://schemas.microsoft.com/office/drawing/2014/main" id="{47AC841C-6C98-EFC0-87E8-48DE9489DAD6}"/>
              </a:ext>
            </a:extLst>
          </p:cNvPr>
          <p:cNvSpPr txBox="1"/>
          <p:nvPr/>
        </p:nvSpPr>
        <p:spPr>
          <a:xfrm>
            <a:off x="990600" y="1927204"/>
            <a:ext cx="3857625" cy="3416320"/>
          </a:xfrm>
          <a:prstGeom prst="rect">
            <a:avLst/>
          </a:prstGeom>
          <a:noFill/>
        </p:spPr>
        <p:txBody>
          <a:bodyPr wrap="square">
            <a:spAutoFit/>
          </a:bodyPr>
          <a:lstStyle/>
          <a:p>
            <a:pPr lvl="0"/>
            <a:r>
              <a:rPr lang="es-MX" sz="2400" dirty="0"/>
              <a:t>Prueba: escribir </a:t>
            </a:r>
            <a:r>
              <a:rPr lang="es-MX" sz="2400" dirty="0">
                <a:latin typeface="+mn-lt"/>
              </a:rPr>
              <a:t>x</a:t>
            </a:r>
            <a:r>
              <a:rPr lang="es-MX" sz="2400" dirty="0"/>
              <a:t> y presionar Asignar dirección. </a:t>
            </a:r>
          </a:p>
          <a:p>
            <a:pPr lvl="0"/>
            <a:r>
              <a:rPr lang="es-MX" sz="2400" dirty="0"/>
              <a:t>Explicación: El compilador asignó una dirección a la variable </a:t>
            </a:r>
            <a:r>
              <a:rPr lang="es-MX" sz="2400" dirty="0">
                <a:latin typeface="+mn-lt"/>
              </a:rPr>
              <a:t>x</a:t>
            </a:r>
            <a:r>
              <a:rPr lang="es-MX" sz="2400" dirty="0"/>
              <a:t> y la registró en la tabla de direcciones, permitiendo identificar la ubicación asociada al identificador.</a:t>
            </a:r>
          </a:p>
        </p:txBody>
      </p:sp>
      <p:pic>
        <p:nvPicPr>
          <p:cNvPr id="6" name="Imagen 5">
            <a:extLst>
              <a:ext uri="{FF2B5EF4-FFF2-40B4-BE49-F238E27FC236}">
                <a16:creationId xmlns:a16="http://schemas.microsoft.com/office/drawing/2014/main" id="{5A6293F1-1C2B-4C41-B029-1B2D5F0955AF}"/>
              </a:ext>
            </a:extLst>
          </p:cNvPr>
          <p:cNvPicPr>
            <a:picLocks noChangeAspect="1"/>
          </p:cNvPicPr>
          <p:nvPr/>
        </p:nvPicPr>
        <p:blipFill>
          <a:blip r:embed="rId2"/>
          <a:stretch>
            <a:fillRect/>
          </a:stretch>
        </p:blipFill>
        <p:spPr>
          <a:xfrm>
            <a:off x="5676900" y="2064543"/>
            <a:ext cx="5829300" cy="3278981"/>
          </a:xfrm>
          <a:prstGeom prst="rect">
            <a:avLst/>
          </a:prstGeom>
        </p:spPr>
      </p:pic>
    </p:spTree>
    <p:extLst>
      <p:ext uri="{BB962C8B-B14F-4D97-AF65-F5344CB8AC3E}">
        <p14:creationId xmlns:p14="http://schemas.microsoft.com/office/powerpoint/2010/main" val="13400908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0D7E6-727C-5F8E-0144-33E408AEE5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5C231B9-CFFB-3199-155D-80D04293C2D3}"/>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Ejercicio 2. Tabla de direcciones: asignación de varias variables</a:t>
            </a:r>
          </a:p>
        </p:txBody>
      </p:sp>
      <p:sp>
        <p:nvSpPr>
          <p:cNvPr id="4" name="CuadroTexto 3">
            <a:extLst>
              <a:ext uri="{FF2B5EF4-FFF2-40B4-BE49-F238E27FC236}">
                <a16:creationId xmlns:a16="http://schemas.microsoft.com/office/drawing/2014/main" id="{783A59B0-994A-11B8-1F47-DF67E03556E5}"/>
              </a:ext>
            </a:extLst>
          </p:cNvPr>
          <p:cNvSpPr txBox="1"/>
          <p:nvPr/>
        </p:nvSpPr>
        <p:spPr>
          <a:xfrm>
            <a:off x="838200" y="2052627"/>
            <a:ext cx="3933825" cy="3416320"/>
          </a:xfrm>
          <a:prstGeom prst="rect">
            <a:avLst/>
          </a:prstGeom>
          <a:noFill/>
        </p:spPr>
        <p:txBody>
          <a:bodyPr wrap="square">
            <a:spAutoFit/>
          </a:bodyPr>
          <a:lstStyle/>
          <a:p>
            <a:pPr lvl="0"/>
            <a:r>
              <a:rPr lang="es-MX" sz="2400" dirty="0"/>
              <a:t>Prueba: registrar la variable x y posteriormente intentar asignarle una nueva dirección.</a:t>
            </a:r>
          </a:p>
          <a:p>
            <a:pPr lvl="0"/>
            <a:r>
              <a:rPr lang="es-MX" sz="2400" dirty="0"/>
              <a:t>Explicación: El compilador detectó que la variable x ya tenía una dirección asignada, por lo que mostró un error de validación y evitó generar una dirección duplicada.</a:t>
            </a:r>
          </a:p>
        </p:txBody>
      </p:sp>
      <p:pic>
        <p:nvPicPr>
          <p:cNvPr id="8" name="Imagen 7">
            <a:extLst>
              <a:ext uri="{FF2B5EF4-FFF2-40B4-BE49-F238E27FC236}">
                <a16:creationId xmlns:a16="http://schemas.microsoft.com/office/drawing/2014/main" id="{36CCCDB1-D702-8FB4-1401-F5A72A41AD59}"/>
              </a:ext>
            </a:extLst>
          </p:cNvPr>
          <p:cNvPicPr>
            <a:picLocks noChangeAspect="1"/>
          </p:cNvPicPr>
          <p:nvPr/>
        </p:nvPicPr>
        <p:blipFill>
          <a:blip r:embed="rId2"/>
          <a:stretch>
            <a:fillRect/>
          </a:stretch>
        </p:blipFill>
        <p:spPr>
          <a:xfrm>
            <a:off x="5368925" y="1989137"/>
            <a:ext cx="6299200" cy="3543300"/>
          </a:xfrm>
          <a:prstGeom prst="rect">
            <a:avLst/>
          </a:prstGeom>
        </p:spPr>
      </p:pic>
    </p:spTree>
    <p:extLst>
      <p:ext uri="{BB962C8B-B14F-4D97-AF65-F5344CB8AC3E}">
        <p14:creationId xmlns:p14="http://schemas.microsoft.com/office/powerpoint/2010/main" val="10371797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51511-A3D6-E649-B256-304338300D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C6052E-8336-EA76-F7F0-A22F9456F9C7}"/>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Ejercicio 3. Tabla de direcciones: incremento de direcciones</a:t>
            </a:r>
          </a:p>
        </p:txBody>
      </p:sp>
      <p:sp>
        <p:nvSpPr>
          <p:cNvPr id="4" name="CuadroTexto 3">
            <a:extLst>
              <a:ext uri="{FF2B5EF4-FFF2-40B4-BE49-F238E27FC236}">
                <a16:creationId xmlns:a16="http://schemas.microsoft.com/office/drawing/2014/main" id="{4C185FA2-1438-7AB5-B7EB-D12EA3A13B63}"/>
              </a:ext>
            </a:extLst>
          </p:cNvPr>
          <p:cNvSpPr txBox="1"/>
          <p:nvPr/>
        </p:nvSpPr>
        <p:spPr>
          <a:xfrm>
            <a:off x="838199" y="1884313"/>
            <a:ext cx="4010025" cy="3170099"/>
          </a:xfrm>
          <a:prstGeom prst="rect">
            <a:avLst/>
          </a:prstGeom>
          <a:noFill/>
        </p:spPr>
        <p:txBody>
          <a:bodyPr wrap="square">
            <a:spAutoFit/>
          </a:bodyPr>
          <a:lstStyle>
            <a:defPPr>
              <a:defRPr lang="es-MX"/>
            </a:defPPr>
            <a:lvl1pPr lvl="0">
              <a:defRPr sz="2400"/>
            </a:lvl1pPr>
          </a:lstStyle>
          <a:p>
            <a:r>
              <a:rPr lang="es-MX" sz="2000" dirty="0"/>
              <a:t>Prueba: registrar varias variables, por ejemplo juan1, juan2 y juan3. </a:t>
            </a:r>
          </a:p>
          <a:p>
            <a:r>
              <a:rPr lang="es-MX" sz="2000" dirty="0"/>
              <a:t>Explicación: El compilador asignó direcciones consecutivas a cada variable registrada. En la prueba se observa que las direcciones aumentan de 1000 a 1004 y 1008, comprobando que el sistema reserva una nueva ubicación para cada identificador.</a:t>
            </a:r>
          </a:p>
        </p:txBody>
      </p:sp>
      <p:pic>
        <p:nvPicPr>
          <p:cNvPr id="6" name="Imagen 5">
            <a:extLst>
              <a:ext uri="{FF2B5EF4-FFF2-40B4-BE49-F238E27FC236}">
                <a16:creationId xmlns:a16="http://schemas.microsoft.com/office/drawing/2014/main" id="{290D7F8F-8F67-7DAD-B32A-4F002EB5E165}"/>
              </a:ext>
            </a:extLst>
          </p:cNvPr>
          <p:cNvPicPr>
            <a:picLocks noChangeAspect="1"/>
          </p:cNvPicPr>
          <p:nvPr/>
        </p:nvPicPr>
        <p:blipFill>
          <a:blip r:embed="rId2"/>
          <a:stretch>
            <a:fillRect/>
          </a:stretch>
        </p:blipFill>
        <p:spPr>
          <a:xfrm>
            <a:off x="5042959" y="2114550"/>
            <a:ext cx="7044265" cy="3962399"/>
          </a:xfrm>
          <a:prstGeom prst="rect">
            <a:avLst/>
          </a:prstGeom>
        </p:spPr>
      </p:pic>
    </p:spTree>
    <p:extLst>
      <p:ext uri="{BB962C8B-B14F-4D97-AF65-F5344CB8AC3E}">
        <p14:creationId xmlns:p14="http://schemas.microsoft.com/office/powerpoint/2010/main" val="12477856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891EB-20D6-47D0-0960-9D114E9F8351}"/>
              </a:ext>
            </a:extLst>
          </p:cNvPr>
          <p:cNvSpPr>
            <a:spLocks noGrp="1"/>
          </p:cNvSpPr>
          <p:nvPr>
            <p:ph type="title"/>
          </p:nvPr>
        </p:nvSpPr>
        <p:spPr>
          <a:xfrm>
            <a:off x="838199" y="365125"/>
            <a:ext cx="10868025" cy="1325563"/>
          </a:xfrm>
        </p:spPr>
        <p:txBody>
          <a:bodyPr vert="horz" lIns="91440" tIns="45720" rIns="91440" bIns="45720" rtlCol="0" anchor="ctr">
            <a:normAutofit/>
          </a:bodyPr>
          <a:lstStyle/>
          <a:p>
            <a:r>
              <a:rPr lang="es-MX" b="1" dirty="0">
                <a:solidFill>
                  <a:schemeClr val="accent1"/>
                </a:solidFill>
                <a:ea typeface="+mn-ea"/>
                <a:cs typeface="+mn-cs"/>
              </a:rPr>
              <a:t>explicación de las pruebas-</a:t>
            </a:r>
            <a:r>
              <a:rPr lang="es-MX" b="1" dirty="0">
                <a:solidFill>
                  <a:schemeClr val="accent1"/>
                </a:solidFill>
              </a:rPr>
              <a:t> Tabla de direcciones</a:t>
            </a:r>
            <a:endParaRPr lang="es-MX" b="1" dirty="0">
              <a:solidFill>
                <a:schemeClr val="accent1"/>
              </a:solidFill>
              <a:ea typeface="+mn-ea"/>
              <a:cs typeface="+mn-cs"/>
            </a:endParaRPr>
          </a:p>
        </p:txBody>
      </p:sp>
      <p:sp>
        <p:nvSpPr>
          <p:cNvPr id="4" name="CuadroTexto 3">
            <a:extLst>
              <a:ext uri="{FF2B5EF4-FFF2-40B4-BE49-F238E27FC236}">
                <a16:creationId xmlns:a16="http://schemas.microsoft.com/office/drawing/2014/main" id="{E324194C-6E14-2331-12E9-2E1A010D9362}"/>
              </a:ext>
            </a:extLst>
          </p:cNvPr>
          <p:cNvSpPr txBox="1"/>
          <p:nvPr/>
        </p:nvSpPr>
        <p:spPr>
          <a:xfrm>
            <a:off x="1053548" y="2551836"/>
            <a:ext cx="10952922" cy="2677656"/>
          </a:xfrm>
          <a:prstGeom prst="rect">
            <a:avLst/>
          </a:prstGeom>
          <a:noFill/>
        </p:spPr>
        <p:txBody>
          <a:bodyPr wrap="square">
            <a:spAutoFit/>
          </a:bodyPr>
          <a:lstStyle/>
          <a:p>
            <a:pPr algn="just">
              <a:buNone/>
            </a:pPr>
            <a:r>
              <a:rPr lang="es-MX" sz="2800" dirty="0"/>
              <a:t>Las pruebas permitieron comprobar la asignación de direcciones a los identificadores registrados en el compilador.</a:t>
            </a:r>
          </a:p>
          <a:p>
            <a:pPr algn="just">
              <a:buNone/>
            </a:pPr>
            <a:r>
              <a:rPr lang="es-MX" sz="2800" dirty="0"/>
              <a:t>Se verificó que cada nueva variable reciba una dirección diferente, que las direcciones aumenten de manera consecutiva y que el sistema evite asignar una nueva dirección a un identificador que ya se encuentra registrado.</a:t>
            </a:r>
          </a:p>
        </p:txBody>
      </p:sp>
    </p:spTree>
    <p:extLst>
      <p:ext uri="{BB962C8B-B14F-4D97-AF65-F5344CB8AC3E}">
        <p14:creationId xmlns:p14="http://schemas.microsoft.com/office/powerpoint/2010/main" val="13125961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1D5A3-2BDF-27C6-2C39-1F7E975B332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75EF02E-9732-E744-268C-CB492042E960}"/>
              </a:ext>
            </a:extLst>
          </p:cNvPr>
          <p:cNvSpPr>
            <a:spLocks noGrp="1"/>
          </p:cNvSpPr>
          <p:nvPr>
            <p:ph type="title"/>
          </p:nvPr>
        </p:nvSpPr>
        <p:spPr/>
        <p:txBody>
          <a:bodyPr/>
          <a:lstStyle/>
          <a:p>
            <a:pPr>
              <a:spcBef>
                <a:spcPts val="1000"/>
              </a:spcBef>
            </a:pPr>
            <a:r>
              <a:rPr lang="es-MX" b="1" kern="0" dirty="0">
                <a:solidFill>
                  <a:schemeClr val="accent1"/>
                </a:solidFill>
                <a:cs typeface="Arial" panose="020B0604020202020204" pitchFamily="34" charset="0"/>
              </a:rPr>
              <a:t>Tema 1 tabla de Errores </a:t>
            </a:r>
            <a:r>
              <a:rPr lang="es-MX" b="1" kern="0" dirty="0" err="1">
                <a:solidFill>
                  <a:schemeClr val="accent1"/>
                </a:solidFill>
                <a:cs typeface="Arial" panose="020B0604020202020204" pitchFamily="34" charset="0"/>
              </a:rPr>
              <a:t>Semanticos</a:t>
            </a:r>
            <a:endParaRPr lang="es-MX" b="1" kern="0" dirty="0">
              <a:solidFill>
                <a:schemeClr val="accent1"/>
              </a:solidFill>
              <a:cs typeface="Arial" panose="020B0604020202020204" pitchFamily="34" charset="0"/>
            </a:endParaRPr>
          </a:p>
        </p:txBody>
      </p:sp>
      <p:pic>
        <p:nvPicPr>
          <p:cNvPr id="4" name="Imagen 3">
            <a:extLst>
              <a:ext uri="{FF2B5EF4-FFF2-40B4-BE49-F238E27FC236}">
                <a16:creationId xmlns:a16="http://schemas.microsoft.com/office/drawing/2014/main" id="{D76BED2D-96FF-AEEE-C1EA-2BD7AD706524}"/>
              </a:ext>
            </a:extLst>
          </p:cNvPr>
          <p:cNvPicPr>
            <a:picLocks noChangeAspect="1"/>
          </p:cNvPicPr>
          <p:nvPr/>
        </p:nvPicPr>
        <p:blipFill>
          <a:blip r:embed="rId2"/>
          <a:stretch>
            <a:fillRect/>
          </a:stretch>
        </p:blipFill>
        <p:spPr>
          <a:xfrm>
            <a:off x="3343275" y="2134790"/>
            <a:ext cx="7448550" cy="4189809"/>
          </a:xfrm>
          <a:prstGeom prst="rect">
            <a:avLst/>
          </a:prstGeom>
        </p:spPr>
      </p:pic>
    </p:spTree>
    <p:extLst>
      <p:ext uri="{BB962C8B-B14F-4D97-AF65-F5344CB8AC3E}">
        <p14:creationId xmlns:p14="http://schemas.microsoft.com/office/powerpoint/2010/main" val="36267751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5B892-1F11-B5B7-A6CC-29129CB9327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EA2752-2E79-7CFE-7F70-D7A22D3FFDA8}"/>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Ejercicio 1 Errores semánticos: tipos incompatibles</a:t>
            </a:r>
          </a:p>
        </p:txBody>
      </p:sp>
      <p:sp>
        <p:nvSpPr>
          <p:cNvPr id="4" name="CuadroTexto 3">
            <a:extLst>
              <a:ext uri="{FF2B5EF4-FFF2-40B4-BE49-F238E27FC236}">
                <a16:creationId xmlns:a16="http://schemas.microsoft.com/office/drawing/2014/main" id="{57C31862-C369-05B2-8547-F9720FFB8546}"/>
              </a:ext>
            </a:extLst>
          </p:cNvPr>
          <p:cNvSpPr txBox="1"/>
          <p:nvPr/>
        </p:nvSpPr>
        <p:spPr>
          <a:xfrm>
            <a:off x="990600" y="2136338"/>
            <a:ext cx="3552825" cy="4524315"/>
          </a:xfrm>
          <a:prstGeom prst="rect">
            <a:avLst/>
          </a:prstGeom>
          <a:noFill/>
        </p:spPr>
        <p:txBody>
          <a:bodyPr wrap="square">
            <a:spAutoFit/>
          </a:bodyPr>
          <a:lstStyle/>
          <a:p>
            <a:pPr algn="just">
              <a:buNone/>
            </a:pPr>
            <a:r>
              <a:rPr lang="es-MX" sz="2400" dirty="0"/>
              <a:t>Prueba: ingresar:</a:t>
            </a:r>
          </a:p>
          <a:p>
            <a:pPr algn="just" rtl="0">
              <a:buNone/>
            </a:pPr>
            <a:r>
              <a:rPr lang="es-MX" sz="2400" dirty="0" err="1">
                <a:latin typeface="+mn-lt"/>
              </a:rPr>
              <a:t>int</a:t>
            </a:r>
            <a:r>
              <a:rPr lang="es-MX" sz="2400" dirty="0">
                <a:latin typeface="+mn-lt"/>
              </a:rPr>
              <a:t> edad = "Hola";</a:t>
            </a:r>
          </a:p>
          <a:p>
            <a:pPr algn="just"/>
            <a:r>
              <a:rPr lang="es-MX" sz="2400" dirty="0"/>
              <a:t>Explicación: el compilador detecta que un valor String no puede asignarse a una variable de tipo </a:t>
            </a:r>
            <a:r>
              <a:rPr lang="es-MX" sz="2400" dirty="0" err="1"/>
              <a:t>int</a:t>
            </a:r>
            <a:r>
              <a:rPr lang="es-MX" sz="2400" dirty="0"/>
              <a:t>.</a:t>
            </a:r>
          </a:p>
          <a:p>
            <a:pPr algn="just">
              <a:buNone/>
            </a:pPr>
            <a:r>
              <a:rPr lang="es-MX" sz="2400" dirty="0"/>
              <a:t>el compilador comprobó los tipos de datos involucrados y detectó una incompatibilidad entre </a:t>
            </a:r>
            <a:r>
              <a:rPr lang="es-MX" sz="2400" dirty="0" err="1">
                <a:latin typeface="+mn-lt"/>
              </a:rPr>
              <a:t>int</a:t>
            </a:r>
            <a:r>
              <a:rPr lang="es-MX" sz="2400" dirty="0"/>
              <a:t> y </a:t>
            </a:r>
            <a:r>
              <a:rPr lang="es-MX" sz="2400" dirty="0">
                <a:latin typeface="+mn-lt"/>
              </a:rPr>
              <a:t>String</a:t>
            </a:r>
            <a:r>
              <a:rPr lang="es-MX" sz="2400" dirty="0"/>
              <a:t>, generando un error semántico.</a:t>
            </a:r>
          </a:p>
        </p:txBody>
      </p:sp>
      <p:pic>
        <p:nvPicPr>
          <p:cNvPr id="6" name="Imagen 5">
            <a:extLst>
              <a:ext uri="{FF2B5EF4-FFF2-40B4-BE49-F238E27FC236}">
                <a16:creationId xmlns:a16="http://schemas.microsoft.com/office/drawing/2014/main" id="{D3A55B90-7C80-235B-33AE-9FBD7FB16B33}"/>
              </a:ext>
            </a:extLst>
          </p:cNvPr>
          <p:cNvPicPr>
            <a:picLocks noChangeAspect="1"/>
          </p:cNvPicPr>
          <p:nvPr/>
        </p:nvPicPr>
        <p:blipFill>
          <a:blip r:embed="rId2"/>
          <a:stretch>
            <a:fillRect/>
          </a:stretch>
        </p:blipFill>
        <p:spPr>
          <a:xfrm>
            <a:off x="5106457" y="1804272"/>
            <a:ext cx="6790267" cy="3819525"/>
          </a:xfrm>
          <a:prstGeom prst="rect">
            <a:avLst/>
          </a:prstGeom>
        </p:spPr>
      </p:pic>
    </p:spTree>
    <p:extLst>
      <p:ext uri="{BB962C8B-B14F-4D97-AF65-F5344CB8AC3E}">
        <p14:creationId xmlns:p14="http://schemas.microsoft.com/office/powerpoint/2010/main" val="16038202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1CB5-F496-C53C-F96E-A71E3B8A45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1C8A4EC-9D2D-9C39-36FF-BD78BCBAA6C6}"/>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Ejercicio 2 Errores semánticos: uso de variable no declarada</a:t>
            </a:r>
          </a:p>
        </p:txBody>
      </p:sp>
      <p:pic>
        <p:nvPicPr>
          <p:cNvPr id="4" name="Imagen 3">
            <a:extLst>
              <a:ext uri="{FF2B5EF4-FFF2-40B4-BE49-F238E27FC236}">
                <a16:creationId xmlns:a16="http://schemas.microsoft.com/office/drawing/2014/main" id="{2F2B982C-19D4-681C-9523-4CD0C94B2B2D}"/>
              </a:ext>
            </a:extLst>
          </p:cNvPr>
          <p:cNvPicPr>
            <a:picLocks noChangeAspect="1"/>
          </p:cNvPicPr>
          <p:nvPr/>
        </p:nvPicPr>
        <p:blipFill>
          <a:blip r:embed="rId2"/>
          <a:stretch>
            <a:fillRect/>
          </a:stretch>
        </p:blipFill>
        <p:spPr>
          <a:xfrm>
            <a:off x="6539441" y="2571750"/>
            <a:ext cx="5147733" cy="2895600"/>
          </a:xfrm>
          <a:prstGeom prst="rect">
            <a:avLst/>
          </a:prstGeom>
        </p:spPr>
      </p:pic>
      <p:sp>
        <p:nvSpPr>
          <p:cNvPr id="6" name="CuadroTexto 5">
            <a:extLst>
              <a:ext uri="{FF2B5EF4-FFF2-40B4-BE49-F238E27FC236}">
                <a16:creationId xmlns:a16="http://schemas.microsoft.com/office/drawing/2014/main" id="{C1C35D20-2DB6-2447-057C-62553FBE7EC4}"/>
              </a:ext>
            </a:extLst>
          </p:cNvPr>
          <p:cNvSpPr txBox="1"/>
          <p:nvPr/>
        </p:nvSpPr>
        <p:spPr>
          <a:xfrm>
            <a:off x="1095375" y="2228671"/>
            <a:ext cx="4557185" cy="3785652"/>
          </a:xfrm>
          <a:prstGeom prst="rect">
            <a:avLst/>
          </a:prstGeom>
          <a:noFill/>
        </p:spPr>
        <p:txBody>
          <a:bodyPr wrap="square">
            <a:spAutoFit/>
          </a:bodyPr>
          <a:lstStyle/>
          <a:p>
            <a:pPr>
              <a:buNone/>
            </a:pPr>
            <a:r>
              <a:rPr lang="es-MX" sz="2400" dirty="0"/>
              <a:t>Prueba: ingresar:</a:t>
            </a:r>
          </a:p>
          <a:p>
            <a:pPr rtl="0">
              <a:buNone/>
            </a:pPr>
            <a:r>
              <a:rPr lang="es-MX" sz="2400" dirty="0" err="1">
                <a:latin typeface="+mn-lt"/>
              </a:rPr>
              <a:t>int</a:t>
            </a:r>
            <a:r>
              <a:rPr lang="es-MX" sz="2400" dirty="0">
                <a:latin typeface="+mn-lt"/>
              </a:rPr>
              <a:t> x;</a:t>
            </a:r>
          </a:p>
          <a:p>
            <a:pPr rtl="0">
              <a:buNone/>
            </a:pPr>
            <a:r>
              <a:rPr lang="es-MX" sz="2400" dirty="0">
                <a:latin typeface="+mn-lt"/>
              </a:rPr>
              <a:t>x = y + 10;</a:t>
            </a:r>
          </a:p>
          <a:p>
            <a:pPr>
              <a:buNone/>
            </a:pPr>
            <a:r>
              <a:rPr lang="es-MX" sz="2400" dirty="0"/>
              <a:t>y presionar Analizar.</a:t>
            </a:r>
          </a:p>
          <a:p>
            <a:pPr>
              <a:buNone/>
            </a:pPr>
            <a:endParaRPr lang="es-MX" sz="2400" dirty="0"/>
          </a:p>
          <a:p>
            <a:pPr>
              <a:buNone/>
            </a:pPr>
            <a:r>
              <a:rPr lang="es-MX" sz="2400" dirty="0"/>
              <a:t>El compilador detectó que la variable y se utiliza dentro de la expresión sin haber sido registrada previamente, por lo que generó un error semántico.</a:t>
            </a:r>
          </a:p>
        </p:txBody>
      </p:sp>
    </p:spTree>
    <p:extLst>
      <p:ext uri="{BB962C8B-B14F-4D97-AF65-F5344CB8AC3E}">
        <p14:creationId xmlns:p14="http://schemas.microsoft.com/office/powerpoint/2010/main" val="17152506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93D7-5834-E6D6-B457-1B32EC8CE30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7887B14-EA4B-0292-75ED-4631FA3C0E10}"/>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Ejercicio 3. Errores semánticos: llamada correcta a una función</a:t>
            </a:r>
          </a:p>
        </p:txBody>
      </p:sp>
      <p:pic>
        <p:nvPicPr>
          <p:cNvPr id="4" name="Imagen 3">
            <a:extLst>
              <a:ext uri="{FF2B5EF4-FFF2-40B4-BE49-F238E27FC236}">
                <a16:creationId xmlns:a16="http://schemas.microsoft.com/office/drawing/2014/main" id="{A1CB647E-4864-4964-8A30-7949783D51C5}"/>
              </a:ext>
            </a:extLst>
          </p:cNvPr>
          <p:cNvPicPr>
            <a:picLocks noChangeAspect="1"/>
          </p:cNvPicPr>
          <p:nvPr/>
        </p:nvPicPr>
        <p:blipFill>
          <a:blip r:embed="rId2"/>
          <a:stretch>
            <a:fillRect/>
          </a:stretch>
        </p:blipFill>
        <p:spPr>
          <a:xfrm>
            <a:off x="5057775" y="2205038"/>
            <a:ext cx="7010400" cy="3943350"/>
          </a:xfrm>
          <a:prstGeom prst="rect">
            <a:avLst/>
          </a:prstGeom>
        </p:spPr>
      </p:pic>
      <p:sp>
        <p:nvSpPr>
          <p:cNvPr id="6" name="CuadroTexto 5">
            <a:extLst>
              <a:ext uri="{FF2B5EF4-FFF2-40B4-BE49-F238E27FC236}">
                <a16:creationId xmlns:a16="http://schemas.microsoft.com/office/drawing/2014/main" id="{E742913C-F954-5FAB-D57D-C45AD831BF97}"/>
              </a:ext>
            </a:extLst>
          </p:cNvPr>
          <p:cNvSpPr txBox="1"/>
          <p:nvPr/>
        </p:nvSpPr>
        <p:spPr>
          <a:xfrm>
            <a:off x="838200" y="2120384"/>
            <a:ext cx="3800475" cy="3416320"/>
          </a:xfrm>
          <a:prstGeom prst="rect">
            <a:avLst/>
          </a:prstGeom>
          <a:noFill/>
        </p:spPr>
        <p:txBody>
          <a:bodyPr wrap="square">
            <a:spAutoFit/>
          </a:bodyPr>
          <a:lstStyle/>
          <a:p>
            <a:r>
              <a:rPr lang="es-MX" sz="2400" dirty="0"/>
              <a:t>Prueba: ingresar </a:t>
            </a:r>
            <a:r>
              <a:rPr lang="es-MX" sz="2400" dirty="0">
                <a:latin typeface="+mn-lt"/>
              </a:rPr>
              <a:t>suma(4,5)</a:t>
            </a:r>
            <a:r>
              <a:rPr lang="es-MX" sz="2400" dirty="0"/>
              <a:t> y presionar Analizar.</a:t>
            </a:r>
          </a:p>
          <a:p>
            <a:endParaRPr lang="es-MX" sz="2400" dirty="0"/>
          </a:p>
          <a:p>
            <a:r>
              <a:rPr lang="es-MX" sz="2400" dirty="0"/>
              <a:t>Explicación: El compilador verificó que la función suma recibió la cantidad correcta de argumentos, por lo que la llamada fue considerada semánticamente válida.</a:t>
            </a:r>
          </a:p>
        </p:txBody>
      </p:sp>
    </p:spTree>
    <p:extLst>
      <p:ext uri="{BB962C8B-B14F-4D97-AF65-F5344CB8AC3E}">
        <p14:creationId xmlns:p14="http://schemas.microsoft.com/office/powerpoint/2010/main" val="18906090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7B1BB-5454-B259-2520-038EF14739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FF40F9-24AE-662F-4282-264142F0532B}"/>
              </a:ext>
            </a:extLst>
          </p:cNvPr>
          <p:cNvSpPr>
            <a:spLocks noGrp="1"/>
          </p:cNvSpPr>
          <p:nvPr>
            <p:ph type="title"/>
          </p:nvPr>
        </p:nvSpPr>
        <p:spPr/>
        <p:txBody>
          <a:bodyPr vert="horz" lIns="91440" tIns="45720" rIns="91440" bIns="45720" rtlCol="0" anchor="ctr">
            <a:normAutofit/>
          </a:bodyPr>
          <a:lstStyle/>
          <a:p>
            <a:r>
              <a:rPr lang="es-MX" b="1" dirty="0">
                <a:solidFill>
                  <a:schemeClr val="accent1"/>
                </a:solidFill>
                <a:ea typeface="+mn-ea"/>
                <a:cs typeface="+mn-cs"/>
              </a:rPr>
              <a:t>explicación de las pruebas-</a:t>
            </a:r>
            <a:r>
              <a:rPr lang="es-MX" b="1" dirty="0">
                <a:solidFill>
                  <a:schemeClr val="accent1"/>
                </a:solidFill>
              </a:rPr>
              <a:t> Errores semánticos</a:t>
            </a:r>
            <a:endParaRPr lang="es-MX" b="1" dirty="0">
              <a:solidFill>
                <a:schemeClr val="accent1"/>
              </a:solidFill>
              <a:ea typeface="+mn-ea"/>
              <a:cs typeface="+mn-cs"/>
            </a:endParaRPr>
          </a:p>
        </p:txBody>
      </p:sp>
      <p:sp>
        <p:nvSpPr>
          <p:cNvPr id="4" name="CuadroTexto 3">
            <a:extLst>
              <a:ext uri="{FF2B5EF4-FFF2-40B4-BE49-F238E27FC236}">
                <a16:creationId xmlns:a16="http://schemas.microsoft.com/office/drawing/2014/main" id="{A3A741FE-A131-EFC4-D83D-D082BBF9D41C}"/>
              </a:ext>
            </a:extLst>
          </p:cNvPr>
          <p:cNvSpPr txBox="1"/>
          <p:nvPr/>
        </p:nvSpPr>
        <p:spPr>
          <a:xfrm>
            <a:off x="838200" y="2551835"/>
            <a:ext cx="10820400" cy="2246769"/>
          </a:xfrm>
          <a:prstGeom prst="rect">
            <a:avLst/>
          </a:prstGeom>
          <a:noFill/>
        </p:spPr>
        <p:txBody>
          <a:bodyPr wrap="square">
            <a:spAutoFit/>
          </a:bodyPr>
          <a:lstStyle/>
          <a:p>
            <a:pPr>
              <a:buNone/>
            </a:pPr>
            <a:r>
              <a:rPr lang="es-MX" sz="2800" dirty="0"/>
              <a:t>Las pruebas permitieron comprobar la detección de diferentes situaciones semánticas durante el análisis de instrucciones.</a:t>
            </a:r>
          </a:p>
          <a:p>
            <a:pPr>
              <a:buNone/>
            </a:pPr>
            <a:r>
              <a:rPr lang="es-MX" sz="2800" dirty="0"/>
              <a:t>Se evaluaron tipos incompatibles, el uso de una variable no declarada y una llamada correcta a una función, permitiendo observar cuándo el compilador genera un error y cuándo considera válida una instrucción.</a:t>
            </a:r>
          </a:p>
        </p:txBody>
      </p:sp>
    </p:spTree>
    <p:extLst>
      <p:ext uri="{BB962C8B-B14F-4D97-AF65-F5344CB8AC3E}">
        <p14:creationId xmlns:p14="http://schemas.microsoft.com/office/powerpoint/2010/main" val="42188683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838200" y="968375"/>
            <a:ext cx="10515600" cy="4351338"/>
          </a:xfrm>
        </p:spPr>
        <p:txBody>
          <a:bodyPr>
            <a:normAutofit/>
          </a:bodyPr>
          <a:lstStyle/>
          <a:p>
            <a:pPr marL="0" indent="0">
              <a:buNone/>
            </a:pPr>
            <a:r>
              <a:rPr lang="es-MX" sz="4400" b="1" dirty="0">
                <a:solidFill>
                  <a:schemeClr val="accent1"/>
                </a:solidFill>
                <a:latin typeface="+mj-lt"/>
              </a:rPr>
              <a:t>Conclusión</a:t>
            </a:r>
          </a:p>
          <a:p>
            <a:pPr marL="0" indent="0">
              <a:buNone/>
            </a:pPr>
            <a:endParaRPr lang="es-MX" dirty="0"/>
          </a:p>
          <a:p>
            <a:pPr marL="0" indent="0" algn="just">
              <a:buNone/>
            </a:pPr>
            <a:r>
              <a:rPr lang="es-MX" dirty="0"/>
              <a:t> </a:t>
            </a:r>
          </a:p>
        </p:txBody>
      </p:sp>
      <p:sp>
        <p:nvSpPr>
          <p:cNvPr id="4" name="CuadroTexto 3">
            <a:extLst>
              <a:ext uri="{FF2B5EF4-FFF2-40B4-BE49-F238E27FC236}">
                <a16:creationId xmlns:a16="http://schemas.microsoft.com/office/drawing/2014/main" id="{DAA4F6D6-07BF-8DDB-B0CF-B5EA37EF780F}"/>
              </a:ext>
            </a:extLst>
          </p:cNvPr>
          <p:cNvSpPr txBox="1"/>
          <p:nvPr/>
        </p:nvSpPr>
        <p:spPr>
          <a:xfrm>
            <a:off x="923925" y="1859340"/>
            <a:ext cx="10629900" cy="3539430"/>
          </a:xfrm>
          <a:prstGeom prst="rect">
            <a:avLst/>
          </a:prstGeom>
          <a:noFill/>
        </p:spPr>
        <p:txBody>
          <a:bodyPr wrap="square">
            <a:spAutoFit/>
          </a:bodyPr>
          <a:lstStyle/>
          <a:p>
            <a:pPr algn="just"/>
            <a:r>
              <a:rPr lang="es-MX" sz="2800" dirty="0"/>
              <a:t>La realización del banco de ejercicios permitió comprobar el funcionamiento de los diferentes módulos implementados para el análisis semántico. Mediante las pruebas se observaron casos válidos e inválidos relacionados con expresiones, tipos de datos, variables, tablas y errores semánticos.</a:t>
            </a:r>
          </a:p>
          <a:p>
            <a:pPr algn="just"/>
            <a:r>
              <a:rPr lang="es-MX" sz="2800" dirty="0"/>
              <a:t>Los resultados obtenidos permitieron verificar que el compilador responde de acuerdo con las reglas definidas en cada módulo y facilita la comprensión práctica de los conceptos correspondientes al </a:t>
            </a:r>
          </a:p>
        </p:txBody>
      </p:sp>
    </p:spTree>
    <p:extLst>
      <p:ext uri="{BB962C8B-B14F-4D97-AF65-F5344CB8AC3E}">
        <p14:creationId xmlns:p14="http://schemas.microsoft.com/office/powerpoint/2010/main" val="41559223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81831A-3E2E-BE56-6BCA-9BDB31370294}"/>
              </a:ext>
            </a:extLst>
          </p:cNvPr>
          <p:cNvSpPr>
            <a:spLocks noGrp="1"/>
          </p:cNvSpPr>
          <p:nvPr>
            <p:ph type="title"/>
          </p:nvPr>
        </p:nvSpPr>
        <p:spPr/>
        <p:txBody>
          <a:bodyPr/>
          <a:lstStyle/>
          <a:p>
            <a:r>
              <a:rPr lang="es-MX" b="1" dirty="0">
                <a:solidFill>
                  <a:schemeClr val="accent1"/>
                </a:solidFill>
                <a:ea typeface="+mn-ea"/>
                <a:cs typeface="+mn-cs"/>
              </a:rPr>
              <a:t>Fuente de información</a:t>
            </a:r>
          </a:p>
        </p:txBody>
      </p:sp>
      <p:sp>
        <p:nvSpPr>
          <p:cNvPr id="3" name="Marcador de contenido 2">
            <a:extLst>
              <a:ext uri="{FF2B5EF4-FFF2-40B4-BE49-F238E27FC236}">
                <a16:creationId xmlns:a16="http://schemas.microsoft.com/office/drawing/2014/main" id="{FBC534B0-8858-8A98-26F6-B2056075B801}"/>
              </a:ext>
            </a:extLst>
          </p:cNvPr>
          <p:cNvSpPr>
            <a:spLocks noGrp="1"/>
          </p:cNvSpPr>
          <p:nvPr>
            <p:ph idx="1"/>
          </p:nvPr>
        </p:nvSpPr>
        <p:spPr/>
        <p:txBody>
          <a:bodyPr>
            <a:normAutofit fontScale="77500" lnSpcReduction="20000"/>
          </a:bodyPr>
          <a:lstStyle/>
          <a:p>
            <a:r>
              <a:rPr lang="es-MX" dirty="0"/>
              <a:t>Aquino Villanueva, R. (2026). </a:t>
            </a:r>
            <a:r>
              <a:rPr lang="es-MX" i="1" dirty="0"/>
              <a:t>LYAII</a:t>
            </a:r>
            <a:r>
              <a:rPr lang="es-MX" dirty="0"/>
              <a:t> [Código fuente]. GitHub.</a:t>
            </a:r>
            <a:br>
              <a:rPr lang="es-MX" dirty="0"/>
            </a:br>
            <a:r>
              <a:rPr lang="es-MX" dirty="0">
                <a:hlinkClick r:id="rId2"/>
              </a:rPr>
              <a:t>https://github.com/rafaelrav8770/LYAll.git</a:t>
            </a:r>
            <a:br>
              <a:rPr lang="es-MX" dirty="0"/>
            </a:br>
            <a:r>
              <a:rPr lang="es-MX" dirty="0"/>
              <a:t>Mingo Velázquez, F. J. (2026). </a:t>
            </a:r>
            <a:r>
              <a:rPr lang="es-MX" i="1" dirty="0"/>
              <a:t>Análisis semántico en Lenguajes y Autómatas II</a:t>
            </a:r>
            <a:r>
              <a:rPr lang="es-MX" dirty="0"/>
              <a:t> [Material de clase no publicado]. Tecnológico Nacional de México, Unidad Académica Venustiano Carranza. </a:t>
            </a:r>
          </a:p>
          <a:p>
            <a:r>
              <a:rPr lang="es-MX" dirty="0"/>
              <a:t>Benítez Quecha, C. (2023). </a:t>
            </a:r>
            <a:r>
              <a:rPr lang="es-MX" i="1" dirty="0"/>
              <a:t>Apuntes para la materia de Lenguajes y Autómatas II</a:t>
            </a:r>
            <a:r>
              <a:rPr lang="es-MX" dirty="0"/>
              <a:t>. Tecnológico Nacional de México, Campus Oaxaca.</a:t>
            </a:r>
          </a:p>
          <a:p>
            <a:r>
              <a:rPr lang="es-MX" dirty="0"/>
              <a:t>Orozco, V. (2022, 13 de junio). </a:t>
            </a:r>
            <a:r>
              <a:rPr lang="es-MX" i="1" dirty="0"/>
              <a:t>Creando un analizador léxico con </a:t>
            </a:r>
            <a:r>
              <a:rPr lang="es-MX" i="1" dirty="0" err="1"/>
              <a:t>JFlex</a:t>
            </a:r>
            <a:r>
              <a:rPr lang="es-MX" i="1" dirty="0"/>
              <a:t>, Maven y Java 17</a:t>
            </a:r>
            <a:r>
              <a:rPr lang="es-MX" dirty="0"/>
              <a:t> [Video]. YouTube.</a:t>
            </a:r>
            <a:br>
              <a:rPr lang="es-MX" dirty="0"/>
            </a:br>
            <a:r>
              <a:rPr lang="es-MX" dirty="0">
                <a:hlinkClick r:id="rId3"/>
              </a:rPr>
              <a:t>https://www.youtube.com/watch?v=R6znBEekUVA</a:t>
            </a:r>
            <a:endParaRPr lang="es-MX" dirty="0"/>
          </a:p>
          <a:p>
            <a:r>
              <a:rPr lang="es-MX" dirty="0"/>
              <a:t>Charlead. (2019, 17 de febrero). </a:t>
            </a:r>
            <a:r>
              <a:rPr lang="es-MX" i="1" dirty="0" err="1"/>
              <a:t>JFlex</a:t>
            </a:r>
            <a:r>
              <a:rPr lang="es-MX" i="1" dirty="0"/>
              <a:t>: Analizador léxico con Java (explicación paso a paso)</a:t>
            </a:r>
            <a:r>
              <a:rPr lang="es-MX" dirty="0"/>
              <a:t> [Video]. YouTube.</a:t>
            </a:r>
            <a:br>
              <a:rPr lang="es-MX" dirty="0"/>
            </a:br>
            <a:r>
              <a:rPr lang="es-MX" dirty="0">
                <a:hlinkClick r:id="rId4"/>
              </a:rPr>
              <a:t>https://www.youtube.com/watch?v=5mIRrn2yEe8</a:t>
            </a:r>
            <a:endParaRPr lang="es-MX" dirty="0"/>
          </a:p>
          <a:p>
            <a:r>
              <a:rPr lang="es-MX" dirty="0" err="1"/>
              <a:t>JFlex</a:t>
            </a:r>
            <a:r>
              <a:rPr lang="es-MX" dirty="0"/>
              <a:t> Team. (s. f.). </a:t>
            </a:r>
            <a:r>
              <a:rPr lang="es-MX" i="1" dirty="0" err="1"/>
              <a:t>JFlex</a:t>
            </a:r>
            <a:r>
              <a:rPr lang="es-MX" i="1" dirty="0"/>
              <a:t> </a:t>
            </a:r>
            <a:r>
              <a:rPr lang="es-MX" i="1" dirty="0" err="1"/>
              <a:t>user’s</a:t>
            </a:r>
            <a:r>
              <a:rPr lang="es-MX" i="1" dirty="0"/>
              <a:t> manual</a:t>
            </a:r>
            <a:r>
              <a:rPr lang="es-MX" dirty="0"/>
              <a:t>.</a:t>
            </a:r>
            <a:br>
              <a:rPr lang="es-MX" dirty="0"/>
            </a:br>
            <a:r>
              <a:rPr lang="es-MX" dirty="0">
                <a:hlinkClick r:id="rId5"/>
              </a:rPr>
              <a:t>https://jflex.de/manual.html</a:t>
            </a:r>
            <a:endParaRPr lang="es-MX" dirty="0"/>
          </a:p>
          <a:p>
            <a:endParaRPr lang="es-MX" dirty="0"/>
          </a:p>
        </p:txBody>
      </p:sp>
    </p:spTree>
    <p:extLst>
      <p:ext uri="{BB962C8B-B14F-4D97-AF65-F5344CB8AC3E}">
        <p14:creationId xmlns:p14="http://schemas.microsoft.com/office/powerpoint/2010/main" val="146321431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4288</TotalTime>
  <Words>2231</Words>
  <Application>Microsoft Office PowerPoint</Application>
  <PresentationFormat>Panorámica</PresentationFormat>
  <Paragraphs>181</Paragraphs>
  <Slides>46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46</vt:i4>
      </vt:variant>
    </vt:vector>
  </HeadingPairs>
  <TitlesOfParts>
    <vt:vector size="51" baseType="lpstr">
      <vt:lpstr>Arial</vt:lpstr>
      <vt:lpstr>Calibri</vt:lpstr>
      <vt:lpstr>Calibri Light</vt:lpstr>
      <vt:lpstr>Wingdings</vt:lpstr>
      <vt:lpstr>Tema de Office</vt:lpstr>
      <vt:lpstr>Presentación de PowerPoint</vt:lpstr>
      <vt:lpstr>Presentación de PowerPoint</vt:lpstr>
      <vt:lpstr>Presentación de PowerPoint</vt:lpstr>
      <vt:lpstr>justificación</vt:lpstr>
      <vt:lpstr>Tema 1. Análisis semántico</vt:lpstr>
      <vt:lpstr>Ejercicio 1 de arboles de expresiones: prioridad de operadores</vt:lpstr>
      <vt:lpstr>Ejercicio 2. Árboles de expresiones: uso de paréntesis</vt:lpstr>
      <vt:lpstr>Ejercicio 3 Árboles de expresiones: varios operadores</vt:lpstr>
      <vt:lpstr>explicación de las pruebas</vt:lpstr>
      <vt:lpstr>Tema 1 Acciones semánticas</vt:lpstr>
      <vt:lpstr>Ejercicio 1. Acciones semánticas: Declaración de una variable</vt:lpstr>
      <vt:lpstr>Ejercicio 2. Acciones semánticas: Asignación compatible</vt:lpstr>
      <vt:lpstr>Ejercicio 3. Acciones semánticas: Error por tipos incompatibles</vt:lpstr>
      <vt:lpstr>Explicación de las pruebas- Acciones semánticas</vt:lpstr>
      <vt:lpstr>Tema 1 Comprobación de Tipos</vt:lpstr>
      <vt:lpstr>Ejercicio 1 Comprobación de tipos: tipos compatibles</vt:lpstr>
      <vt:lpstr>Ejercicio 2 Comprobación de tipos: tipos incompatibles</vt:lpstr>
      <vt:lpstr>Ejercicio 3 Comprobación de tipos: comparación de cadenas</vt:lpstr>
      <vt:lpstr>Explicación de las pruebas – Comprobación de tipos</vt:lpstr>
      <vt:lpstr>Tema 1 Pila semantica</vt:lpstr>
      <vt:lpstr>Ejercicio 1 Pila semántica: inserción de un elemento</vt:lpstr>
      <vt:lpstr>Ejercicio 2 Pila semántica: almacenamiento de varios elementos</vt:lpstr>
      <vt:lpstr>Ejercicio 3. Pila semántica: eliminación de un elemento</vt:lpstr>
      <vt:lpstr>Explicación de las pruebas – Pila semántica</vt:lpstr>
      <vt:lpstr>Tema 1 Esquema de traducción</vt:lpstr>
      <vt:lpstr>Ejercicio 1. Esquema de traducción: expresión simple</vt:lpstr>
      <vt:lpstr>Ejercicio 2. Esquema de traducción: prioridad de operadores</vt:lpstr>
      <vt:lpstr>Ejercicio 3. Esquema de traducción: expresión no válida</vt:lpstr>
      <vt:lpstr>Explicación de las pruebas- Esquema de traducción</vt:lpstr>
      <vt:lpstr>Tema 1 tabla de simbolos</vt:lpstr>
      <vt:lpstr>Ejercicio 1. Tabla de símbolos: registro de una variable</vt:lpstr>
      <vt:lpstr>Ejercicio 2. Tabla de símbolos: registro de varios identificadores</vt:lpstr>
      <vt:lpstr>Ejercicio 3. Tabla de símbolos: registro de varios tipos de datos</vt:lpstr>
      <vt:lpstr>Explicación de las pruebas – Tabla de símbolos</vt:lpstr>
      <vt:lpstr>Tema 1 tabla de direcciones</vt:lpstr>
      <vt:lpstr>Ejercicio 1. Tabla de direcciones: asignación de una variable</vt:lpstr>
      <vt:lpstr>Ejercicio 2. Tabla de direcciones: asignación de varias variables</vt:lpstr>
      <vt:lpstr>Ejercicio 3. Tabla de direcciones: incremento de direcciones</vt:lpstr>
      <vt:lpstr>explicación de las pruebas- Tabla de direcciones</vt:lpstr>
      <vt:lpstr>Tema 1 tabla de Errores Semanticos</vt:lpstr>
      <vt:lpstr>Ejercicio 1 Errores semánticos: tipos incompatibles</vt:lpstr>
      <vt:lpstr>Ejercicio 2 Errores semánticos: uso de variable no declarada</vt:lpstr>
      <vt:lpstr>Ejercicio 3. Errores semánticos: llamada correcta a una función</vt:lpstr>
      <vt:lpstr>explicación de las pruebas- Errores semánticos</vt:lpstr>
      <vt:lpstr>Presentación de PowerPoint</vt:lpstr>
      <vt:lpstr>Fuente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45</cp:revision>
  <dcterms:created xsi:type="dcterms:W3CDTF">2026-02-14T13:39:49Z</dcterms:created>
  <dcterms:modified xsi:type="dcterms:W3CDTF">2026-08-31T03:32:19Z</dcterms:modified>
</cp:coreProperties>
</file>