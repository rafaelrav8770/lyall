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63" r:id="rId3"/>
    <p:sldId id="258" r:id="rId4"/>
    <p:sldId id="303" r:id="rId5"/>
    <p:sldId id="277" r:id="rId6"/>
    <p:sldId id="331" r:id="rId7"/>
    <p:sldId id="333" r:id="rId8"/>
    <p:sldId id="343" r:id="rId9"/>
    <p:sldId id="334" r:id="rId10"/>
    <p:sldId id="337" r:id="rId11"/>
    <p:sldId id="332" r:id="rId12"/>
    <p:sldId id="341" r:id="rId13"/>
    <p:sldId id="339" r:id="rId14"/>
    <p:sldId id="338" r:id="rId15"/>
    <p:sldId id="340" r:id="rId16"/>
    <p:sldId id="342" r:id="rId17"/>
    <p:sldId id="330" r:id="rId18"/>
    <p:sldId id="319" r:id="rId19"/>
    <p:sldId id="320" r:id="rId20"/>
    <p:sldId id="321" r:id="rId21"/>
    <p:sldId id="322" r:id="rId22"/>
    <p:sldId id="323" r:id="rId23"/>
    <p:sldId id="324" r:id="rId24"/>
    <p:sldId id="325" r:id="rId25"/>
    <p:sldId id="326" r:id="rId26"/>
    <p:sldId id="329" r:id="rId27"/>
    <p:sldId id="327" r:id="rId28"/>
    <p:sldId id="328" r:id="rId29"/>
    <p:sldId id="260" r:id="rId30"/>
    <p:sldId id="318" r:id="rId3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0" d="100"/>
          <a:sy n="50" d="100"/>
        </p:scale>
        <p:origin x="922"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30/08/2026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youtube.com/watch?v=R6znBEekUVA" TargetMode="External"/><Relationship Id="rId2" Type="http://schemas.openxmlformats.org/officeDocument/2006/relationships/hyperlink" Target="https://github.com/rafaelrav8770/LYAll.git" TargetMode="External"/><Relationship Id="rId1" Type="http://schemas.openxmlformats.org/officeDocument/2006/relationships/slideLayout" Target="../slideLayouts/slideLayout2.xml"/><Relationship Id="rId5" Type="http://schemas.openxmlformats.org/officeDocument/2006/relationships/hyperlink" Target="https://jflex.de/manual.html?utm_source=chatgpt.com" TargetMode="External"/><Relationship Id="rId4" Type="http://schemas.openxmlformats.org/officeDocument/2006/relationships/hyperlink" Target="https://www.youtube.com/watch?v=5mIRrn2yEe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195648"/>
          </a:xfrm>
          <a:prstGeom prst="rect">
            <a:avLst/>
          </a:prstGeom>
          <a:noFill/>
        </p:spPr>
        <p:txBody>
          <a:bodyPr wrap="square">
            <a:spAutoFit/>
          </a:bodyPr>
          <a:lstStyle/>
          <a:p>
            <a:pPr algn="ctr">
              <a:lnSpc>
                <a:spcPct val="100000"/>
              </a:lnSpc>
              <a:spcAft>
                <a:spcPts val="800"/>
              </a:spcAft>
              <a:buNone/>
            </a:pPr>
            <a:r>
              <a:rPr lang="es-MX" sz="2000" b="1" kern="0" dirty="0">
                <a:latin typeface="Arial" panose="020B0604020202020204" pitchFamily="34" charset="0"/>
                <a:cs typeface="Arial" panose="020B0604020202020204" pitchFamily="34" charset="0"/>
              </a:rPr>
              <a:t>Lenguajes y Autómatas II</a:t>
            </a:r>
            <a:r>
              <a:rPr lang="en-US" sz="2000" b="1" kern="0" dirty="0">
                <a:latin typeface="Arial" panose="020B0604020202020204" pitchFamily="34" charset="0"/>
                <a:cs typeface="Arial" panose="020B0604020202020204" pitchFamily="34" charset="0"/>
              </a:rPr>
              <a:t> </a:t>
            </a:r>
            <a:endParaRPr lang="es-MX" sz="2000" b="1" kern="0" dirty="0">
              <a:latin typeface="Arial" panose="020B0604020202020204" pitchFamily="34" charset="0"/>
              <a:cs typeface="Arial" panose="020B0604020202020204" pitchFamily="34"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a:t>
            </a:r>
            <a:r>
              <a:rPr lang="es-MX" sz="2000" b="1" kern="0" dirty="0">
                <a:latin typeface="Arial" panose="020B0604020202020204" pitchFamily="34" charset="0"/>
                <a:ea typeface="Arial" panose="020B0604020202020204" pitchFamily="34" charset="0"/>
                <a:cs typeface="Arial" panose="020B0604020202020204" pitchFamily="34" charset="0"/>
              </a:rPr>
              <a:t>1</a:t>
            </a:r>
            <a:r>
              <a:rPr lang="es-MX" sz="2000" b="1" kern="0" dirty="0">
                <a:effectLst/>
                <a:latin typeface="Arial" panose="020B0604020202020204" pitchFamily="34" charset="0"/>
                <a:ea typeface="Arial" panose="020B0604020202020204" pitchFamily="34" charset="0"/>
                <a:cs typeface="Arial" panose="020B0604020202020204" pitchFamily="34" charset="0"/>
              </a:rPr>
              <a:t>.2 –REPORTE DE PRACTICA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1616399780"/>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SEPTIMO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dirty="0">
                <a:latin typeface="Arial" panose="020B0604020202020204" pitchFamily="34" charset="0"/>
                <a:ea typeface="Times New Roman" panose="02020603050405020304" pitchFamily="18" charset="0"/>
                <a:cs typeface="Arial" panose="020B0604020202020204" pitchFamily="34" charset="0"/>
              </a:rPr>
              <a:t>18</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DE </a:t>
            </a:r>
            <a:r>
              <a:rPr lang="es-MX" sz="2000" b="1" kern="0" dirty="0">
                <a:latin typeface="Arial" panose="020B0604020202020204" pitchFamily="34" charset="0"/>
                <a:ea typeface="Times New Roman" panose="02020603050405020304" pitchFamily="18" charset="0"/>
                <a:cs typeface="Arial" panose="020B0604020202020204" pitchFamily="34" charset="0"/>
              </a:rPr>
              <a:t>AGOSTO</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fontScale="77500" lnSpcReduction="20000"/>
          </a:bodyPr>
          <a:lstStyle/>
          <a:p>
            <a:pPr marL="0" indent="0">
              <a:buNone/>
            </a:pPr>
            <a:r>
              <a:rPr lang="es-MX" sz="5200" b="1" kern="0" dirty="0">
                <a:solidFill>
                  <a:schemeClr val="accent1"/>
                </a:solidFill>
                <a:latin typeface="+mj-lt"/>
                <a:cs typeface="Arial" panose="020B0604020202020204" pitchFamily="34" charset="0"/>
              </a:rPr>
              <a:t>Introducción</a:t>
            </a:r>
          </a:p>
          <a:p>
            <a:pPr marL="0" indent="0">
              <a:buNone/>
            </a:pPr>
            <a:endParaRPr lang="es-MX" dirty="0"/>
          </a:p>
          <a:p>
            <a:pPr marL="0" indent="0" algn="just">
              <a:buNone/>
            </a:pPr>
            <a:r>
              <a:rPr lang="es-MX" sz="3300" dirty="0"/>
              <a:t>Un compilador es un programa encargado de analizar y transformar un código escrito en un lenguaje de programación para generar una representación que pueda ser procesada posteriormente por una computadora. El proceso se encuentra dividido en diferentes etapas, entre las cuales se encuentra el análisis semántico.</a:t>
            </a:r>
          </a:p>
          <a:p>
            <a:pPr marL="0" indent="0" algn="just">
              <a:buNone/>
            </a:pPr>
            <a:r>
              <a:rPr lang="es-MX" sz="3300" dirty="0"/>
              <a:t>El análisis semántico permite verificar que las instrucciones escritas tengan sentido de acuerdo con las reglas del lenguaje, comprobando aspectos como los tipos de datos, el uso correcto de variables, las expresiones, las asignaciones y la información almacenada en la tabla de símbolos.</a:t>
            </a:r>
          </a:p>
          <a:p>
            <a:pPr marL="0" indent="0" algn="just">
              <a:buNone/>
            </a:pPr>
            <a:r>
              <a:rPr lang="es-MX" sz="3300" dirty="0"/>
              <a:t>se desarrolló una aplicación que representa diferentes elementos relacionados con el proceso de compilación, enfocándose inicialmente en el Tema 1: Análisis semántico. Para su implementación se utilizó Java mediante IntelliJ IDEA y </a:t>
            </a:r>
            <a:r>
              <a:rPr lang="es-MX" sz="3300" dirty="0" err="1"/>
              <a:t>JavaFX</a:t>
            </a:r>
            <a:r>
              <a:rPr lang="es-MX" sz="3300" dirty="0"/>
              <a:t> para el desarrollo de la interfaz gráfica.</a:t>
            </a:r>
          </a:p>
          <a:p>
            <a:endParaRPr lang="es-MX" dirty="0"/>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p:txBody>
          <a:bodyPr>
            <a:normAutofit lnSpcReduction="10000"/>
          </a:bodyPr>
          <a:lstStyle/>
          <a:p>
            <a:pPr marL="0" indent="0">
              <a:spcBef>
                <a:spcPct val="0"/>
              </a:spcBef>
              <a:buNone/>
            </a:pPr>
            <a:r>
              <a:rPr lang="es-MX" sz="4800" b="1" dirty="0">
                <a:solidFill>
                  <a:schemeClr val="accent1"/>
                </a:solidFill>
                <a:latin typeface="+mj-lt"/>
                <a:ea typeface="+mj-ea"/>
                <a:cs typeface="+mj-cs"/>
              </a:rPr>
              <a:t>Objetivo</a:t>
            </a:r>
          </a:p>
          <a:p>
            <a:pPr marL="0" indent="0">
              <a:buNone/>
            </a:pPr>
            <a:r>
              <a:rPr lang="es-MX" dirty="0"/>
              <a:t> </a:t>
            </a:r>
          </a:p>
          <a:p>
            <a:pPr marL="0" indent="0" algn="just">
              <a:buNone/>
            </a:pPr>
            <a:r>
              <a:rPr lang="es-MX" dirty="0"/>
              <a:t>Desarrollar una aplicación que permita representar y comprender los principales procesos relacionados con el análisis semántico dentro de un compilador, utilizando Java y </a:t>
            </a:r>
            <a:r>
              <a:rPr lang="es-MX" dirty="0" err="1"/>
              <a:t>JavaFX</a:t>
            </a:r>
            <a:r>
              <a:rPr lang="es-MX" dirty="0"/>
              <a:t> en </a:t>
            </a:r>
            <a:r>
              <a:rPr lang="es-MX" dirty="0" err="1"/>
              <a:t>intelij</a:t>
            </a:r>
            <a:r>
              <a:rPr lang="es-MX" dirty="0"/>
              <a:t> idea.</a:t>
            </a:r>
          </a:p>
          <a:p>
            <a:pPr marL="0" indent="0" algn="just">
              <a:buNone/>
            </a:pPr>
            <a:r>
              <a:rPr lang="es-MX" dirty="0"/>
              <a:t>implementar una interfaz que permita acceder de manera organizada a los diferentes conceptos del Tema 1, como árboles de expresiones, acciones semánticas, comprobación de tipos, pila semántica, esquema de traducción, tabla de símbolos, tabla de direcciones y manejo de errores semánticos.</a:t>
            </a:r>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p:txBody>
          <a:bodyPr>
            <a:normAutofit/>
          </a:bodyPr>
          <a:lstStyle/>
          <a:p>
            <a:r>
              <a:rPr lang="es-MX" sz="4800" b="1" dirty="0">
                <a:solidFill>
                  <a:schemeClr val="accent1"/>
                </a:solidFill>
              </a:rPr>
              <a:t>justificación</a:t>
            </a:r>
          </a:p>
        </p:txBody>
      </p:sp>
      <p:sp>
        <p:nvSpPr>
          <p:cNvPr id="3" name="Marcador de contenido 2">
            <a:extLst>
              <a:ext uri="{FF2B5EF4-FFF2-40B4-BE49-F238E27FC236}">
                <a16:creationId xmlns:a16="http://schemas.microsoft.com/office/drawing/2014/main" id="{8CEA835B-7257-6BC0-9849-98A1416CE74C}"/>
              </a:ext>
            </a:extLst>
          </p:cNvPr>
          <p:cNvSpPr>
            <a:spLocks noGrp="1"/>
          </p:cNvSpPr>
          <p:nvPr>
            <p:ph idx="1"/>
          </p:nvPr>
        </p:nvSpPr>
        <p:spPr/>
        <p:txBody>
          <a:bodyPr>
            <a:normAutofit fontScale="70000" lnSpcReduction="20000"/>
          </a:bodyPr>
          <a:lstStyle/>
          <a:p>
            <a:pPr marL="0" indent="0" algn="just">
              <a:buNone/>
            </a:pPr>
            <a:r>
              <a:rPr lang="es-MX" dirty="0"/>
              <a:t>El análisis semántico constituye una etapa importante dentro del proceso de compilación, debido a que permite comprobar que una instrucción sea válida no solamente desde el punto de vista de su estructura, sino también de su significado.</a:t>
            </a:r>
          </a:p>
          <a:p>
            <a:pPr marL="0" indent="0" algn="just">
              <a:buNone/>
            </a:pPr>
            <a:r>
              <a:rPr lang="es-MX" dirty="0"/>
              <a:t>La realización de esta práctica permite:</a:t>
            </a:r>
          </a:p>
          <a:p>
            <a:pPr marL="0" lvl="0" indent="0" algn="just">
              <a:buNone/>
            </a:pPr>
            <a:r>
              <a:rPr lang="es-MX" dirty="0"/>
              <a:t>Comprender las principales etapas de un compilador.</a:t>
            </a:r>
          </a:p>
          <a:p>
            <a:pPr marL="0" lvl="0" indent="0" algn="just">
              <a:buNone/>
            </a:pPr>
            <a:r>
              <a:rPr lang="es-MX" dirty="0"/>
              <a:t>Identificar la función del análisis semántico.</a:t>
            </a:r>
          </a:p>
          <a:p>
            <a:pPr marL="0" lvl="0" indent="0" algn="just">
              <a:buNone/>
            </a:pPr>
            <a:r>
              <a:rPr lang="es-MX" dirty="0"/>
              <a:t>Analizar expresiones y tipos de datos.</a:t>
            </a:r>
          </a:p>
          <a:p>
            <a:pPr marL="0" lvl="0" indent="0" algn="just">
              <a:buNone/>
            </a:pPr>
            <a:r>
              <a:rPr lang="es-MX" dirty="0"/>
              <a:t>Comprender el funcionamiento de una tabla de símbolos.</a:t>
            </a:r>
          </a:p>
          <a:p>
            <a:pPr marL="0" lvl="0" indent="0" algn="just">
              <a:buNone/>
            </a:pPr>
            <a:r>
              <a:rPr lang="es-MX" dirty="0"/>
              <a:t>Detectar errores semánticos en instrucciones.</a:t>
            </a:r>
          </a:p>
          <a:p>
            <a:pPr marL="0" lvl="0" indent="0" algn="just">
              <a:buNone/>
            </a:pPr>
            <a:r>
              <a:rPr lang="es-MX" dirty="0"/>
              <a:t>Relacionar los conceptos teóricos con una implementación mediante programación.</a:t>
            </a:r>
          </a:p>
          <a:p>
            <a:pPr marL="0" lvl="0" indent="0" algn="just">
              <a:buNone/>
            </a:pPr>
            <a:r>
              <a:rPr lang="es-MX" dirty="0"/>
              <a:t>Desarrollar una interfaz gráfica para representar el funcionamiento de los diferentes procesos.</a:t>
            </a:r>
          </a:p>
          <a:p>
            <a:pPr marL="0" indent="0" algn="just">
              <a:buNone/>
            </a:pPr>
            <a:r>
              <a:rPr lang="es-MX" dirty="0"/>
              <a:t>La práctica facilita la comprensión de los conceptos vistos en la asignatura de Lenguajes y Autómatas II mediante su implementación en un programa funcional.</a:t>
            </a:r>
          </a:p>
          <a:p>
            <a:endParaRPr lang="es-MX" dirty="0"/>
          </a:p>
        </p:txBody>
      </p:sp>
    </p:spTree>
    <p:extLst>
      <p:ext uri="{BB962C8B-B14F-4D97-AF65-F5344CB8AC3E}">
        <p14:creationId xmlns:p14="http://schemas.microsoft.com/office/powerpoint/2010/main" val="352723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1DE5D6-4298-34BA-DF41-540FC843FD09}"/>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Creación del proyecto en IntelliJ IDEA</a:t>
            </a:r>
          </a:p>
        </p:txBody>
      </p:sp>
      <p:pic>
        <p:nvPicPr>
          <p:cNvPr id="9" name="Imagen 8">
            <a:extLst>
              <a:ext uri="{FF2B5EF4-FFF2-40B4-BE49-F238E27FC236}">
                <a16:creationId xmlns:a16="http://schemas.microsoft.com/office/drawing/2014/main" id="{232AE39B-0284-2A21-6E70-90B92059D8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440" y="1778000"/>
            <a:ext cx="5238044" cy="2946400"/>
          </a:xfrm>
          <a:prstGeom prst="rect">
            <a:avLst/>
          </a:prstGeom>
        </p:spPr>
      </p:pic>
      <p:pic>
        <p:nvPicPr>
          <p:cNvPr id="14" name="Imagen 13">
            <a:extLst>
              <a:ext uri="{FF2B5EF4-FFF2-40B4-BE49-F238E27FC236}">
                <a16:creationId xmlns:a16="http://schemas.microsoft.com/office/drawing/2014/main" id="{B7AD5856-C15F-43B8-BAB4-3BF93F7ABE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756" y="1777999"/>
            <a:ext cx="5238044" cy="2946400"/>
          </a:xfrm>
          <a:prstGeom prst="rect">
            <a:avLst/>
          </a:prstGeom>
        </p:spPr>
      </p:pic>
      <p:sp>
        <p:nvSpPr>
          <p:cNvPr id="18" name="CuadroTexto 17">
            <a:extLst>
              <a:ext uri="{FF2B5EF4-FFF2-40B4-BE49-F238E27FC236}">
                <a16:creationId xmlns:a16="http://schemas.microsoft.com/office/drawing/2014/main" id="{0168B9C4-AFA7-0D1D-762B-826A9CE3A206}"/>
              </a:ext>
            </a:extLst>
          </p:cNvPr>
          <p:cNvSpPr txBox="1"/>
          <p:nvPr/>
        </p:nvSpPr>
        <p:spPr>
          <a:xfrm>
            <a:off x="463826" y="5009495"/>
            <a:ext cx="10889974" cy="1292662"/>
          </a:xfrm>
          <a:prstGeom prst="rect">
            <a:avLst/>
          </a:prstGeom>
          <a:noFill/>
        </p:spPr>
        <p:txBody>
          <a:bodyPr wrap="square">
            <a:spAutoFit/>
          </a:bodyPr>
          <a:lstStyle/>
          <a:p>
            <a:pPr algn="just"/>
            <a:r>
              <a:rPr lang="es-MX" sz="2600" dirty="0"/>
              <a:t>Se creó un nuevo proyecto en IntelliJ IDEA con el nombre LYAII-COMPILADOR, utilizando Java como lenguaje de programación y Maven para la administración y construcción del proyecto.</a:t>
            </a:r>
          </a:p>
        </p:txBody>
      </p:sp>
    </p:spTree>
    <p:extLst>
      <p:ext uri="{BB962C8B-B14F-4D97-AF65-F5344CB8AC3E}">
        <p14:creationId xmlns:p14="http://schemas.microsoft.com/office/powerpoint/2010/main" val="2133643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21693D-A919-6D09-3DD9-EE7A01D5AAD2}"/>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Estructura inicial del proyecto</a:t>
            </a:r>
          </a:p>
        </p:txBody>
      </p:sp>
      <p:pic>
        <p:nvPicPr>
          <p:cNvPr id="4" name="Marcador de contenido 3">
            <a:extLst>
              <a:ext uri="{FF2B5EF4-FFF2-40B4-BE49-F238E27FC236}">
                <a16:creationId xmlns:a16="http://schemas.microsoft.com/office/drawing/2014/main" id="{17CD6668-C76E-88FC-0B78-155CD0EDF6C0}"/>
              </a:ext>
            </a:extLst>
          </p:cNvPr>
          <p:cNvPicPr>
            <a:picLocks noGrp="1" noChangeAspect="1"/>
          </p:cNvPicPr>
          <p:nvPr>
            <p:ph idx="1"/>
          </p:nvPr>
        </p:nvPicPr>
        <p:blipFill>
          <a:blip r:embed="rId2"/>
          <a:stretch>
            <a:fillRect/>
          </a:stretch>
        </p:blipFill>
        <p:spPr>
          <a:xfrm>
            <a:off x="6654032" y="1817225"/>
            <a:ext cx="5034452" cy="2831879"/>
          </a:xfrm>
          <a:prstGeom prst="rect">
            <a:avLst/>
          </a:prstGeom>
        </p:spPr>
      </p:pic>
      <p:sp>
        <p:nvSpPr>
          <p:cNvPr id="6" name="CuadroTexto 5">
            <a:extLst>
              <a:ext uri="{FF2B5EF4-FFF2-40B4-BE49-F238E27FC236}">
                <a16:creationId xmlns:a16="http://schemas.microsoft.com/office/drawing/2014/main" id="{7D1354CE-888D-5561-4C48-50FA2132F258}"/>
              </a:ext>
            </a:extLst>
          </p:cNvPr>
          <p:cNvSpPr txBox="1"/>
          <p:nvPr/>
        </p:nvSpPr>
        <p:spPr>
          <a:xfrm>
            <a:off x="1322576" y="1951161"/>
            <a:ext cx="4951070" cy="3693319"/>
          </a:xfrm>
          <a:prstGeom prst="rect">
            <a:avLst/>
          </a:prstGeom>
          <a:noFill/>
        </p:spPr>
        <p:txBody>
          <a:bodyPr wrap="square">
            <a:spAutoFit/>
          </a:bodyPr>
          <a:lstStyle>
            <a:defPPr>
              <a:defRPr lang="es-MX"/>
            </a:defPPr>
            <a:lvl1pPr algn="just">
              <a:defRPr sz="2600"/>
            </a:lvl1pPr>
          </a:lstStyle>
          <a:p>
            <a:r>
              <a:rPr lang="es-MX" dirty="0"/>
              <a:t>Se organizó el proyecto mediante paquetes para separar las diferentes funciones del compilador. Inicialmente se partió de la estructura generada por IntelliJ IDEA y posteriormente se crearon paquetes específicos para la interfaz y los módulos correspondientes a cada tema</a:t>
            </a:r>
          </a:p>
        </p:txBody>
      </p:sp>
    </p:spTree>
    <p:extLst>
      <p:ext uri="{BB962C8B-B14F-4D97-AF65-F5344CB8AC3E}">
        <p14:creationId xmlns:p14="http://schemas.microsoft.com/office/powerpoint/2010/main" val="777365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DF9C0B-587A-6239-6FA4-44D3A1F2274E}"/>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Prueba inicial</a:t>
            </a:r>
          </a:p>
        </p:txBody>
      </p:sp>
      <p:pic>
        <p:nvPicPr>
          <p:cNvPr id="4" name="Marcador de contenido 3">
            <a:extLst>
              <a:ext uri="{FF2B5EF4-FFF2-40B4-BE49-F238E27FC236}">
                <a16:creationId xmlns:a16="http://schemas.microsoft.com/office/drawing/2014/main" id="{E850CEFD-731F-DC3A-914E-1ADE9FFEF57B}"/>
              </a:ext>
            </a:extLst>
          </p:cNvPr>
          <p:cNvPicPr>
            <a:picLocks noGrp="1" noChangeAspect="1"/>
          </p:cNvPicPr>
          <p:nvPr>
            <p:ph idx="1"/>
          </p:nvPr>
        </p:nvPicPr>
        <p:blipFill>
          <a:blip r:embed="rId2"/>
          <a:stretch>
            <a:fillRect/>
          </a:stretch>
        </p:blipFill>
        <p:spPr>
          <a:xfrm>
            <a:off x="5230988" y="1554479"/>
            <a:ext cx="5616788" cy="3159443"/>
          </a:xfrm>
          <a:prstGeom prst="rect">
            <a:avLst/>
          </a:prstGeom>
        </p:spPr>
      </p:pic>
      <p:sp>
        <p:nvSpPr>
          <p:cNvPr id="6" name="CuadroTexto 5">
            <a:extLst>
              <a:ext uri="{FF2B5EF4-FFF2-40B4-BE49-F238E27FC236}">
                <a16:creationId xmlns:a16="http://schemas.microsoft.com/office/drawing/2014/main" id="{82D090F2-95D7-C187-549D-0F1E3B5262F6}"/>
              </a:ext>
            </a:extLst>
          </p:cNvPr>
          <p:cNvSpPr txBox="1"/>
          <p:nvPr/>
        </p:nvSpPr>
        <p:spPr>
          <a:xfrm>
            <a:off x="662608" y="1599228"/>
            <a:ext cx="4412975" cy="4893647"/>
          </a:xfrm>
          <a:prstGeom prst="rect">
            <a:avLst/>
          </a:prstGeom>
          <a:noFill/>
        </p:spPr>
        <p:txBody>
          <a:bodyPr wrap="square">
            <a:spAutoFit/>
          </a:bodyPr>
          <a:lstStyle>
            <a:defPPr>
              <a:defRPr lang="es-MX"/>
            </a:defPPr>
            <a:lvl1pPr algn="just">
              <a:defRPr sz="2600"/>
            </a:lvl1pPr>
          </a:lstStyle>
          <a:p>
            <a:r>
              <a:rPr lang="es-MX" dirty="0"/>
              <a:t>se realizó una primera prueba de ejecución utilizando el paquete </a:t>
            </a:r>
            <a:r>
              <a:rPr lang="es-MX" dirty="0" err="1"/>
              <a:t>org.example</a:t>
            </a:r>
            <a:r>
              <a:rPr lang="es-MX" dirty="0"/>
              <a:t>,  generado automáticamente al crear el proyecto. En la clase Main se agregó una instrucción para mostrar en consola el mensaje “COMPILADOR LENGUAJES Y AUTÓMATAS II”, verificando así que el proyecto compilara y se ejecutara correctamente.</a:t>
            </a:r>
          </a:p>
        </p:txBody>
      </p:sp>
    </p:spTree>
    <p:extLst>
      <p:ext uri="{BB962C8B-B14F-4D97-AF65-F5344CB8AC3E}">
        <p14:creationId xmlns:p14="http://schemas.microsoft.com/office/powerpoint/2010/main" val="2861438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10F199-7D01-A7B8-7C92-D27B62C1631B}"/>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Creación del paquete principal </a:t>
            </a:r>
          </a:p>
        </p:txBody>
      </p:sp>
      <p:pic>
        <p:nvPicPr>
          <p:cNvPr id="4" name="Marcador de contenido 3">
            <a:extLst>
              <a:ext uri="{FF2B5EF4-FFF2-40B4-BE49-F238E27FC236}">
                <a16:creationId xmlns:a16="http://schemas.microsoft.com/office/drawing/2014/main" id="{6487BBBC-DDD0-BE1A-503D-107D8ED0FE68}"/>
              </a:ext>
            </a:extLst>
          </p:cNvPr>
          <p:cNvPicPr>
            <a:picLocks noGrp="1" noChangeAspect="1"/>
          </p:cNvPicPr>
          <p:nvPr>
            <p:ph idx="1"/>
          </p:nvPr>
        </p:nvPicPr>
        <p:blipFill>
          <a:blip r:embed="rId2"/>
          <a:stretch>
            <a:fillRect/>
          </a:stretch>
        </p:blipFill>
        <p:spPr>
          <a:xfrm>
            <a:off x="5814758" y="2057399"/>
            <a:ext cx="5539042" cy="3115711"/>
          </a:xfrm>
          <a:prstGeom prst="rect">
            <a:avLst/>
          </a:prstGeom>
        </p:spPr>
      </p:pic>
      <p:sp>
        <p:nvSpPr>
          <p:cNvPr id="6" name="CuadroTexto 5">
            <a:extLst>
              <a:ext uri="{FF2B5EF4-FFF2-40B4-BE49-F238E27FC236}">
                <a16:creationId xmlns:a16="http://schemas.microsoft.com/office/drawing/2014/main" id="{05458F08-6B97-98CA-1DB6-06E439DBA9B1}"/>
              </a:ext>
            </a:extLst>
          </p:cNvPr>
          <p:cNvSpPr txBox="1"/>
          <p:nvPr/>
        </p:nvSpPr>
        <p:spPr>
          <a:xfrm>
            <a:off x="838200" y="1690688"/>
            <a:ext cx="4807226" cy="4493538"/>
          </a:xfrm>
          <a:prstGeom prst="rect">
            <a:avLst/>
          </a:prstGeom>
          <a:noFill/>
        </p:spPr>
        <p:txBody>
          <a:bodyPr wrap="square">
            <a:spAutoFit/>
          </a:bodyPr>
          <a:lstStyle>
            <a:defPPr>
              <a:defRPr lang="es-MX"/>
            </a:defPPr>
            <a:lvl1pPr algn="just">
              <a:defRPr sz="2600"/>
            </a:lvl1pPr>
          </a:lstStyle>
          <a:p>
            <a:r>
              <a:rPr lang="es-MX" dirty="0"/>
              <a:t>Se creó el paquete principal compilador dentro de </a:t>
            </a:r>
            <a:r>
              <a:rPr lang="es-MX" dirty="0" err="1"/>
              <a:t>src</a:t>
            </a:r>
            <a:r>
              <a:rPr lang="es-MX" dirty="0"/>
              <a:t>/</a:t>
            </a:r>
            <a:r>
              <a:rPr lang="es-MX" dirty="0" err="1"/>
              <a:t>main</a:t>
            </a:r>
            <a:r>
              <a:rPr lang="es-MX" dirty="0"/>
              <a:t>/java para organizar las clases propias del proyecto. En esta etapa todavía se conservaba el paquete predeterminado </a:t>
            </a:r>
            <a:r>
              <a:rPr lang="es-MX" dirty="0" err="1"/>
              <a:t>org.example</a:t>
            </a:r>
            <a:r>
              <a:rPr lang="es-MX" dirty="0"/>
              <a:t>, mientras se verificaba el funcionamiento del nuevo paquete antes de eliminar la estructura generada automáticamente.</a:t>
            </a:r>
          </a:p>
        </p:txBody>
      </p:sp>
    </p:spTree>
    <p:extLst>
      <p:ext uri="{BB962C8B-B14F-4D97-AF65-F5344CB8AC3E}">
        <p14:creationId xmlns:p14="http://schemas.microsoft.com/office/powerpoint/2010/main" val="1495278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7F109F-4FE1-0FDF-01E2-D563ADE6F6FE}"/>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Creación de la clase Main en java</a:t>
            </a:r>
          </a:p>
        </p:txBody>
      </p:sp>
      <p:pic>
        <p:nvPicPr>
          <p:cNvPr id="4" name="Marcador de contenido 3">
            <a:extLst>
              <a:ext uri="{FF2B5EF4-FFF2-40B4-BE49-F238E27FC236}">
                <a16:creationId xmlns:a16="http://schemas.microsoft.com/office/drawing/2014/main" id="{6D82F5E1-0F83-DC85-BD61-EAF9E9D78C0C}"/>
              </a:ext>
            </a:extLst>
          </p:cNvPr>
          <p:cNvPicPr>
            <a:picLocks noGrp="1" noChangeAspect="1"/>
          </p:cNvPicPr>
          <p:nvPr>
            <p:ph idx="1"/>
          </p:nvPr>
        </p:nvPicPr>
        <p:blipFill>
          <a:blip r:embed="rId2"/>
          <a:stretch>
            <a:fillRect/>
          </a:stretch>
        </p:blipFill>
        <p:spPr>
          <a:xfrm>
            <a:off x="1358053" y="1927225"/>
            <a:ext cx="4737947" cy="2665095"/>
          </a:xfrm>
          <a:prstGeom prst="rect">
            <a:avLst/>
          </a:prstGeom>
        </p:spPr>
      </p:pic>
      <p:pic>
        <p:nvPicPr>
          <p:cNvPr id="6" name="Imagen 5">
            <a:extLst>
              <a:ext uri="{FF2B5EF4-FFF2-40B4-BE49-F238E27FC236}">
                <a16:creationId xmlns:a16="http://schemas.microsoft.com/office/drawing/2014/main" id="{B917B1FC-7C89-3C7E-6E27-C44C674A60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6932" y="1927225"/>
            <a:ext cx="4737948" cy="2665096"/>
          </a:xfrm>
          <a:prstGeom prst="rect">
            <a:avLst/>
          </a:prstGeom>
        </p:spPr>
      </p:pic>
      <p:sp>
        <p:nvSpPr>
          <p:cNvPr id="8" name="CuadroTexto 7">
            <a:extLst>
              <a:ext uri="{FF2B5EF4-FFF2-40B4-BE49-F238E27FC236}">
                <a16:creationId xmlns:a16="http://schemas.microsoft.com/office/drawing/2014/main" id="{09CC63C2-120F-FB08-72DC-B84CC98A447C}"/>
              </a:ext>
            </a:extLst>
          </p:cNvPr>
          <p:cNvSpPr txBox="1"/>
          <p:nvPr/>
        </p:nvSpPr>
        <p:spPr>
          <a:xfrm>
            <a:off x="1358053" y="4928215"/>
            <a:ext cx="9853286" cy="892552"/>
          </a:xfrm>
          <a:prstGeom prst="rect">
            <a:avLst/>
          </a:prstGeom>
          <a:noFill/>
        </p:spPr>
        <p:txBody>
          <a:bodyPr wrap="square">
            <a:spAutoFit/>
          </a:bodyPr>
          <a:lstStyle>
            <a:defPPr>
              <a:defRPr lang="es-MX"/>
            </a:defPPr>
            <a:lvl1pPr algn="just">
              <a:defRPr sz="2600"/>
            </a:lvl1pPr>
          </a:lstStyle>
          <a:p>
            <a:r>
              <a:rPr lang="es-MX" dirty="0"/>
              <a:t>Se creó la clase Main.java, encargada de iniciar la ejecución del compilador y servir como punto de entrada principal de la aplicación.</a:t>
            </a:r>
          </a:p>
        </p:txBody>
      </p:sp>
    </p:spTree>
    <p:extLst>
      <p:ext uri="{BB962C8B-B14F-4D97-AF65-F5344CB8AC3E}">
        <p14:creationId xmlns:p14="http://schemas.microsoft.com/office/powerpoint/2010/main" val="1643700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616EFC-C6A2-A530-1C1C-87A82F56ED4C}"/>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Eliminación del paquete predeterminado</a:t>
            </a:r>
          </a:p>
        </p:txBody>
      </p:sp>
      <p:pic>
        <p:nvPicPr>
          <p:cNvPr id="8" name="Marcador de contenido 7">
            <a:extLst>
              <a:ext uri="{FF2B5EF4-FFF2-40B4-BE49-F238E27FC236}">
                <a16:creationId xmlns:a16="http://schemas.microsoft.com/office/drawing/2014/main" id="{A862200E-AB02-F3BA-8B6B-504D5E13339C}"/>
              </a:ext>
            </a:extLst>
          </p:cNvPr>
          <p:cNvPicPr>
            <a:picLocks noGrp="1" noChangeAspect="1"/>
          </p:cNvPicPr>
          <p:nvPr>
            <p:ph idx="1"/>
          </p:nvPr>
        </p:nvPicPr>
        <p:blipFill>
          <a:blip r:embed="rId2"/>
          <a:stretch>
            <a:fillRect/>
          </a:stretch>
        </p:blipFill>
        <p:spPr>
          <a:xfrm>
            <a:off x="6317544" y="2086292"/>
            <a:ext cx="4774071" cy="2685415"/>
          </a:xfrm>
          <a:prstGeom prst="rect">
            <a:avLst/>
          </a:prstGeom>
        </p:spPr>
      </p:pic>
      <p:sp>
        <p:nvSpPr>
          <p:cNvPr id="10" name="CuadroTexto 9">
            <a:extLst>
              <a:ext uri="{FF2B5EF4-FFF2-40B4-BE49-F238E27FC236}">
                <a16:creationId xmlns:a16="http://schemas.microsoft.com/office/drawing/2014/main" id="{F06D6D61-0447-B1D5-ED1E-21C099471F5F}"/>
              </a:ext>
            </a:extLst>
          </p:cNvPr>
          <p:cNvSpPr txBox="1"/>
          <p:nvPr/>
        </p:nvSpPr>
        <p:spPr>
          <a:xfrm>
            <a:off x="995680" y="2505669"/>
            <a:ext cx="4774071" cy="923330"/>
          </a:xfrm>
          <a:prstGeom prst="rect">
            <a:avLst/>
          </a:prstGeom>
          <a:noFill/>
        </p:spPr>
        <p:txBody>
          <a:bodyPr wrap="square">
            <a:spAutoFit/>
          </a:bodyPr>
          <a:lstStyle>
            <a:defPPr>
              <a:defRPr lang="es-MX"/>
            </a:defPPr>
            <a:lvl1pPr algn="just">
              <a:defRPr sz="2600"/>
            </a:lvl1pPr>
          </a:lstStyle>
          <a:p>
            <a:r>
              <a:rPr lang="es-MX" dirty="0"/>
              <a:t>Se eliminó el paquete </a:t>
            </a:r>
            <a:r>
              <a:rPr lang="es-MX" dirty="0" err="1"/>
              <a:t>org.example</a:t>
            </a:r>
            <a:r>
              <a:rPr lang="es-MX" dirty="0"/>
              <a:t> generado por defecto, ya que el proyecto continuará desarrollándose dentro del paquete compilador.</a:t>
            </a:r>
          </a:p>
        </p:txBody>
      </p:sp>
    </p:spTree>
    <p:extLst>
      <p:ext uri="{BB962C8B-B14F-4D97-AF65-F5344CB8AC3E}">
        <p14:creationId xmlns:p14="http://schemas.microsoft.com/office/powerpoint/2010/main" val="1476211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A7A7F9-ED5F-8BA6-E062-3E7E181FA608}"/>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Configuración de </a:t>
            </a:r>
            <a:r>
              <a:rPr lang="es-MX" sz="4800" b="1" dirty="0" err="1">
                <a:solidFill>
                  <a:schemeClr val="accent1"/>
                </a:solidFill>
              </a:rPr>
              <a:t>JavaFX</a:t>
            </a:r>
            <a:endParaRPr lang="es-MX" sz="4800" b="1" dirty="0">
              <a:solidFill>
                <a:schemeClr val="accent1"/>
              </a:solidFill>
            </a:endParaRPr>
          </a:p>
        </p:txBody>
      </p:sp>
      <p:pic>
        <p:nvPicPr>
          <p:cNvPr id="4" name="Marcador de contenido 3">
            <a:extLst>
              <a:ext uri="{FF2B5EF4-FFF2-40B4-BE49-F238E27FC236}">
                <a16:creationId xmlns:a16="http://schemas.microsoft.com/office/drawing/2014/main" id="{D8A959DF-4D5D-0009-DC21-E67C3C19AB9D}"/>
              </a:ext>
            </a:extLst>
          </p:cNvPr>
          <p:cNvPicPr>
            <a:picLocks noGrp="1" noChangeAspect="1"/>
          </p:cNvPicPr>
          <p:nvPr>
            <p:ph idx="1"/>
          </p:nvPr>
        </p:nvPicPr>
        <p:blipFill>
          <a:blip r:embed="rId2"/>
          <a:stretch>
            <a:fillRect/>
          </a:stretch>
        </p:blipFill>
        <p:spPr>
          <a:xfrm>
            <a:off x="956782" y="1498866"/>
            <a:ext cx="4032000" cy="2268000"/>
          </a:xfrm>
          <a:prstGeom prst="rect">
            <a:avLst/>
          </a:prstGeom>
        </p:spPr>
      </p:pic>
      <p:pic>
        <p:nvPicPr>
          <p:cNvPr id="6" name="Imagen 5">
            <a:extLst>
              <a:ext uri="{FF2B5EF4-FFF2-40B4-BE49-F238E27FC236}">
                <a16:creationId xmlns:a16="http://schemas.microsoft.com/office/drawing/2014/main" id="{92CE77BD-AEDD-86F6-1267-2851FF6E05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782" y="3836329"/>
            <a:ext cx="4032000" cy="2268000"/>
          </a:xfrm>
          <a:prstGeom prst="rect">
            <a:avLst/>
          </a:prstGeom>
        </p:spPr>
      </p:pic>
      <p:pic>
        <p:nvPicPr>
          <p:cNvPr id="10" name="Imagen 9">
            <a:extLst>
              <a:ext uri="{FF2B5EF4-FFF2-40B4-BE49-F238E27FC236}">
                <a16:creationId xmlns:a16="http://schemas.microsoft.com/office/drawing/2014/main" id="{2E67BD68-584B-708F-1A56-98C6543A55B4}"/>
              </a:ext>
            </a:extLst>
          </p:cNvPr>
          <p:cNvPicPr>
            <a:picLocks noChangeAspect="1"/>
          </p:cNvPicPr>
          <p:nvPr/>
        </p:nvPicPr>
        <p:blipFill>
          <a:blip r:embed="rId4"/>
          <a:stretch>
            <a:fillRect/>
          </a:stretch>
        </p:blipFill>
        <p:spPr>
          <a:xfrm>
            <a:off x="5418236" y="1498866"/>
            <a:ext cx="4032000" cy="2268000"/>
          </a:xfrm>
          <a:prstGeom prst="rect">
            <a:avLst/>
          </a:prstGeom>
        </p:spPr>
      </p:pic>
      <p:sp>
        <p:nvSpPr>
          <p:cNvPr id="12" name="CuadroTexto 11">
            <a:extLst>
              <a:ext uri="{FF2B5EF4-FFF2-40B4-BE49-F238E27FC236}">
                <a16:creationId xmlns:a16="http://schemas.microsoft.com/office/drawing/2014/main" id="{63CC6F17-C80A-DC67-EA7E-0D91C33A99F6}"/>
              </a:ext>
            </a:extLst>
          </p:cNvPr>
          <p:cNvSpPr txBox="1"/>
          <p:nvPr/>
        </p:nvSpPr>
        <p:spPr>
          <a:xfrm>
            <a:off x="5273670" y="4151684"/>
            <a:ext cx="5183470" cy="2092881"/>
          </a:xfrm>
          <a:prstGeom prst="rect">
            <a:avLst/>
          </a:prstGeom>
          <a:noFill/>
        </p:spPr>
        <p:txBody>
          <a:bodyPr wrap="square">
            <a:spAutoFit/>
          </a:bodyPr>
          <a:lstStyle>
            <a:defPPr>
              <a:defRPr lang="es-MX"/>
            </a:defPPr>
            <a:lvl1pPr algn="just">
              <a:defRPr sz="2600"/>
            </a:lvl1pPr>
          </a:lstStyle>
          <a:p>
            <a:r>
              <a:rPr lang="es-MX" dirty="0"/>
              <a:t>Se configuró </a:t>
            </a:r>
            <a:r>
              <a:rPr lang="es-MX" dirty="0" err="1"/>
              <a:t>JavaFX</a:t>
            </a:r>
            <a:r>
              <a:rPr lang="es-MX" dirty="0"/>
              <a:t> en el proyecto agregando las dependencias necesarias en pom.xml y preparando las clases principales para ejecutar la interfaz gráfica del compilador.</a:t>
            </a:r>
          </a:p>
        </p:txBody>
      </p:sp>
    </p:spTree>
    <p:extLst>
      <p:ext uri="{BB962C8B-B14F-4D97-AF65-F5344CB8AC3E}">
        <p14:creationId xmlns:p14="http://schemas.microsoft.com/office/powerpoint/2010/main" val="4241960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C23F1D-ACF5-DA2B-4FEF-505CF67DCFF9}"/>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Creación de AplicacionFX.java</a:t>
            </a:r>
          </a:p>
        </p:txBody>
      </p:sp>
      <p:pic>
        <p:nvPicPr>
          <p:cNvPr id="5" name="Marcador de contenido 4">
            <a:extLst>
              <a:ext uri="{FF2B5EF4-FFF2-40B4-BE49-F238E27FC236}">
                <a16:creationId xmlns:a16="http://schemas.microsoft.com/office/drawing/2014/main" id="{5C953471-E97A-F89C-E2B8-883638137E23}"/>
              </a:ext>
            </a:extLst>
          </p:cNvPr>
          <p:cNvPicPr>
            <a:picLocks noGrp="1" noChangeAspect="1"/>
          </p:cNvPicPr>
          <p:nvPr>
            <p:ph idx="1"/>
          </p:nvPr>
        </p:nvPicPr>
        <p:blipFill>
          <a:blip r:embed="rId2"/>
          <a:stretch>
            <a:fillRect/>
          </a:stretch>
        </p:blipFill>
        <p:spPr>
          <a:xfrm>
            <a:off x="6366257" y="2315816"/>
            <a:ext cx="4690903" cy="2638633"/>
          </a:xfrm>
          <a:prstGeom prst="rect">
            <a:avLst/>
          </a:prstGeom>
        </p:spPr>
      </p:pic>
      <p:sp>
        <p:nvSpPr>
          <p:cNvPr id="7" name="CuadroTexto 6">
            <a:extLst>
              <a:ext uri="{FF2B5EF4-FFF2-40B4-BE49-F238E27FC236}">
                <a16:creationId xmlns:a16="http://schemas.microsoft.com/office/drawing/2014/main" id="{06650FCC-E3AE-FD99-AF58-2025082DE138}"/>
              </a:ext>
            </a:extLst>
          </p:cNvPr>
          <p:cNvSpPr txBox="1"/>
          <p:nvPr/>
        </p:nvSpPr>
        <p:spPr>
          <a:xfrm>
            <a:off x="1134840" y="2197560"/>
            <a:ext cx="4690904" cy="3693319"/>
          </a:xfrm>
          <a:prstGeom prst="rect">
            <a:avLst/>
          </a:prstGeom>
          <a:noFill/>
        </p:spPr>
        <p:txBody>
          <a:bodyPr wrap="square">
            <a:spAutoFit/>
          </a:bodyPr>
          <a:lstStyle>
            <a:defPPr>
              <a:defRPr lang="es-MX"/>
            </a:defPPr>
            <a:lvl1pPr algn="just">
              <a:defRPr sz="2600"/>
            </a:lvl1pPr>
          </a:lstStyle>
          <a:p>
            <a:r>
              <a:rPr lang="es-MX" dirty="0"/>
              <a:t>Se creó la clase AplicacionFX.java, encargada de iniciar la interfaz gráfica del compilador mediante </a:t>
            </a:r>
            <a:r>
              <a:rPr lang="es-MX" dirty="0" err="1"/>
              <a:t>JavaFX</a:t>
            </a:r>
            <a:r>
              <a:rPr lang="es-MX" dirty="0"/>
              <a:t>. Esta clase extiende de </a:t>
            </a:r>
            <a:r>
              <a:rPr lang="es-MX" dirty="0" err="1"/>
              <a:t>Application</a:t>
            </a:r>
            <a:r>
              <a:rPr lang="es-MX" dirty="0"/>
              <a:t> y utiliza el método </a:t>
            </a:r>
            <a:r>
              <a:rPr lang="es-MX" dirty="0" err="1"/>
              <a:t>start</a:t>
            </a:r>
            <a:r>
              <a:rPr lang="es-MX" dirty="0"/>
              <a:t>() para crear una instancia de </a:t>
            </a:r>
            <a:r>
              <a:rPr lang="es-MX" dirty="0" err="1"/>
              <a:t>Menuprincipal</a:t>
            </a:r>
            <a:r>
              <a:rPr lang="es-MX" dirty="0"/>
              <a:t> y mostrar la ventana principal de la aplicación.</a:t>
            </a:r>
          </a:p>
        </p:txBody>
      </p:sp>
    </p:spTree>
    <p:extLst>
      <p:ext uri="{BB962C8B-B14F-4D97-AF65-F5344CB8AC3E}">
        <p14:creationId xmlns:p14="http://schemas.microsoft.com/office/powerpoint/2010/main" val="4178164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6E89A8-B545-4735-DF2A-8772716165FA}"/>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Configuración de la clase principal</a:t>
            </a:r>
          </a:p>
        </p:txBody>
      </p:sp>
      <p:pic>
        <p:nvPicPr>
          <p:cNvPr id="5" name="Marcador de contenido 4">
            <a:extLst>
              <a:ext uri="{FF2B5EF4-FFF2-40B4-BE49-F238E27FC236}">
                <a16:creationId xmlns:a16="http://schemas.microsoft.com/office/drawing/2014/main" id="{8FC33652-A466-106F-AA6A-C6BD82E616D5}"/>
              </a:ext>
            </a:extLst>
          </p:cNvPr>
          <p:cNvPicPr>
            <a:picLocks noGrp="1" noChangeAspect="1"/>
          </p:cNvPicPr>
          <p:nvPr>
            <p:ph idx="1"/>
          </p:nvPr>
        </p:nvPicPr>
        <p:blipFill>
          <a:blip r:embed="rId2"/>
          <a:stretch>
            <a:fillRect/>
          </a:stretch>
        </p:blipFill>
        <p:spPr>
          <a:xfrm>
            <a:off x="6285053" y="2194196"/>
            <a:ext cx="4940443" cy="2778999"/>
          </a:xfrm>
          <a:prstGeom prst="rect">
            <a:avLst/>
          </a:prstGeom>
        </p:spPr>
      </p:pic>
      <p:sp>
        <p:nvSpPr>
          <p:cNvPr id="7" name="CuadroTexto 6">
            <a:extLst>
              <a:ext uri="{FF2B5EF4-FFF2-40B4-BE49-F238E27FC236}">
                <a16:creationId xmlns:a16="http://schemas.microsoft.com/office/drawing/2014/main" id="{0AFDEC0E-0475-B0DF-27B7-44FCE400E875}"/>
              </a:ext>
            </a:extLst>
          </p:cNvPr>
          <p:cNvSpPr txBox="1"/>
          <p:nvPr/>
        </p:nvSpPr>
        <p:spPr>
          <a:xfrm>
            <a:off x="1208172" y="2182505"/>
            <a:ext cx="4488082" cy="2492990"/>
          </a:xfrm>
          <a:prstGeom prst="rect">
            <a:avLst/>
          </a:prstGeom>
          <a:noFill/>
        </p:spPr>
        <p:txBody>
          <a:bodyPr wrap="square">
            <a:spAutoFit/>
          </a:bodyPr>
          <a:lstStyle>
            <a:defPPr>
              <a:defRPr lang="es-MX"/>
            </a:defPPr>
            <a:lvl1pPr algn="just">
              <a:defRPr sz="2600"/>
            </a:lvl1pPr>
          </a:lstStyle>
          <a:p>
            <a:r>
              <a:rPr lang="es-MX" dirty="0"/>
              <a:t>Se configuró la clase Main como punto de inicio del programa, utilizando </a:t>
            </a:r>
            <a:r>
              <a:rPr lang="es-MX" dirty="0" err="1"/>
              <a:t>Application.launch</a:t>
            </a:r>
            <a:r>
              <a:rPr lang="es-MX" dirty="0"/>
              <a:t>() para ejecutar </a:t>
            </a:r>
            <a:r>
              <a:rPr lang="es-MX" dirty="0" err="1"/>
              <a:t>AplicacionFX</a:t>
            </a:r>
            <a:r>
              <a:rPr lang="es-MX" dirty="0"/>
              <a:t> y mostrar la interfaz gráfica del compilador.</a:t>
            </a:r>
          </a:p>
        </p:txBody>
      </p:sp>
    </p:spTree>
    <p:extLst>
      <p:ext uri="{BB962C8B-B14F-4D97-AF65-F5344CB8AC3E}">
        <p14:creationId xmlns:p14="http://schemas.microsoft.com/office/powerpoint/2010/main" val="910421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EFD557-776E-859C-EFB8-DAE0EFD53DF5}"/>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Creación del menú del menú principal</a:t>
            </a:r>
          </a:p>
        </p:txBody>
      </p:sp>
      <p:pic>
        <p:nvPicPr>
          <p:cNvPr id="5" name="Marcador de contenido 4">
            <a:extLst>
              <a:ext uri="{FF2B5EF4-FFF2-40B4-BE49-F238E27FC236}">
                <a16:creationId xmlns:a16="http://schemas.microsoft.com/office/drawing/2014/main" id="{2EDBCFF4-CF16-8D22-DE02-E5A0C92F23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7959" y="1882060"/>
            <a:ext cx="4095999" cy="2304000"/>
          </a:xfrm>
          <a:prstGeom prst="rect">
            <a:avLst/>
          </a:prstGeom>
        </p:spPr>
      </p:pic>
      <p:pic>
        <p:nvPicPr>
          <p:cNvPr id="7" name="Imagen 6">
            <a:extLst>
              <a:ext uri="{FF2B5EF4-FFF2-40B4-BE49-F238E27FC236}">
                <a16:creationId xmlns:a16="http://schemas.microsoft.com/office/drawing/2014/main" id="{F5CF8733-E96C-B745-D65F-9D98271B4546}"/>
              </a:ext>
            </a:extLst>
          </p:cNvPr>
          <p:cNvPicPr>
            <a:picLocks noChangeAspect="1"/>
          </p:cNvPicPr>
          <p:nvPr/>
        </p:nvPicPr>
        <p:blipFill>
          <a:blip r:embed="rId3"/>
          <a:stretch>
            <a:fillRect/>
          </a:stretch>
        </p:blipFill>
        <p:spPr>
          <a:xfrm>
            <a:off x="1157959" y="4297268"/>
            <a:ext cx="4096000" cy="2304000"/>
          </a:xfrm>
          <a:prstGeom prst="rect">
            <a:avLst/>
          </a:prstGeom>
        </p:spPr>
      </p:pic>
      <p:sp>
        <p:nvSpPr>
          <p:cNvPr id="9" name="CuadroTexto 8">
            <a:extLst>
              <a:ext uri="{FF2B5EF4-FFF2-40B4-BE49-F238E27FC236}">
                <a16:creationId xmlns:a16="http://schemas.microsoft.com/office/drawing/2014/main" id="{7D6619AC-CF3A-87BA-D861-8A2A32A136AA}"/>
              </a:ext>
            </a:extLst>
          </p:cNvPr>
          <p:cNvSpPr txBox="1"/>
          <p:nvPr/>
        </p:nvSpPr>
        <p:spPr>
          <a:xfrm>
            <a:off x="5676347" y="4765119"/>
            <a:ext cx="5998817" cy="1692771"/>
          </a:xfrm>
          <a:prstGeom prst="rect">
            <a:avLst/>
          </a:prstGeom>
          <a:noFill/>
        </p:spPr>
        <p:txBody>
          <a:bodyPr wrap="square">
            <a:spAutoFit/>
          </a:bodyPr>
          <a:lstStyle>
            <a:defPPr>
              <a:defRPr lang="es-MX"/>
            </a:defPPr>
            <a:lvl1pPr algn="just">
              <a:defRPr sz="2600"/>
            </a:lvl1pPr>
          </a:lstStyle>
          <a:p>
            <a:r>
              <a:rPr lang="es-MX" dirty="0"/>
              <a:t>se creó la clase Menuprincipal.java dentro del paquete interfaz y se programaron los componentes de </a:t>
            </a:r>
            <a:r>
              <a:rPr lang="es-MX" dirty="0" err="1"/>
              <a:t>JavaFX</a:t>
            </a:r>
            <a:r>
              <a:rPr lang="es-MX" dirty="0"/>
              <a:t> necesarios para construir el menú principal del compilador.</a:t>
            </a:r>
          </a:p>
        </p:txBody>
      </p:sp>
      <p:pic>
        <p:nvPicPr>
          <p:cNvPr id="4" name="Imagen 3">
            <a:extLst>
              <a:ext uri="{FF2B5EF4-FFF2-40B4-BE49-F238E27FC236}">
                <a16:creationId xmlns:a16="http://schemas.microsoft.com/office/drawing/2014/main" id="{C6618D14-251E-CC2D-C0C5-5A4DB8A18E9E}"/>
              </a:ext>
            </a:extLst>
          </p:cNvPr>
          <p:cNvPicPr>
            <a:picLocks noChangeAspect="1"/>
          </p:cNvPicPr>
          <p:nvPr/>
        </p:nvPicPr>
        <p:blipFill>
          <a:blip r:embed="rId4"/>
          <a:srcRect l="-30" t="428" r="-1" b="-1"/>
          <a:stretch>
            <a:fillRect/>
          </a:stretch>
        </p:blipFill>
        <p:spPr>
          <a:xfrm>
            <a:off x="5784575" y="1870397"/>
            <a:ext cx="4764156" cy="2667575"/>
          </a:xfrm>
          <a:prstGeom prst="rect">
            <a:avLst/>
          </a:prstGeom>
        </p:spPr>
      </p:pic>
    </p:spTree>
    <p:extLst>
      <p:ext uri="{BB962C8B-B14F-4D97-AF65-F5344CB8AC3E}">
        <p14:creationId xmlns:p14="http://schemas.microsoft.com/office/powerpoint/2010/main" val="662697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D82E4C-1831-05CB-FAA0-4D603FD8516A}"/>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Creación del menú del Tema 1</a:t>
            </a:r>
          </a:p>
        </p:txBody>
      </p:sp>
      <p:pic>
        <p:nvPicPr>
          <p:cNvPr id="5" name="Marcador de contenido 4">
            <a:extLst>
              <a:ext uri="{FF2B5EF4-FFF2-40B4-BE49-F238E27FC236}">
                <a16:creationId xmlns:a16="http://schemas.microsoft.com/office/drawing/2014/main" id="{6AE7B373-CE8A-7BB7-E34E-48B0ADE3D068}"/>
              </a:ext>
            </a:extLst>
          </p:cNvPr>
          <p:cNvPicPr>
            <a:picLocks noGrp="1" noChangeAspect="1"/>
          </p:cNvPicPr>
          <p:nvPr>
            <p:ph idx="1"/>
          </p:nvPr>
        </p:nvPicPr>
        <p:blipFill>
          <a:blip r:embed="rId2"/>
          <a:stretch>
            <a:fillRect/>
          </a:stretch>
        </p:blipFill>
        <p:spPr>
          <a:xfrm>
            <a:off x="5418727" y="1779103"/>
            <a:ext cx="5380016" cy="3026259"/>
          </a:xfrm>
          <a:prstGeom prst="rect">
            <a:avLst/>
          </a:prstGeom>
        </p:spPr>
      </p:pic>
      <p:sp>
        <p:nvSpPr>
          <p:cNvPr id="7" name="CuadroTexto 6">
            <a:extLst>
              <a:ext uri="{FF2B5EF4-FFF2-40B4-BE49-F238E27FC236}">
                <a16:creationId xmlns:a16="http://schemas.microsoft.com/office/drawing/2014/main" id="{C8AED142-79D4-1859-E230-441615EB9D27}"/>
              </a:ext>
            </a:extLst>
          </p:cNvPr>
          <p:cNvSpPr txBox="1"/>
          <p:nvPr/>
        </p:nvSpPr>
        <p:spPr>
          <a:xfrm>
            <a:off x="838200" y="2321940"/>
            <a:ext cx="4270513" cy="3693319"/>
          </a:xfrm>
          <a:prstGeom prst="rect">
            <a:avLst/>
          </a:prstGeom>
          <a:noFill/>
        </p:spPr>
        <p:txBody>
          <a:bodyPr wrap="square">
            <a:spAutoFit/>
          </a:bodyPr>
          <a:lstStyle>
            <a:defPPr>
              <a:defRPr lang="es-MX"/>
            </a:defPPr>
            <a:lvl1pPr algn="just">
              <a:defRPr sz="2600"/>
            </a:lvl1pPr>
          </a:lstStyle>
          <a:p>
            <a:r>
              <a:rPr lang="es-MX" dirty="0"/>
              <a:t>Se creó la clase Menutema.java, encargada de mostrar y organizar las diferentes opciones correspondientes al Tema 1: Análisis semántico, permitiendo acceder a cada uno de los módulos implementados.</a:t>
            </a:r>
          </a:p>
        </p:txBody>
      </p:sp>
    </p:spTree>
    <p:extLst>
      <p:ext uri="{BB962C8B-B14F-4D97-AF65-F5344CB8AC3E}">
        <p14:creationId xmlns:p14="http://schemas.microsoft.com/office/powerpoint/2010/main" val="3600452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04DBB8-1084-9EB2-2F67-F872913E585E}"/>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rPr>
              <a:t>Creación de los módulos del Tema 1 </a:t>
            </a:r>
          </a:p>
        </p:txBody>
      </p:sp>
      <p:sp>
        <p:nvSpPr>
          <p:cNvPr id="3" name="Marcador de contenido 2">
            <a:extLst>
              <a:ext uri="{FF2B5EF4-FFF2-40B4-BE49-F238E27FC236}">
                <a16:creationId xmlns:a16="http://schemas.microsoft.com/office/drawing/2014/main" id="{9DCA0486-31BF-60C8-1259-6A9D284F3C5E}"/>
              </a:ext>
            </a:extLst>
          </p:cNvPr>
          <p:cNvSpPr>
            <a:spLocks noGrp="1"/>
          </p:cNvSpPr>
          <p:nvPr>
            <p:ph idx="1"/>
          </p:nvPr>
        </p:nvSpPr>
        <p:spPr>
          <a:xfrm>
            <a:off x="838200" y="1679853"/>
            <a:ext cx="5562600" cy="3333220"/>
          </a:xfrm>
          <a:noFill/>
        </p:spPr>
        <p:txBody>
          <a:bodyPr wrap="square">
            <a:spAutoFit/>
          </a:bodyPr>
          <a:lstStyle/>
          <a:p>
            <a:pPr marL="0" indent="0" algn="just">
              <a:buNone/>
            </a:pPr>
            <a:r>
              <a:rPr lang="es-MX" sz="2600" dirty="0"/>
              <a:t>Se crearon las clases correspondientes a cada apartado del Tema 1: Análisis semántico, con el propósito de separar las funciones del compilador y mantener una estructura organizada. Cada clase representa un proceso específico del análisis semántico y permite ejecutar de manera independiente.</a:t>
            </a:r>
          </a:p>
        </p:txBody>
      </p:sp>
      <p:pic>
        <p:nvPicPr>
          <p:cNvPr id="5" name="Imagen 4">
            <a:extLst>
              <a:ext uri="{FF2B5EF4-FFF2-40B4-BE49-F238E27FC236}">
                <a16:creationId xmlns:a16="http://schemas.microsoft.com/office/drawing/2014/main" id="{503A8571-A4FD-58BB-D680-0AD5AA6F6226}"/>
              </a:ext>
            </a:extLst>
          </p:cNvPr>
          <p:cNvPicPr>
            <a:picLocks noChangeAspect="1"/>
          </p:cNvPicPr>
          <p:nvPr/>
        </p:nvPicPr>
        <p:blipFill>
          <a:blip r:embed="rId2"/>
          <a:stretch>
            <a:fillRect/>
          </a:stretch>
        </p:blipFill>
        <p:spPr>
          <a:xfrm>
            <a:off x="6698974" y="1690688"/>
            <a:ext cx="5141844" cy="2892287"/>
          </a:xfrm>
          <a:prstGeom prst="rect">
            <a:avLst/>
          </a:prstGeom>
        </p:spPr>
      </p:pic>
      <p:sp>
        <p:nvSpPr>
          <p:cNvPr id="6" name="CuadroTexto 5">
            <a:extLst>
              <a:ext uri="{FF2B5EF4-FFF2-40B4-BE49-F238E27FC236}">
                <a16:creationId xmlns:a16="http://schemas.microsoft.com/office/drawing/2014/main" id="{0CD96D07-7895-15FE-D17B-351C160CABCA}"/>
              </a:ext>
            </a:extLst>
          </p:cNvPr>
          <p:cNvSpPr txBox="1"/>
          <p:nvPr/>
        </p:nvSpPr>
        <p:spPr>
          <a:xfrm>
            <a:off x="838200" y="4970266"/>
            <a:ext cx="10515600" cy="1692771"/>
          </a:xfrm>
          <a:prstGeom prst="rect">
            <a:avLst/>
          </a:prstGeom>
          <a:noFill/>
        </p:spPr>
        <p:txBody>
          <a:bodyPr wrap="square">
            <a:spAutoFit/>
          </a:bodyPr>
          <a:lstStyle/>
          <a:p>
            <a:pPr marL="0" indent="0">
              <a:buNone/>
            </a:pPr>
            <a:r>
              <a:rPr lang="es-MX" sz="2600" dirty="0"/>
              <a:t>Las clases creadas fueron:</a:t>
            </a:r>
          </a:p>
          <a:p>
            <a:pPr marL="0" indent="0">
              <a:buNone/>
            </a:pPr>
            <a:r>
              <a:rPr lang="es-MX" sz="2600" dirty="0"/>
              <a:t> ArbolExpresiones.java, AccionesSemanticas.java, ComprobacionTipos.java, PilaSemantica.java, EsquemaTraduccion.java, TablaSimbolos.java, TablaDirecciones.java y ErroresSemanticos.java.</a:t>
            </a:r>
          </a:p>
        </p:txBody>
      </p:sp>
    </p:spTree>
    <p:extLst>
      <p:ext uri="{BB962C8B-B14F-4D97-AF65-F5344CB8AC3E}">
        <p14:creationId xmlns:p14="http://schemas.microsoft.com/office/powerpoint/2010/main" val="3062244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44113-E44A-BCEE-FC85-3369032681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F0245A8-D2E2-2AAD-570C-FAA2B2F0554F}"/>
              </a:ext>
            </a:extLst>
          </p:cNvPr>
          <p:cNvSpPr>
            <a:spLocks noGrp="1"/>
          </p:cNvSpPr>
          <p:nvPr>
            <p:ph type="title"/>
          </p:nvPr>
        </p:nvSpPr>
        <p:spPr>
          <a:xfrm>
            <a:off x="828259" y="185585"/>
            <a:ext cx="10515600" cy="1325563"/>
          </a:xfrm>
        </p:spPr>
        <p:txBody>
          <a:bodyPr vert="horz" lIns="91440" tIns="45720" rIns="91440" bIns="45720" rtlCol="0" anchor="ctr">
            <a:normAutofit/>
          </a:bodyPr>
          <a:lstStyle/>
          <a:p>
            <a:pPr>
              <a:spcBef>
                <a:spcPts val="1000"/>
              </a:spcBef>
            </a:pPr>
            <a:r>
              <a:rPr lang="es-MX" sz="4800" b="1" dirty="0">
                <a:solidFill>
                  <a:schemeClr val="accent1"/>
                </a:solidFill>
              </a:rPr>
              <a:t>Desarrollo del compilador</a:t>
            </a:r>
          </a:p>
        </p:txBody>
      </p:sp>
      <p:pic>
        <p:nvPicPr>
          <p:cNvPr id="4" name="Imagen 3">
            <a:extLst>
              <a:ext uri="{FF2B5EF4-FFF2-40B4-BE49-F238E27FC236}">
                <a16:creationId xmlns:a16="http://schemas.microsoft.com/office/drawing/2014/main" id="{5413D901-1462-B450-F832-3DF49E22D3BF}"/>
              </a:ext>
            </a:extLst>
          </p:cNvPr>
          <p:cNvPicPr>
            <a:picLocks noChangeAspect="1"/>
          </p:cNvPicPr>
          <p:nvPr/>
        </p:nvPicPr>
        <p:blipFill>
          <a:blip r:embed="rId2"/>
          <a:stretch>
            <a:fillRect/>
          </a:stretch>
        </p:blipFill>
        <p:spPr>
          <a:xfrm>
            <a:off x="838200" y="1953039"/>
            <a:ext cx="5247859" cy="2951921"/>
          </a:xfrm>
          <a:prstGeom prst="rect">
            <a:avLst/>
          </a:prstGeom>
        </p:spPr>
      </p:pic>
      <p:sp>
        <p:nvSpPr>
          <p:cNvPr id="6" name="CuadroTexto 5">
            <a:extLst>
              <a:ext uri="{FF2B5EF4-FFF2-40B4-BE49-F238E27FC236}">
                <a16:creationId xmlns:a16="http://schemas.microsoft.com/office/drawing/2014/main" id="{007C5EF6-00ED-925E-1659-14468FB993A4}"/>
              </a:ext>
            </a:extLst>
          </p:cNvPr>
          <p:cNvSpPr txBox="1"/>
          <p:nvPr/>
        </p:nvSpPr>
        <p:spPr>
          <a:xfrm>
            <a:off x="6226036" y="1282221"/>
            <a:ext cx="5541894" cy="5390194"/>
          </a:xfrm>
          <a:prstGeom prst="rect">
            <a:avLst/>
          </a:prstGeom>
          <a:noFill/>
        </p:spPr>
        <p:txBody>
          <a:bodyPr vert="horz" wrap="square" lIns="91440" tIns="45720" rIns="91440" bIns="45720" rtlCol="0">
            <a:spAutoFit/>
          </a:bodyPr>
          <a:lstStyle>
            <a:lvl1pPr indent="0" algn="just">
              <a:lnSpc>
                <a:spcPct val="90000"/>
              </a:lnSpc>
              <a:spcBef>
                <a:spcPts val="1000"/>
              </a:spcBef>
              <a:buFont typeface="Arial" panose="020B0604020202020204" pitchFamily="34" charset="0"/>
              <a:buNone/>
              <a:defRPr sz="26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MX" dirty="0"/>
              <a:t>Para realizar la práctica se desarrolló un proyecto utilizando el lenguaje de programación Java mediante el entorno de desarrollo IntelliJ IDEA.</a:t>
            </a:r>
          </a:p>
          <a:p>
            <a:r>
              <a:rPr lang="es-MX" dirty="0"/>
              <a:t>La aplicación fue diseñada con </a:t>
            </a:r>
            <a:r>
              <a:rPr lang="es-MX" dirty="0" err="1"/>
              <a:t>JavaFX</a:t>
            </a:r>
            <a:r>
              <a:rPr lang="es-MX" dirty="0"/>
              <a:t> para crear una interfaz gráfica que permita acceder a cada uno de los temas relacionados con las diferentes etapas de un compilador.</a:t>
            </a:r>
          </a:p>
          <a:p>
            <a:r>
              <a:rPr lang="es-MX" dirty="0"/>
              <a:t>El sistema cuenta con un menú principal denominado Lenguajes y Autómatas II – Compilador, desde el cual se puede seleccionar la unidad que se desea consultar o ejecutar.</a:t>
            </a:r>
          </a:p>
        </p:txBody>
      </p:sp>
    </p:spTree>
    <p:extLst>
      <p:ext uri="{BB962C8B-B14F-4D97-AF65-F5344CB8AC3E}">
        <p14:creationId xmlns:p14="http://schemas.microsoft.com/office/powerpoint/2010/main" val="3918406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C408A-C077-F4D1-03DE-F0A911BA288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2891817-5D8D-20DB-6DFD-B506DA60BD9D}"/>
              </a:ext>
            </a:extLst>
          </p:cNvPr>
          <p:cNvSpPr>
            <a:spLocks noGrp="1"/>
          </p:cNvSpPr>
          <p:nvPr>
            <p:ph type="title"/>
          </p:nvPr>
        </p:nvSpPr>
        <p:spPr/>
        <p:txBody>
          <a:bodyPr>
            <a:normAutofit/>
          </a:bodyPr>
          <a:lstStyle/>
          <a:p>
            <a:pPr>
              <a:spcBef>
                <a:spcPts val="1000"/>
              </a:spcBef>
            </a:pPr>
            <a:r>
              <a:rPr lang="es-MX" sz="4800" b="1" dirty="0">
                <a:solidFill>
                  <a:schemeClr val="accent1"/>
                </a:solidFill>
              </a:rPr>
              <a:t>Estructura del proyecto</a:t>
            </a:r>
          </a:p>
        </p:txBody>
      </p:sp>
      <p:sp>
        <p:nvSpPr>
          <p:cNvPr id="4" name="CuadroTexto 3">
            <a:extLst>
              <a:ext uri="{FF2B5EF4-FFF2-40B4-BE49-F238E27FC236}">
                <a16:creationId xmlns:a16="http://schemas.microsoft.com/office/drawing/2014/main" id="{3F115B21-C58D-689A-CE27-4BA118C4B602}"/>
              </a:ext>
            </a:extLst>
          </p:cNvPr>
          <p:cNvSpPr txBox="1"/>
          <p:nvPr/>
        </p:nvSpPr>
        <p:spPr>
          <a:xfrm>
            <a:off x="566531" y="1504249"/>
            <a:ext cx="5874026" cy="5030095"/>
          </a:xfrm>
          <a:prstGeom prst="rect">
            <a:avLst/>
          </a:prstGeom>
          <a:noFill/>
        </p:spPr>
        <p:txBody>
          <a:bodyPr vert="horz" wrap="square" lIns="91440" tIns="45720" rIns="91440" bIns="45720" rtlCol="0">
            <a:spAutoFit/>
          </a:bodyPr>
          <a:lstStyle>
            <a:defPPr>
              <a:defRPr lang="es-MX"/>
            </a:defPPr>
            <a:lvl1pPr indent="0" algn="just">
              <a:lnSpc>
                <a:spcPct val="90000"/>
              </a:lnSpc>
              <a:spcBef>
                <a:spcPts val="1000"/>
              </a:spcBef>
              <a:buFont typeface="Arial" panose="020B0604020202020204" pitchFamily="34" charset="0"/>
              <a:buNone/>
              <a:defRPr sz="26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MX" dirty="0"/>
              <a:t>El proyecto fue organizado mediante diferentes clases para separar el funcionamiento de la interfaz y los módulos correspondientes a cada etapa del compilador.</a:t>
            </a:r>
          </a:p>
          <a:p>
            <a:r>
              <a:rPr lang="es-MX" dirty="0"/>
              <a:t>Dentro del proyecto se encuentran las clases encargadas del menú principal, la selección de temas y las demostraciones correspondientes a cada unidad.</a:t>
            </a:r>
          </a:p>
          <a:p>
            <a:r>
              <a:rPr lang="es-MX" dirty="0"/>
              <a:t>Esta organización permite mantener el código estructurado y facilita la incorporación de nuevos procesos dentro del compilador.</a:t>
            </a:r>
          </a:p>
        </p:txBody>
      </p:sp>
      <p:pic>
        <p:nvPicPr>
          <p:cNvPr id="6" name="Imagen 5">
            <a:extLst>
              <a:ext uri="{FF2B5EF4-FFF2-40B4-BE49-F238E27FC236}">
                <a16:creationId xmlns:a16="http://schemas.microsoft.com/office/drawing/2014/main" id="{D8DFC8AD-F4E2-D254-CD5A-DD2B6323E22D}"/>
              </a:ext>
            </a:extLst>
          </p:cNvPr>
          <p:cNvPicPr>
            <a:picLocks noChangeAspect="1"/>
          </p:cNvPicPr>
          <p:nvPr/>
        </p:nvPicPr>
        <p:blipFill>
          <a:blip r:embed="rId2"/>
          <a:stretch>
            <a:fillRect/>
          </a:stretch>
        </p:blipFill>
        <p:spPr>
          <a:xfrm>
            <a:off x="6612834" y="1918252"/>
            <a:ext cx="5012635" cy="2819607"/>
          </a:xfrm>
          <a:prstGeom prst="rect">
            <a:avLst/>
          </a:prstGeom>
        </p:spPr>
      </p:pic>
    </p:spTree>
    <p:extLst>
      <p:ext uri="{BB962C8B-B14F-4D97-AF65-F5344CB8AC3E}">
        <p14:creationId xmlns:p14="http://schemas.microsoft.com/office/powerpoint/2010/main" val="1272033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230C6-F94E-FA82-4919-711EC82B8E2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C8D8B6-9004-AE56-036F-94E2F6ECCA72}"/>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Tema 1 – Análisis semántico</a:t>
            </a:r>
          </a:p>
        </p:txBody>
      </p:sp>
      <p:sp>
        <p:nvSpPr>
          <p:cNvPr id="4" name="CuadroTexto 3">
            <a:extLst>
              <a:ext uri="{FF2B5EF4-FFF2-40B4-BE49-F238E27FC236}">
                <a16:creationId xmlns:a16="http://schemas.microsoft.com/office/drawing/2014/main" id="{B55AB98E-4793-11EC-F6CE-A72734D4EB31}"/>
              </a:ext>
            </a:extLst>
          </p:cNvPr>
          <p:cNvSpPr txBox="1"/>
          <p:nvPr/>
        </p:nvSpPr>
        <p:spPr>
          <a:xfrm>
            <a:off x="1129748" y="1336527"/>
            <a:ext cx="10515600" cy="812530"/>
          </a:xfrm>
          <a:prstGeom prst="rect">
            <a:avLst/>
          </a:prstGeom>
          <a:noFill/>
        </p:spPr>
        <p:txBody>
          <a:bodyPr vert="horz" wrap="square" lIns="91440" tIns="45720" rIns="91440" bIns="45720" rtlCol="0">
            <a:spAutoFit/>
          </a:bodyPr>
          <a:lstStyle>
            <a:defPPr>
              <a:defRPr lang="es-MX"/>
            </a:defPPr>
            <a:lvl1pPr indent="0" algn="just">
              <a:lnSpc>
                <a:spcPct val="90000"/>
              </a:lnSpc>
              <a:spcBef>
                <a:spcPts val="1000"/>
              </a:spcBef>
              <a:buFont typeface="Arial" panose="020B0604020202020204" pitchFamily="34" charset="0"/>
              <a:buNone/>
              <a:defRPr sz="26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MX" dirty="0"/>
              <a:t>Al seleccionar el Tema 1 se muestra un menú que contiene los principales elementos relacionados con el análisis semántico.</a:t>
            </a:r>
          </a:p>
        </p:txBody>
      </p:sp>
      <p:pic>
        <p:nvPicPr>
          <p:cNvPr id="6" name="Imagen 5">
            <a:extLst>
              <a:ext uri="{FF2B5EF4-FFF2-40B4-BE49-F238E27FC236}">
                <a16:creationId xmlns:a16="http://schemas.microsoft.com/office/drawing/2014/main" id="{9F48786D-5F97-D1C3-E4F7-7D8450A09788}"/>
              </a:ext>
            </a:extLst>
          </p:cNvPr>
          <p:cNvPicPr>
            <a:picLocks noChangeAspect="1"/>
          </p:cNvPicPr>
          <p:nvPr/>
        </p:nvPicPr>
        <p:blipFill>
          <a:blip r:embed="rId2"/>
          <a:stretch>
            <a:fillRect/>
          </a:stretch>
        </p:blipFill>
        <p:spPr>
          <a:xfrm>
            <a:off x="6851373" y="2149057"/>
            <a:ext cx="5179943" cy="2913718"/>
          </a:xfrm>
          <a:prstGeom prst="rect">
            <a:avLst/>
          </a:prstGeom>
        </p:spPr>
      </p:pic>
      <p:sp>
        <p:nvSpPr>
          <p:cNvPr id="5" name="CuadroTexto 4">
            <a:extLst>
              <a:ext uri="{FF2B5EF4-FFF2-40B4-BE49-F238E27FC236}">
                <a16:creationId xmlns:a16="http://schemas.microsoft.com/office/drawing/2014/main" id="{0BD12442-6C21-E0EA-7C6C-9BDBAB855581}"/>
              </a:ext>
            </a:extLst>
          </p:cNvPr>
          <p:cNvSpPr txBox="1"/>
          <p:nvPr/>
        </p:nvSpPr>
        <p:spPr>
          <a:xfrm>
            <a:off x="599660" y="2816118"/>
            <a:ext cx="10412896" cy="3785652"/>
          </a:xfrm>
          <a:prstGeom prst="rect">
            <a:avLst/>
          </a:prstGeom>
          <a:noFill/>
        </p:spPr>
        <p:txBody>
          <a:bodyPr wrap="square">
            <a:spAutoFit/>
          </a:bodyPr>
          <a:lstStyle/>
          <a:p>
            <a:r>
              <a:rPr lang="es-MX" sz="2400" dirty="0"/>
              <a:t>Las opciones implementadas son:</a:t>
            </a:r>
          </a:p>
          <a:p>
            <a:r>
              <a:rPr lang="es-MX" sz="2400" dirty="0"/>
              <a:t>Árboles de expresiones.</a:t>
            </a:r>
          </a:p>
          <a:p>
            <a:r>
              <a:rPr lang="es-MX" sz="2400" dirty="0"/>
              <a:t>Acciones semánticas de un analizador sintáctico.</a:t>
            </a:r>
          </a:p>
          <a:p>
            <a:r>
              <a:rPr lang="es-MX" sz="2400" dirty="0"/>
              <a:t>Comprobaciones de tipos en expresiones.</a:t>
            </a:r>
          </a:p>
          <a:p>
            <a:r>
              <a:rPr lang="es-MX" sz="2400" dirty="0"/>
              <a:t>Pila semántica en un analizador sintáctico.</a:t>
            </a:r>
          </a:p>
          <a:p>
            <a:r>
              <a:rPr lang="es-MX" sz="2400" dirty="0"/>
              <a:t>Esquema de traducción.</a:t>
            </a:r>
          </a:p>
          <a:p>
            <a:r>
              <a:rPr lang="es-MX" sz="2400" dirty="0"/>
              <a:t>Generación de tabla de símbolos y tabla de direcciones.</a:t>
            </a:r>
          </a:p>
          <a:p>
            <a:r>
              <a:rPr lang="es-MX" sz="2400" dirty="0"/>
              <a:t>Manejo de errores semánticos.</a:t>
            </a:r>
          </a:p>
          <a:p>
            <a:r>
              <a:rPr lang="es-MX" sz="2400" dirty="0"/>
              <a:t>Cada opción permite estudiar una parte específica del proceso realizado durante esta etapa del compilador.</a:t>
            </a:r>
          </a:p>
        </p:txBody>
      </p:sp>
    </p:spTree>
    <p:extLst>
      <p:ext uri="{BB962C8B-B14F-4D97-AF65-F5344CB8AC3E}">
        <p14:creationId xmlns:p14="http://schemas.microsoft.com/office/powerpoint/2010/main" val="1846797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6962B-E0B9-F676-7E88-59E845ABE1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D377CEA-E94C-62F2-0520-D02EEEA044A8}"/>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Árboles de expresiones</a:t>
            </a:r>
          </a:p>
        </p:txBody>
      </p:sp>
      <p:sp>
        <p:nvSpPr>
          <p:cNvPr id="4" name="CuadroTexto 3">
            <a:extLst>
              <a:ext uri="{FF2B5EF4-FFF2-40B4-BE49-F238E27FC236}">
                <a16:creationId xmlns:a16="http://schemas.microsoft.com/office/drawing/2014/main" id="{D464258B-5F04-F3F9-83A5-C52647EB3166}"/>
              </a:ext>
            </a:extLst>
          </p:cNvPr>
          <p:cNvSpPr txBox="1"/>
          <p:nvPr/>
        </p:nvSpPr>
        <p:spPr>
          <a:xfrm>
            <a:off x="838200" y="4549676"/>
            <a:ext cx="11353800" cy="1292662"/>
          </a:xfrm>
          <a:prstGeom prst="rect">
            <a:avLst/>
          </a:prstGeom>
          <a:noFill/>
        </p:spPr>
        <p:txBody>
          <a:bodyPr wrap="square">
            <a:spAutoFit/>
          </a:bodyPr>
          <a:lstStyle/>
          <a:p>
            <a:pPr>
              <a:buNone/>
            </a:pPr>
            <a:r>
              <a:rPr lang="es-MX" sz="2600" dirty="0"/>
              <a:t>Se desarrolló la clase ArbolExpresiones.java para representar gráficamente expresiones mediante árboles y comprobar su ejecución. Por ejemplo, en a + b * c, primero se evalúa la multiplicación debido a la prioridad de los operadores.</a:t>
            </a:r>
          </a:p>
        </p:txBody>
      </p:sp>
      <p:pic>
        <p:nvPicPr>
          <p:cNvPr id="8" name="Imagen 7">
            <a:extLst>
              <a:ext uri="{FF2B5EF4-FFF2-40B4-BE49-F238E27FC236}">
                <a16:creationId xmlns:a16="http://schemas.microsoft.com/office/drawing/2014/main" id="{EA13EEC9-BFB2-F693-ECB1-A883066F0FFE}"/>
              </a:ext>
            </a:extLst>
          </p:cNvPr>
          <p:cNvPicPr>
            <a:picLocks noChangeAspect="1"/>
          </p:cNvPicPr>
          <p:nvPr/>
        </p:nvPicPr>
        <p:blipFill>
          <a:blip r:embed="rId2"/>
          <a:stretch>
            <a:fillRect/>
          </a:stretch>
        </p:blipFill>
        <p:spPr>
          <a:xfrm>
            <a:off x="6096000" y="1590261"/>
            <a:ext cx="4480000" cy="2520000"/>
          </a:xfrm>
          <a:prstGeom prst="rect">
            <a:avLst/>
          </a:prstGeom>
        </p:spPr>
      </p:pic>
      <p:pic>
        <p:nvPicPr>
          <p:cNvPr id="5" name="Imagen 4">
            <a:extLst>
              <a:ext uri="{FF2B5EF4-FFF2-40B4-BE49-F238E27FC236}">
                <a16:creationId xmlns:a16="http://schemas.microsoft.com/office/drawing/2014/main" id="{8BF86B0A-9461-05D9-3EC2-40190B706F61}"/>
              </a:ext>
            </a:extLst>
          </p:cNvPr>
          <p:cNvPicPr>
            <a:picLocks noChangeAspect="1"/>
          </p:cNvPicPr>
          <p:nvPr/>
        </p:nvPicPr>
        <p:blipFill>
          <a:blip r:embed="rId3"/>
          <a:stretch>
            <a:fillRect/>
          </a:stretch>
        </p:blipFill>
        <p:spPr>
          <a:xfrm>
            <a:off x="838200" y="1590261"/>
            <a:ext cx="4480000" cy="2520000"/>
          </a:xfrm>
          <a:prstGeom prst="rect">
            <a:avLst/>
          </a:prstGeom>
        </p:spPr>
      </p:pic>
    </p:spTree>
    <p:extLst>
      <p:ext uri="{BB962C8B-B14F-4D97-AF65-F5344CB8AC3E}">
        <p14:creationId xmlns:p14="http://schemas.microsoft.com/office/powerpoint/2010/main" val="87420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86827-D6D1-34CC-1CB0-337619B9198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597790-4DC4-C52F-EDDC-96F90E300B5C}"/>
              </a:ext>
            </a:extLst>
          </p:cNvPr>
          <p:cNvSpPr>
            <a:spLocks noGrp="1"/>
          </p:cNvSpPr>
          <p:nvPr>
            <p:ph type="title"/>
          </p:nvPr>
        </p:nvSpPr>
        <p:spPr/>
        <p:txBody>
          <a:bodyPr vert="horz" lIns="91440" tIns="45720" rIns="91440" bIns="45720" rtlCol="0" anchor="ctr">
            <a:normAutofit fontScale="90000"/>
          </a:bodyPr>
          <a:lstStyle/>
          <a:p>
            <a:pPr>
              <a:spcBef>
                <a:spcPts val="1000"/>
              </a:spcBef>
            </a:pPr>
            <a:r>
              <a:rPr lang="es-MX" sz="4800" b="1" dirty="0">
                <a:solidFill>
                  <a:schemeClr val="accent1"/>
                </a:solidFill>
                <a:ea typeface="+mn-ea"/>
                <a:cs typeface="+mn-cs"/>
              </a:rPr>
              <a:t>Acciones semánticas de un analizador sintáctico</a:t>
            </a:r>
          </a:p>
        </p:txBody>
      </p:sp>
      <p:sp>
        <p:nvSpPr>
          <p:cNvPr id="4" name="CuadroTexto 3">
            <a:extLst>
              <a:ext uri="{FF2B5EF4-FFF2-40B4-BE49-F238E27FC236}">
                <a16:creationId xmlns:a16="http://schemas.microsoft.com/office/drawing/2014/main" id="{E51C8D45-B96D-C88A-592D-3B8F6CD1A069}"/>
              </a:ext>
            </a:extLst>
          </p:cNvPr>
          <p:cNvSpPr txBox="1"/>
          <p:nvPr/>
        </p:nvSpPr>
        <p:spPr>
          <a:xfrm>
            <a:off x="838200" y="4738549"/>
            <a:ext cx="10823713" cy="1692771"/>
          </a:xfrm>
          <a:prstGeom prst="rect">
            <a:avLst/>
          </a:prstGeom>
          <a:noFill/>
        </p:spPr>
        <p:txBody>
          <a:bodyPr wrap="square">
            <a:spAutoFit/>
          </a:bodyPr>
          <a:lstStyle>
            <a:defPPr>
              <a:defRPr lang="es-MX"/>
            </a:defPPr>
            <a:lvl1pPr>
              <a:buNone/>
              <a:defRPr sz="2600"/>
            </a:lvl1pPr>
          </a:lstStyle>
          <a:p>
            <a:r>
              <a:rPr lang="es-MX" dirty="0"/>
              <a:t>Se desarrolló la clase AccionesSemanticas.java para analizar declaraciones, asignaciones y operaciones. Durante su ejecución, el usuario puede ingresar una instrucción y el programa verifica su validez semántica, identificando tipos compatibles, variables declaradas y posibles errores.</a:t>
            </a:r>
          </a:p>
        </p:txBody>
      </p:sp>
      <p:pic>
        <p:nvPicPr>
          <p:cNvPr id="7" name="Imagen 6">
            <a:extLst>
              <a:ext uri="{FF2B5EF4-FFF2-40B4-BE49-F238E27FC236}">
                <a16:creationId xmlns:a16="http://schemas.microsoft.com/office/drawing/2014/main" id="{AD3ADE13-CD04-B1A0-F997-171466861D30}"/>
              </a:ext>
            </a:extLst>
          </p:cNvPr>
          <p:cNvPicPr>
            <a:picLocks noChangeAspect="1"/>
          </p:cNvPicPr>
          <p:nvPr/>
        </p:nvPicPr>
        <p:blipFill>
          <a:blip r:embed="rId2"/>
          <a:stretch>
            <a:fillRect/>
          </a:stretch>
        </p:blipFill>
        <p:spPr>
          <a:xfrm>
            <a:off x="6324602" y="1488540"/>
            <a:ext cx="5120000" cy="2880000"/>
          </a:xfrm>
          <a:prstGeom prst="rect">
            <a:avLst/>
          </a:prstGeom>
        </p:spPr>
      </p:pic>
      <p:pic>
        <p:nvPicPr>
          <p:cNvPr id="9" name="Imagen 8">
            <a:extLst>
              <a:ext uri="{FF2B5EF4-FFF2-40B4-BE49-F238E27FC236}">
                <a16:creationId xmlns:a16="http://schemas.microsoft.com/office/drawing/2014/main" id="{1A73C4F5-1F7D-3018-3668-520505B3DB9A}"/>
              </a:ext>
            </a:extLst>
          </p:cNvPr>
          <p:cNvPicPr>
            <a:picLocks noChangeAspect="1"/>
          </p:cNvPicPr>
          <p:nvPr/>
        </p:nvPicPr>
        <p:blipFill>
          <a:blip r:embed="rId3"/>
          <a:stretch>
            <a:fillRect/>
          </a:stretch>
        </p:blipFill>
        <p:spPr>
          <a:xfrm>
            <a:off x="838200" y="1488540"/>
            <a:ext cx="5120001" cy="2880000"/>
          </a:xfrm>
          <a:prstGeom prst="rect">
            <a:avLst/>
          </a:prstGeom>
        </p:spPr>
      </p:pic>
    </p:spTree>
    <p:extLst>
      <p:ext uri="{BB962C8B-B14F-4D97-AF65-F5344CB8AC3E}">
        <p14:creationId xmlns:p14="http://schemas.microsoft.com/office/powerpoint/2010/main" val="777604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D0C15-D327-072A-4BAC-B7A788C1CBD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F75B9B5-29C6-3656-022C-B473CB5A4A12}"/>
              </a:ext>
            </a:extLst>
          </p:cNvPr>
          <p:cNvSpPr>
            <a:spLocks noGrp="1"/>
          </p:cNvSpPr>
          <p:nvPr>
            <p:ph type="title"/>
          </p:nvPr>
        </p:nvSpPr>
        <p:spPr>
          <a:xfrm>
            <a:off x="838200" y="182903"/>
            <a:ext cx="10515600" cy="1325563"/>
          </a:xfrm>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Comprobaciones de tipos en expresiones</a:t>
            </a:r>
          </a:p>
        </p:txBody>
      </p:sp>
      <p:sp>
        <p:nvSpPr>
          <p:cNvPr id="4" name="CuadroTexto 3">
            <a:extLst>
              <a:ext uri="{FF2B5EF4-FFF2-40B4-BE49-F238E27FC236}">
                <a16:creationId xmlns:a16="http://schemas.microsoft.com/office/drawing/2014/main" id="{0DE900D9-DBA3-1066-2AB2-941FFD87B54E}"/>
              </a:ext>
            </a:extLst>
          </p:cNvPr>
          <p:cNvSpPr txBox="1"/>
          <p:nvPr/>
        </p:nvSpPr>
        <p:spPr>
          <a:xfrm>
            <a:off x="309181" y="3818141"/>
            <a:ext cx="3497249" cy="2862322"/>
          </a:xfrm>
          <a:prstGeom prst="rect">
            <a:avLst/>
          </a:prstGeom>
          <a:noFill/>
        </p:spPr>
        <p:txBody>
          <a:bodyPr wrap="square">
            <a:spAutoFit/>
          </a:bodyPr>
          <a:lstStyle/>
          <a:p>
            <a:pPr algn="just">
              <a:buNone/>
            </a:pPr>
            <a:r>
              <a:rPr lang="es-MX" dirty="0"/>
              <a:t>Se desarrolló la clase ComprobacionTipos.java para verificar la compatibilidad entre los tipos de datos utilizados en expresiones y asignaciones. Durante la ejecución, el programa identifica operaciones válidas e incompatibles, aplicando reglas como la conversión implícita de </a:t>
            </a:r>
            <a:r>
              <a:rPr lang="es-MX" dirty="0" err="1"/>
              <a:t>int</a:t>
            </a:r>
            <a:r>
              <a:rPr lang="es-MX" dirty="0"/>
              <a:t> a </a:t>
            </a:r>
            <a:r>
              <a:rPr lang="es-MX" dirty="0" err="1"/>
              <a:t>float</a:t>
            </a:r>
            <a:r>
              <a:rPr lang="es-MX" dirty="0"/>
              <a:t>.</a:t>
            </a:r>
          </a:p>
        </p:txBody>
      </p:sp>
      <p:graphicFrame>
        <p:nvGraphicFramePr>
          <p:cNvPr id="5" name="Tabla 4">
            <a:extLst>
              <a:ext uri="{FF2B5EF4-FFF2-40B4-BE49-F238E27FC236}">
                <a16:creationId xmlns:a16="http://schemas.microsoft.com/office/drawing/2014/main" id="{8BE274C6-0AEB-87C4-39FF-EEC8F895F0EF}"/>
              </a:ext>
            </a:extLst>
          </p:cNvPr>
          <p:cNvGraphicFramePr>
            <a:graphicFrameLocks noGrp="1"/>
          </p:cNvGraphicFramePr>
          <p:nvPr>
            <p:extLst>
              <p:ext uri="{D42A27DB-BD31-4B8C-83A1-F6EECF244321}">
                <p14:modId xmlns:p14="http://schemas.microsoft.com/office/powerpoint/2010/main" val="864643991"/>
              </p:ext>
            </p:extLst>
          </p:nvPr>
        </p:nvGraphicFramePr>
        <p:xfrm>
          <a:off x="4302762" y="3677478"/>
          <a:ext cx="7889238" cy="3079941"/>
        </p:xfrm>
        <a:graphic>
          <a:graphicData uri="http://schemas.openxmlformats.org/drawingml/2006/table">
            <a:tbl>
              <a:tblPr>
                <a:tableStyleId>{B301B821-A1FF-4177-AEE7-76D212191A09}</a:tableStyleId>
              </a:tblPr>
              <a:tblGrid>
                <a:gridCol w="1102360">
                  <a:extLst>
                    <a:ext uri="{9D8B030D-6E8A-4147-A177-3AD203B41FA5}">
                      <a16:colId xmlns:a16="http://schemas.microsoft.com/office/drawing/2014/main" val="2740171935"/>
                    </a:ext>
                  </a:extLst>
                </a:gridCol>
                <a:gridCol w="985520">
                  <a:extLst>
                    <a:ext uri="{9D8B030D-6E8A-4147-A177-3AD203B41FA5}">
                      <a16:colId xmlns:a16="http://schemas.microsoft.com/office/drawing/2014/main" val="2399694392"/>
                    </a:ext>
                  </a:extLst>
                </a:gridCol>
                <a:gridCol w="762000">
                  <a:extLst>
                    <a:ext uri="{9D8B030D-6E8A-4147-A177-3AD203B41FA5}">
                      <a16:colId xmlns:a16="http://schemas.microsoft.com/office/drawing/2014/main" val="4061455235"/>
                    </a:ext>
                  </a:extLst>
                </a:gridCol>
                <a:gridCol w="5039358">
                  <a:extLst>
                    <a:ext uri="{9D8B030D-6E8A-4147-A177-3AD203B41FA5}">
                      <a16:colId xmlns:a16="http://schemas.microsoft.com/office/drawing/2014/main" val="3274053882"/>
                    </a:ext>
                  </a:extLst>
                </a:gridCol>
              </a:tblGrid>
              <a:tr h="292133">
                <a:tc>
                  <a:txBody>
                    <a:bodyPr/>
                    <a:lstStyle/>
                    <a:p>
                      <a:pPr>
                        <a:buNone/>
                      </a:pPr>
                      <a:r>
                        <a:rPr lang="es-MX" sz="1300" dirty="0"/>
                        <a:t>Tipo variable</a:t>
                      </a:r>
                    </a:p>
                  </a:txBody>
                  <a:tcPr marL="64945" marR="64945" marT="32473" marB="32473"/>
                </a:tc>
                <a:tc>
                  <a:txBody>
                    <a:bodyPr/>
                    <a:lstStyle/>
                    <a:p>
                      <a:pPr>
                        <a:buNone/>
                      </a:pPr>
                      <a:r>
                        <a:rPr lang="es-MX" sz="1300" dirty="0"/>
                        <a:t>Tipo valor </a:t>
                      </a:r>
                    </a:p>
                  </a:txBody>
                  <a:tcPr marL="64945" marR="64945" marT="32473" marB="32473"/>
                </a:tc>
                <a:tc>
                  <a:txBody>
                    <a:bodyPr/>
                    <a:lstStyle/>
                    <a:p>
                      <a:pPr>
                        <a:buNone/>
                      </a:pPr>
                      <a:r>
                        <a:rPr lang="es-MX" sz="1300"/>
                        <a:t>¿Válida?</a:t>
                      </a:r>
                    </a:p>
                  </a:txBody>
                  <a:tcPr marL="64945" marR="64945" marT="32473" marB="32473"/>
                </a:tc>
                <a:tc>
                  <a:txBody>
                    <a:bodyPr/>
                    <a:lstStyle/>
                    <a:p>
                      <a:pPr>
                        <a:buNone/>
                      </a:pPr>
                      <a:r>
                        <a:rPr lang="es-MX" sz="1300" dirty="0"/>
                        <a:t>Motivo</a:t>
                      </a:r>
                    </a:p>
                  </a:txBody>
                  <a:tcPr marL="64945" marR="64945" marT="32473" marB="32473"/>
                </a:tc>
                <a:extLst>
                  <a:ext uri="{0D108BD9-81ED-4DB2-BD59-A6C34878D82A}">
                    <a16:rowId xmlns:a16="http://schemas.microsoft.com/office/drawing/2014/main" val="3403483428"/>
                  </a:ext>
                </a:extLst>
              </a:tr>
              <a:tr h="292133">
                <a:tc>
                  <a:txBody>
                    <a:bodyPr/>
                    <a:lstStyle/>
                    <a:p>
                      <a:pPr>
                        <a:buNone/>
                      </a:pPr>
                      <a:r>
                        <a:rPr lang="es-MX" sz="1300" dirty="0" err="1"/>
                        <a:t>int</a:t>
                      </a:r>
                      <a:endParaRPr lang="es-MX" sz="1300" dirty="0"/>
                    </a:p>
                  </a:txBody>
                  <a:tcPr marL="64945" marR="64945" marT="32473" marB="32473"/>
                </a:tc>
                <a:tc>
                  <a:txBody>
                    <a:bodyPr/>
                    <a:lstStyle/>
                    <a:p>
                      <a:pPr>
                        <a:buNone/>
                      </a:pPr>
                      <a:r>
                        <a:rPr lang="es-MX" sz="1300" dirty="0" err="1"/>
                        <a:t>int</a:t>
                      </a:r>
                      <a:endParaRPr lang="es-MX" sz="1300" dirty="0"/>
                    </a:p>
                  </a:txBody>
                  <a:tcPr marL="64945" marR="64945" marT="32473" marB="32473"/>
                </a:tc>
                <a:tc>
                  <a:txBody>
                    <a:bodyPr/>
                    <a:lstStyle/>
                    <a:p>
                      <a:pPr>
                        <a:buNone/>
                      </a:pPr>
                      <a:r>
                        <a:rPr lang="es-MX" sz="1300" dirty="0"/>
                        <a:t>✅ </a:t>
                      </a:r>
                    </a:p>
                  </a:txBody>
                  <a:tcPr marL="64945" marR="64945" marT="32473" marB="32473"/>
                </a:tc>
                <a:tc>
                  <a:txBody>
                    <a:bodyPr/>
                    <a:lstStyle/>
                    <a:p>
                      <a:pPr>
                        <a:buNone/>
                      </a:pPr>
                      <a:r>
                        <a:rPr lang="es-MX" sz="1300" dirty="0"/>
                        <a:t>Tipos idénticos</a:t>
                      </a:r>
                    </a:p>
                  </a:txBody>
                  <a:tcPr marL="64945" marR="64945" marT="32473" marB="32473"/>
                </a:tc>
                <a:extLst>
                  <a:ext uri="{0D108BD9-81ED-4DB2-BD59-A6C34878D82A}">
                    <a16:rowId xmlns:a16="http://schemas.microsoft.com/office/drawing/2014/main" val="1426014991"/>
                  </a:ext>
                </a:extLst>
              </a:tr>
              <a:tr h="292133">
                <a:tc>
                  <a:txBody>
                    <a:bodyPr/>
                    <a:lstStyle/>
                    <a:p>
                      <a:pPr>
                        <a:buNone/>
                      </a:pPr>
                      <a:r>
                        <a:rPr lang="es-MX" sz="1300"/>
                        <a:t>float</a:t>
                      </a:r>
                    </a:p>
                  </a:txBody>
                  <a:tcPr marL="64945" marR="64945" marT="32473" marB="32473"/>
                </a:tc>
                <a:tc>
                  <a:txBody>
                    <a:bodyPr/>
                    <a:lstStyle/>
                    <a:p>
                      <a:pPr>
                        <a:buNone/>
                      </a:pPr>
                      <a:r>
                        <a:rPr lang="es-MX" sz="1300"/>
                        <a:t>float</a:t>
                      </a:r>
                    </a:p>
                  </a:txBody>
                  <a:tcPr marL="64945" marR="64945" marT="32473" marB="32473"/>
                </a:tc>
                <a:tc>
                  <a:txBody>
                    <a:bodyPr/>
                    <a:lstStyle/>
                    <a:p>
                      <a:pPr>
                        <a:buNone/>
                      </a:pPr>
                      <a:r>
                        <a:rPr lang="es-MX" sz="1300" dirty="0"/>
                        <a:t>✅ </a:t>
                      </a:r>
                    </a:p>
                  </a:txBody>
                  <a:tcPr marL="64945" marR="64945" marT="32473" marB="32473"/>
                </a:tc>
                <a:tc>
                  <a:txBody>
                    <a:bodyPr/>
                    <a:lstStyle/>
                    <a:p>
                      <a:pPr>
                        <a:buNone/>
                      </a:pPr>
                      <a:r>
                        <a:rPr lang="es-MX" sz="1300" dirty="0"/>
                        <a:t>Tipos idénticos</a:t>
                      </a:r>
                    </a:p>
                  </a:txBody>
                  <a:tcPr marL="64945" marR="64945" marT="32473" marB="32473"/>
                </a:tc>
                <a:extLst>
                  <a:ext uri="{0D108BD9-81ED-4DB2-BD59-A6C34878D82A}">
                    <a16:rowId xmlns:a16="http://schemas.microsoft.com/office/drawing/2014/main" val="3693806230"/>
                  </a:ext>
                </a:extLst>
              </a:tr>
              <a:tr h="302323">
                <a:tc>
                  <a:txBody>
                    <a:bodyPr/>
                    <a:lstStyle/>
                    <a:p>
                      <a:pPr>
                        <a:buNone/>
                      </a:pPr>
                      <a:r>
                        <a:rPr lang="es-MX" sz="1300"/>
                        <a:t>float</a:t>
                      </a:r>
                    </a:p>
                  </a:txBody>
                  <a:tcPr marL="64945" marR="64945" marT="32473" marB="32473"/>
                </a:tc>
                <a:tc>
                  <a:txBody>
                    <a:bodyPr/>
                    <a:lstStyle/>
                    <a:p>
                      <a:pPr>
                        <a:buNone/>
                      </a:pPr>
                      <a:r>
                        <a:rPr lang="es-MX" sz="1300" dirty="0" err="1"/>
                        <a:t>int</a:t>
                      </a:r>
                      <a:endParaRPr lang="es-MX" sz="1300" dirty="0"/>
                    </a:p>
                  </a:txBody>
                  <a:tcPr marL="64945" marR="64945" marT="32473" marB="32473"/>
                </a:tc>
                <a:tc>
                  <a:txBody>
                    <a:bodyPr/>
                    <a:lstStyle/>
                    <a:p>
                      <a:pPr>
                        <a:buNone/>
                      </a:pPr>
                      <a:r>
                        <a:rPr lang="es-MX" sz="1300" dirty="0"/>
                        <a:t>✅ </a:t>
                      </a:r>
                    </a:p>
                  </a:txBody>
                  <a:tcPr marL="64945" marR="64945" marT="32473" marB="32473"/>
                </a:tc>
                <a:tc>
                  <a:txBody>
                    <a:bodyPr/>
                    <a:lstStyle/>
                    <a:p>
                      <a:pPr>
                        <a:buNone/>
                      </a:pPr>
                      <a:r>
                        <a:rPr lang="es-MX" sz="1300" dirty="0"/>
                        <a:t>Un entero cabe exacto en un flotante — conversión implícita </a:t>
                      </a:r>
                      <a:r>
                        <a:rPr lang="es-MX" sz="1300" dirty="0" err="1"/>
                        <a:t>int</a:t>
                      </a:r>
                      <a:r>
                        <a:rPr lang="es-MX" sz="1300" dirty="0"/>
                        <a:t> → </a:t>
                      </a:r>
                      <a:r>
                        <a:rPr lang="es-MX" sz="1300" dirty="0" err="1"/>
                        <a:t>float</a:t>
                      </a:r>
                      <a:endParaRPr lang="es-MX" sz="1300" dirty="0"/>
                    </a:p>
                  </a:txBody>
                  <a:tcPr marL="64945" marR="64945" marT="32473" marB="32473"/>
                </a:tc>
                <a:extLst>
                  <a:ext uri="{0D108BD9-81ED-4DB2-BD59-A6C34878D82A}">
                    <a16:rowId xmlns:a16="http://schemas.microsoft.com/office/drawing/2014/main" val="2664214776"/>
                  </a:ext>
                </a:extLst>
              </a:tr>
              <a:tr h="351792">
                <a:tc>
                  <a:txBody>
                    <a:bodyPr/>
                    <a:lstStyle/>
                    <a:p>
                      <a:pPr marL="0" algn="l" defTabSz="914400" rtl="0" eaLnBrk="1" latinLnBrk="0" hangingPunct="1">
                        <a:buNone/>
                      </a:pPr>
                      <a:r>
                        <a:rPr lang="es-MX" sz="1300" kern="1200" dirty="0" err="1">
                          <a:solidFill>
                            <a:schemeClr val="dk1"/>
                          </a:solidFill>
                          <a:latin typeface="+mn-lt"/>
                          <a:ea typeface="+mn-ea"/>
                          <a:cs typeface="+mn-cs"/>
                        </a:rPr>
                        <a:t>int</a:t>
                      </a:r>
                      <a:endParaRPr lang="es-MX" sz="1300" kern="1200" dirty="0">
                        <a:solidFill>
                          <a:schemeClr val="dk1"/>
                        </a:solidFill>
                        <a:latin typeface="+mn-lt"/>
                        <a:ea typeface="+mn-ea"/>
                        <a:cs typeface="+mn-cs"/>
                      </a:endParaRPr>
                    </a:p>
                  </a:txBody>
                  <a:tcPr marL="64945" marR="64945" marT="32473" marB="32473"/>
                </a:tc>
                <a:tc>
                  <a:txBody>
                    <a:bodyPr/>
                    <a:lstStyle/>
                    <a:p>
                      <a:pPr marL="0" algn="l" defTabSz="914400" rtl="0" eaLnBrk="1" latinLnBrk="0" hangingPunct="1">
                        <a:buNone/>
                      </a:pPr>
                      <a:r>
                        <a:rPr lang="es-MX" sz="1300" kern="1200" dirty="0" err="1">
                          <a:solidFill>
                            <a:schemeClr val="dk1"/>
                          </a:solidFill>
                          <a:latin typeface="+mn-lt"/>
                          <a:ea typeface="+mn-ea"/>
                          <a:cs typeface="+mn-cs"/>
                        </a:rPr>
                        <a:t>Float</a:t>
                      </a:r>
                      <a:endParaRPr lang="es-MX" sz="1300" kern="1200" dirty="0">
                        <a:solidFill>
                          <a:schemeClr val="dk1"/>
                        </a:solidFill>
                        <a:latin typeface="+mn-lt"/>
                        <a:ea typeface="+mn-ea"/>
                        <a:cs typeface="+mn-cs"/>
                      </a:endParaRPr>
                    </a:p>
                  </a:txBody>
                  <a:tcPr marL="64945" marR="64945" marT="32473" marB="32473"/>
                </a:tc>
                <a:tc>
                  <a:txBody>
                    <a:bodyPr/>
                    <a:lstStyle/>
                    <a:p>
                      <a:pPr marL="0" algn="l" defTabSz="914400" rtl="0" eaLnBrk="1" latinLnBrk="0" hangingPunct="1">
                        <a:buNone/>
                      </a:pPr>
                      <a:r>
                        <a:rPr lang="es-MX" sz="1300" kern="1200" dirty="0">
                          <a:solidFill>
                            <a:schemeClr val="dk1"/>
                          </a:solidFill>
                          <a:latin typeface="+mn-lt"/>
                          <a:ea typeface="+mn-ea"/>
                          <a:cs typeface="+mn-cs"/>
                        </a:rPr>
                        <a:t>❌ </a:t>
                      </a:r>
                    </a:p>
                  </a:txBody>
                  <a:tcPr marL="64945" marR="64945" marT="32473" marB="32473"/>
                </a:tc>
                <a:tc>
                  <a:txBody>
                    <a:bodyPr/>
                    <a:lstStyle/>
                    <a:p>
                      <a:pPr marL="0" algn="l" defTabSz="914400" rtl="0" eaLnBrk="1" latinLnBrk="0" hangingPunct="1">
                        <a:buNone/>
                      </a:pPr>
                      <a:r>
                        <a:rPr lang="es-MX" sz="1300" kern="1200" dirty="0">
                          <a:solidFill>
                            <a:schemeClr val="dk1"/>
                          </a:solidFill>
                          <a:latin typeface="+mn-lt"/>
                          <a:ea typeface="+mn-ea"/>
                          <a:cs typeface="+mn-cs"/>
                        </a:rPr>
                        <a:t>Se perdería la parte decimal — no hay conversión implícita </a:t>
                      </a:r>
                      <a:r>
                        <a:rPr lang="es-MX" sz="1300" kern="1200" dirty="0" err="1">
                          <a:solidFill>
                            <a:schemeClr val="dk1"/>
                          </a:solidFill>
                          <a:latin typeface="+mn-lt"/>
                          <a:ea typeface="+mn-ea"/>
                          <a:cs typeface="+mn-cs"/>
                        </a:rPr>
                        <a:t>float</a:t>
                      </a:r>
                      <a:r>
                        <a:rPr lang="es-MX" sz="1300" kern="1200" dirty="0">
                          <a:solidFill>
                            <a:schemeClr val="dk1"/>
                          </a:solidFill>
                          <a:latin typeface="+mn-lt"/>
                          <a:ea typeface="+mn-ea"/>
                          <a:cs typeface="+mn-cs"/>
                        </a:rPr>
                        <a:t> → </a:t>
                      </a:r>
                      <a:r>
                        <a:rPr lang="es-MX" sz="1300" kern="1200" dirty="0" err="1">
                          <a:solidFill>
                            <a:schemeClr val="dk1"/>
                          </a:solidFill>
                          <a:latin typeface="+mn-lt"/>
                          <a:ea typeface="+mn-ea"/>
                          <a:cs typeface="+mn-cs"/>
                        </a:rPr>
                        <a:t>int</a:t>
                      </a:r>
                      <a:endParaRPr lang="es-MX" sz="1300" kern="1200" dirty="0">
                        <a:solidFill>
                          <a:schemeClr val="dk1"/>
                        </a:solidFill>
                        <a:latin typeface="+mn-lt"/>
                        <a:ea typeface="+mn-ea"/>
                        <a:cs typeface="+mn-cs"/>
                      </a:endParaRPr>
                    </a:p>
                  </a:txBody>
                  <a:tcPr marL="64945" marR="64945" marT="32473" marB="32473"/>
                </a:tc>
                <a:extLst>
                  <a:ext uri="{0D108BD9-81ED-4DB2-BD59-A6C34878D82A}">
                    <a16:rowId xmlns:a16="http://schemas.microsoft.com/office/drawing/2014/main" val="2066962624"/>
                  </a:ext>
                </a:extLst>
              </a:tr>
              <a:tr h="366602">
                <a:tc>
                  <a:txBody>
                    <a:bodyPr/>
                    <a:lstStyle/>
                    <a:p>
                      <a:pPr>
                        <a:buNone/>
                      </a:pPr>
                      <a:r>
                        <a:rPr lang="es-MX" sz="1300" dirty="0" err="1"/>
                        <a:t>int</a:t>
                      </a:r>
                      <a:endParaRPr lang="es-MX" sz="1300" dirty="0"/>
                    </a:p>
                  </a:txBody>
                  <a:tcPr marL="64945" marR="64945" marT="32473" marB="32473"/>
                </a:tc>
                <a:tc>
                  <a:txBody>
                    <a:bodyPr/>
                    <a:lstStyle/>
                    <a:p>
                      <a:pPr>
                        <a:buNone/>
                      </a:pPr>
                      <a:r>
                        <a:rPr lang="es-MX" sz="1300" dirty="0" err="1"/>
                        <a:t>string</a:t>
                      </a:r>
                      <a:r>
                        <a:rPr lang="es-MX" sz="1300" dirty="0"/>
                        <a:t>/otro</a:t>
                      </a:r>
                    </a:p>
                  </a:txBody>
                  <a:tcPr marL="64945" marR="64945" marT="32473" marB="32473"/>
                </a:tc>
                <a:tc>
                  <a:txBody>
                    <a:bodyPr/>
                    <a:lstStyle/>
                    <a:p>
                      <a:pPr>
                        <a:buNone/>
                      </a:pPr>
                      <a:r>
                        <a:rPr lang="es-MX" sz="1300" dirty="0"/>
                        <a:t>❌ </a:t>
                      </a:r>
                    </a:p>
                  </a:txBody>
                  <a:tcPr marL="64945" marR="64945" marT="32473" marB="32473"/>
                </a:tc>
                <a:tc>
                  <a:txBody>
                    <a:bodyPr/>
                    <a:lstStyle/>
                    <a:p>
                      <a:pPr>
                        <a:buNone/>
                      </a:pPr>
                      <a:r>
                        <a:rPr lang="es-MX" sz="1300" dirty="0"/>
                        <a:t>Tipos incompatibles, sin regla de conversión</a:t>
                      </a:r>
                    </a:p>
                  </a:txBody>
                  <a:tcPr marL="64945" marR="64945" marT="32473" marB="32473"/>
                </a:tc>
                <a:extLst>
                  <a:ext uri="{0D108BD9-81ED-4DB2-BD59-A6C34878D82A}">
                    <a16:rowId xmlns:a16="http://schemas.microsoft.com/office/drawing/2014/main" val="929703612"/>
                  </a:ext>
                </a:extLst>
              </a:tr>
              <a:tr h="366602">
                <a:tc>
                  <a:txBody>
                    <a:bodyPr/>
                    <a:lstStyle/>
                    <a:p>
                      <a:pPr>
                        <a:buNone/>
                      </a:pPr>
                      <a:r>
                        <a:rPr lang="es-MX" sz="1300"/>
                        <a:t>float</a:t>
                      </a:r>
                    </a:p>
                  </a:txBody>
                  <a:tcPr marL="64945" marR="64945" marT="32473" marB="32473"/>
                </a:tc>
                <a:tc>
                  <a:txBody>
                    <a:bodyPr/>
                    <a:lstStyle/>
                    <a:p>
                      <a:pPr>
                        <a:buNone/>
                      </a:pPr>
                      <a:r>
                        <a:rPr lang="es-MX" sz="1300" dirty="0" err="1"/>
                        <a:t>string</a:t>
                      </a:r>
                      <a:r>
                        <a:rPr lang="es-MX" sz="1300" dirty="0"/>
                        <a:t>/otro</a:t>
                      </a:r>
                    </a:p>
                  </a:txBody>
                  <a:tcPr marL="64945" marR="64945" marT="32473" marB="32473"/>
                </a:tc>
                <a:tc>
                  <a:txBody>
                    <a:bodyPr/>
                    <a:lstStyle/>
                    <a:p>
                      <a:pPr>
                        <a:buNone/>
                      </a:pPr>
                      <a:r>
                        <a:rPr lang="es-MX" sz="1300" dirty="0"/>
                        <a:t>❌ </a:t>
                      </a:r>
                    </a:p>
                  </a:txBody>
                  <a:tcPr marL="64945" marR="64945" marT="32473" marB="32473"/>
                </a:tc>
                <a:tc>
                  <a:txBody>
                    <a:bodyPr/>
                    <a:lstStyle/>
                    <a:p>
                      <a:pPr>
                        <a:buNone/>
                      </a:pPr>
                      <a:r>
                        <a:rPr lang="es-MX" sz="1300"/>
                        <a:t>Tipos incompatibles, sin regla de conversión</a:t>
                      </a:r>
                    </a:p>
                  </a:txBody>
                  <a:tcPr marL="64945" marR="64945" marT="32473" marB="32473"/>
                </a:tc>
                <a:extLst>
                  <a:ext uri="{0D108BD9-81ED-4DB2-BD59-A6C34878D82A}">
                    <a16:rowId xmlns:a16="http://schemas.microsoft.com/office/drawing/2014/main" val="3774380370"/>
                  </a:ext>
                </a:extLst>
              </a:tr>
              <a:tr h="292133">
                <a:tc>
                  <a:txBody>
                    <a:bodyPr/>
                    <a:lstStyle/>
                    <a:p>
                      <a:pPr>
                        <a:buNone/>
                      </a:pPr>
                      <a:r>
                        <a:rPr lang="es-MX" sz="1300"/>
                        <a:t>string</a:t>
                      </a:r>
                    </a:p>
                  </a:txBody>
                  <a:tcPr marL="64945" marR="64945" marT="32473" marB="32473"/>
                </a:tc>
                <a:tc>
                  <a:txBody>
                    <a:bodyPr/>
                    <a:lstStyle/>
                    <a:p>
                      <a:pPr>
                        <a:buNone/>
                      </a:pPr>
                      <a:r>
                        <a:rPr lang="es-MX" sz="1300"/>
                        <a:t>string</a:t>
                      </a:r>
                    </a:p>
                  </a:txBody>
                  <a:tcPr marL="64945" marR="64945" marT="32473" marB="32473"/>
                </a:tc>
                <a:tc>
                  <a:txBody>
                    <a:bodyPr/>
                    <a:lstStyle/>
                    <a:p>
                      <a:pPr>
                        <a:buNone/>
                      </a:pPr>
                      <a:r>
                        <a:rPr lang="es-MX" sz="1300" dirty="0"/>
                        <a:t>✅ </a:t>
                      </a:r>
                    </a:p>
                  </a:txBody>
                  <a:tcPr marL="64945" marR="64945" marT="32473" marB="32473"/>
                </a:tc>
                <a:tc>
                  <a:txBody>
                    <a:bodyPr/>
                    <a:lstStyle/>
                    <a:p>
                      <a:pPr>
                        <a:buNone/>
                      </a:pPr>
                      <a:r>
                        <a:rPr lang="es-MX" sz="1300"/>
                        <a:t>Tipos idénticos</a:t>
                      </a:r>
                    </a:p>
                  </a:txBody>
                  <a:tcPr marL="64945" marR="64945" marT="32473" marB="32473"/>
                </a:tc>
                <a:extLst>
                  <a:ext uri="{0D108BD9-81ED-4DB2-BD59-A6C34878D82A}">
                    <a16:rowId xmlns:a16="http://schemas.microsoft.com/office/drawing/2014/main" val="4066110257"/>
                  </a:ext>
                </a:extLst>
              </a:tr>
              <a:tr h="524090">
                <a:tc>
                  <a:txBody>
                    <a:bodyPr/>
                    <a:lstStyle/>
                    <a:p>
                      <a:pPr>
                        <a:buNone/>
                      </a:pPr>
                      <a:r>
                        <a:rPr lang="es-MX" sz="1300" dirty="0" err="1"/>
                        <a:t>string</a:t>
                      </a:r>
                      <a:endParaRPr lang="es-MX" sz="1300" dirty="0"/>
                    </a:p>
                  </a:txBody>
                  <a:tcPr marL="64945" marR="64945" marT="32473" marB="32473"/>
                </a:tc>
                <a:tc>
                  <a:txBody>
                    <a:bodyPr/>
                    <a:lstStyle/>
                    <a:p>
                      <a:pPr>
                        <a:buNone/>
                      </a:pPr>
                      <a:r>
                        <a:rPr lang="es-MX" sz="1300" dirty="0" err="1"/>
                        <a:t>int</a:t>
                      </a:r>
                      <a:endParaRPr lang="es-MX" sz="1300" dirty="0"/>
                    </a:p>
                  </a:txBody>
                  <a:tcPr marL="64945" marR="64945" marT="32473" marB="32473"/>
                </a:tc>
                <a:tc>
                  <a:txBody>
                    <a:bodyPr/>
                    <a:lstStyle/>
                    <a:p>
                      <a:pPr>
                        <a:buNone/>
                      </a:pPr>
                      <a:r>
                        <a:rPr lang="es-MX" sz="1300" dirty="0"/>
                        <a:t>❌ </a:t>
                      </a:r>
                    </a:p>
                  </a:txBody>
                  <a:tcPr marL="64945" marR="64945" marT="32473" marB="32473"/>
                </a:tc>
                <a:tc>
                  <a:txBody>
                    <a:bodyPr/>
                    <a:lstStyle/>
                    <a:p>
                      <a:pPr>
                        <a:buNone/>
                      </a:pPr>
                      <a:r>
                        <a:rPr lang="es-MX" sz="1300" dirty="0"/>
                        <a:t>No hay coerción entre tipos numéricos y </a:t>
                      </a:r>
                      <a:r>
                        <a:rPr lang="es-MX" sz="1300" dirty="0" err="1"/>
                        <a:t>string</a:t>
                      </a:r>
                      <a:r>
                        <a:rPr lang="es-MX" sz="1300" dirty="0"/>
                        <a:t>/</a:t>
                      </a:r>
                      <a:r>
                        <a:rPr lang="es-MX" sz="1300" dirty="0" err="1"/>
                        <a:t>boolean</a:t>
                      </a:r>
                      <a:endParaRPr lang="es-MX" sz="1300" dirty="0"/>
                    </a:p>
                  </a:txBody>
                  <a:tcPr marL="64945" marR="64945" marT="32473" marB="32473"/>
                </a:tc>
                <a:extLst>
                  <a:ext uri="{0D108BD9-81ED-4DB2-BD59-A6C34878D82A}">
                    <a16:rowId xmlns:a16="http://schemas.microsoft.com/office/drawing/2014/main" val="1428175"/>
                  </a:ext>
                </a:extLst>
              </a:tr>
            </a:tbl>
          </a:graphicData>
        </a:graphic>
      </p:graphicFrame>
      <p:pic>
        <p:nvPicPr>
          <p:cNvPr id="7" name="Imagen 6">
            <a:extLst>
              <a:ext uri="{FF2B5EF4-FFF2-40B4-BE49-F238E27FC236}">
                <a16:creationId xmlns:a16="http://schemas.microsoft.com/office/drawing/2014/main" id="{E02BD1BB-B326-4F6E-2781-25B3A42BE4A6}"/>
              </a:ext>
            </a:extLst>
          </p:cNvPr>
          <p:cNvPicPr>
            <a:picLocks noChangeAspect="1"/>
          </p:cNvPicPr>
          <p:nvPr/>
        </p:nvPicPr>
        <p:blipFill>
          <a:blip r:embed="rId2"/>
          <a:stretch>
            <a:fillRect/>
          </a:stretch>
        </p:blipFill>
        <p:spPr>
          <a:xfrm>
            <a:off x="6979257" y="1188122"/>
            <a:ext cx="3840000" cy="2160000"/>
          </a:xfrm>
          <a:prstGeom prst="rect">
            <a:avLst/>
          </a:prstGeom>
        </p:spPr>
      </p:pic>
      <p:pic>
        <p:nvPicPr>
          <p:cNvPr id="6" name="Imagen 5">
            <a:extLst>
              <a:ext uri="{FF2B5EF4-FFF2-40B4-BE49-F238E27FC236}">
                <a16:creationId xmlns:a16="http://schemas.microsoft.com/office/drawing/2014/main" id="{F7B4A28F-B843-8060-4513-A6FB7C892A85}"/>
              </a:ext>
            </a:extLst>
          </p:cNvPr>
          <p:cNvPicPr>
            <a:picLocks noChangeAspect="1"/>
          </p:cNvPicPr>
          <p:nvPr/>
        </p:nvPicPr>
        <p:blipFill>
          <a:blip r:embed="rId3"/>
          <a:stretch>
            <a:fillRect/>
          </a:stretch>
        </p:blipFill>
        <p:spPr>
          <a:xfrm>
            <a:off x="983717" y="1188122"/>
            <a:ext cx="3840000" cy="2160000"/>
          </a:xfrm>
          <a:prstGeom prst="rect">
            <a:avLst/>
          </a:prstGeom>
        </p:spPr>
      </p:pic>
    </p:spTree>
    <p:extLst>
      <p:ext uri="{BB962C8B-B14F-4D97-AF65-F5344CB8AC3E}">
        <p14:creationId xmlns:p14="http://schemas.microsoft.com/office/powerpoint/2010/main" val="3600491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F8C66-E0C5-500F-A9D4-B7D5EBA80F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7F402EF-0499-48F1-C9FE-CF84F249DF4B}"/>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Pila semántica</a:t>
            </a:r>
          </a:p>
        </p:txBody>
      </p:sp>
      <p:pic>
        <p:nvPicPr>
          <p:cNvPr id="4" name="Imagen 3">
            <a:extLst>
              <a:ext uri="{FF2B5EF4-FFF2-40B4-BE49-F238E27FC236}">
                <a16:creationId xmlns:a16="http://schemas.microsoft.com/office/drawing/2014/main" id="{65493561-5E6D-DACF-9579-320F45581313}"/>
              </a:ext>
            </a:extLst>
          </p:cNvPr>
          <p:cNvPicPr>
            <a:picLocks noChangeAspect="1"/>
          </p:cNvPicPr>
          <p:nvPr/>
        </p:nvPicPr>
        <p:blipFill>
          <a:blip r:embed="rId2"/>
          <a:stretch>
            <a:fillRect/>
          </a:stretch>
        </p:blipFill>
        <p:spPr>
          <a:xfrm>
            <a:off x="6096000" y="1452880"/>
            <a:ext cx="4480000" cy="2520000"/>
          </a:xfrm>
          <a:prstGeom prst="rect">
            <a:avLst/>
          </a:prstGeom>
        </p:spPr>
      </p:pic>
      <p:sp>
        <p:nvSpPr>
          <p:cNvPr id="6" name="CuadroTexto 5">
            <a:extLst>
              <a:ext uri="{FF2B5EF4-FFF2-40B4-BE49-F238E27FC236}">
                <a16:creationId xmlns:a16="http://schemas.microsoft.com/office/drawing/2014/main" id="{9FD8FFE5-7FBC-DFF0-63F7-7624068CAA6C}"/>
              </a:ext>
            </a:extLst>
          </p:cNvPr>
          <p:cNvSpPr txBox="1"/>
          <p:nvPr/>
        </p:nvSpPr>
        <p:spPr>
          <a:xfrm>
            <a:off x="838200" y="4268393"/>
            <a:ext cx="9925877" cy="1532727"/>
          </a:xfrm>
          <a:prstGeom prst="rect">
            <a:avLst/>
          </a:prstGeom>
          <a:noFill/>
        </p:spPr>
        <p:txBody>
          <a:bodyPr vert="horz" wrap="square" lIns="91440" tIns="45720" rIns="91440" bIns="45720" rtlCol="0">
            <a:spAutoFit/>
          </a:bodyPr>
          <a:lstStyle>
            <a:defPPr>
              <a:defRPr lang="es-MX"/>
            </a:defPPr>
            <a:lvl1pPr indent="0" algn="just">
              <a:lnSpc>
                <a:spcPct val="90000"/>
              </a:lnSpc>
              <a:spcBef>
                <a:spcPts val="1000"/>
              </a:spcBef>
              <a:buFont typeface="Arial" panose="020B0604020202020204" pitchFamily="34" charset="0"/>
              <a:buNone/>
              <a:defRPr sz="26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MX" dirty="0"/>
              <a:t>desarrolló  de la clase PilaSemantica.java para almacenar temporalmente operandos, operadores y resultados durante el análisis de expresiones. Su ejecución utiliza el principio LIFO, donde el último elemento agregado es el primero en salir.</a:t>
            </a:r>
          </a:p>
        </p:txBody>
      </p:sp>
      <p:pic>
        <p:nvPicPr>
          <p:cNvPr id="5" name="Imagen 4">
            <a:extLst>
              <a:ext uri="{FF2B5EF4-FFF2-40B4-BE49-F238E27FC236}">
                <a16:creationId xmlns:a16="http://schemas.microsoft.com/office/drawing/2014/main" id="{7FD0654A-AE91-40A1-B472-744C0317F402}"/>
              </a:ext>
            </a:extLst>
          </p:cNvPr>
          <p:cNvPicPr>
            <a:picLocks noChangeAspect="1"/>
          </p:cNvPicPr>
          <p:nvPr/>
        </p:nvPicPr>
        <p:blipFill>
          <a:blip r:embed="rId3"/>
          <a:stretch>
            <a:fillRect/>
          </a:stretch>
        </p:blipFill>
        <p:spPr>
          <a:xfrm>
            <a:off x="838200" y="1452880"/>
            <a:ext cx="4480000" cy="2520000"/>
          </a:xfrm>
          <a:prstGeom prst="rect">
            <a:avLst/>
          </a:prstGeom>
        </p:spPr>
      </p:pic>
    </p:spTree>
    <p:extLst>
      <p:ext uri="{BB962C8B-B14F-4D97-AF65-F5344CB8AC3E}">
        <p14:creationId xmlns:p14="http://schemas.microsoft.com/office/powerpoint/2010/main" val="4085712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6D4A1-A97A-642D-FC8C-D179B718591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016FDF6-B11F-2141-E27F-75FCC939E79F}"/>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Esquema de traducción</a:t>
            </a:r>
          </a:p>
        </p:txBody>
      </p:sp>
      <p:sp>
        <p:nvSpPr>
          <p:cNvPr id="4" name="CuadroTexto 3">
            <a:extLst>
              <a:ext uri="{FF2B5EF4-FFF2-40B4-BE49-F238E27FC236}">
                <a16:creationId xmlns:a16="http://schemas.microsoft.com/office/drawing/2014/main" id="{D193A6D9-184B-7CAA-6131-82C4C1CAC0A4}"/>
              </a:ext>
            </a:extLst>
          </p:cNvPr>
          <p:cNvSpPr txBox="1"/>
          <p:nvPr/>
        </p:nvSpPr>
        <p:spPr>
          <a:xfrm>
            <a:off x="838200" y="4797385"/>
            <a:ext cx="10197548" cy="923330"/>
          </a:xfrm>
          <a:prstGeom prst="rect">
            <a:avLst/>
          </a:prstGeom>
          <a:noFill/>
        </p:spPr>
        <p:txBody>
          <a:bodyPr vert="horz" wrap="square" lIns="91440" tIns="45720" rIns="91440" bIns="45720" rtlCol="0">
            <a:spAutoFit/>
          </a:bodyPr>
          <a:lstStyle>
            <a:defPPr>
              <a:defRPr lang="es-MX"/>
            </a:defPPr>
            <a:lvl1pPr indent="0" algn="just">
              <a:lnSpc>
                <a:spcPct val="90000"/>
              </a:lnSpc>
              <a:spcBef>
                <a:spcPts val="1000"/>
              </a:spcBef>
              <a:buFont typeface="Arial" panose="020B0604020202020204" pitchFamily="34" charset="0"/>
              <a:buNone/>
              <a:defRPr sz="26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MX" dirty="0"/>
              <a:t>Se desarrolló la clase EsquemaTraduccion.java para relacionar las reglas gramaticales con sus acciones semánticas. Durante la ejecución, el programa analiza una expresión y muestra las acciones correspondientes al proceso de traducción.</a:t>
            </a:r>
          </a:p>
        </p:txBody>
      </p:sp>
      <p:pic>
        <p:nvPicPr>
          <p:cNvPr id="7" name="Imagen 6">
            <a:extLst>
              <a:ext uri="{FF2B5EF4-FFF2-40B4-BE49-F238E27FC236}">
                <a16:creationId xmlns:a16="http://schemas.microsoft.com/office/drawing/2014/main" id="{47D5011E-D1C9-75AF-9AF3-CDDB7BF20A08}"/>
              </a:ext>
            </a:extLst>
          </p:cNvPr>
          <p:cNvPicPr>
            <a:picLocks noChangeAspect="1"/>
          </p:cNvPicPr>
          <p:nvPr/>
        </p:nvPicPr>
        <p:blipFill>
          <a:blip r:embed="rId2"/>
          <a:stretch>
            <a:fillRect/>
          </a:stretch>
        </p:blipFill>
        <p:spPr>
          <a:xfrm>
            <a:off x="6166726" y="1431234"/>
            <a:ext cx="5092880" cy="2864745"/>
          </a:xfrm>
          <a:prstGeom prst="rect">
            <a:avLst/>
          </a:prstGeom>
        </p:spPr>
      </p:pic>
      <p:pic>
        <p:nvPicPr>
          <p:cNvPr id="9" name="Imagen 8">
            <a:extLst>
              <a:ext uri="{FF2B5EF4-FFF2-40B4-BE49-F238E27FC236}">
                <a16:creationId xmlns:a16="http://schemas.microsoft.com/office/drawing/2014/main" id="{C26FA25F-E883-B131-F858-76287AC54E6F}"/>
              </a:ext>
            </a:extLst>
          </p:cNvPr>
          <p:cNvPicPr>
            <a:picLocks noChangeAspect="1"/>
          </p:cNvPicPr>
          <p:nvPr/>
        </p:nvPicPr>
        <p:blipFill>
          <a:blip r:embed="rId3"/>
          <a:stretch>
            <a:fillRect/>
          </a:stretch>
        </p:blipFill>
        <p:spPr>
          <a:xfrm>
            <a:off x="838200" y="1431234"/>
            <a:ext cx="5092880" cy="2864745"/>
          </a:xfrm>
          <a:prstGeom prst="rect">
            <a:avLst/>
          </a:prstGeom>
        </p:spPr>
      </p:pic>
    </p:spTree>
    <p:extLst>
      <p:ext uri="{BB962C8B-B14F-4D97-AF65-F5344CB8AC3E}">
        <p14:creationId xmlns:p14="http://schemas.microsoft.com/office/powerpoint/2010/main" val="760877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D200C-A0FA-AADE-48BD-8F6248956D6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D1BCFD-6B4A-E082-37CF-DC52FA89399E}"/>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Tabla de símbolos</a:t>
            </a:r>
          </a:p>
        </p:txBody>
      </p:sp>
      <p:sp>
        <p:nvSpPr>
          <p:cNvPr id="4" name="CuadroTexto 3">
            <a:extLst>
              <a:ext uri="{FF2B5EF4-FFF2-40B4-BE49-F238E27FC236}">
                <a16:creationId xmlns:a16="http://schemas.microsoft.com/office/drawing/2014/main" id="{6F723629-43A0-77D5-A0E8-E54E5DCA529E}"/>
              </a:ext>
            </a:extLst>
          </p:cNvPr>
          <p:cNvSpPr txBox="1"/>
          <p:nvPr/>
        </p:nvSpPr>
        <p:spPr>
          <a:xfrm>
            <a:off x="838200" y="4356109"/>
            <a:ext cx="9776791" cy="1532727"/>
          </a:xfrm>
          <a:prstGeom prst="rect">
            <a:avLst/>
          </a:prstGeom>
          <a:noFill/>
        </p:spPr>
        <p:txBody>
          <a:bodyPr vert="horz" wrap="square" lIns="91440" tIns="45720" rIns="91440" bIns="45720" rtlCol="0">
            <a:spAutoFit/>
          </a:bodyPr>
          <a:lstStyle>
            <a:defPPr>
              <a:defRPr lang="es-MX"/>
            </a:defPPr>
            <a:lvl1pPr indent="0" algn="just">
              <a:lnSpc>
                <a:spcPct val="90000"/>
              </a:lnSpc>
              <a:spcBef>
                <a:spcPts val="1000"/>
              </a:spcBef>
              <a:buFont typeface="Arial" panose="020B0604020202020204" pitchFamily="34" charset="0"/>
              <a:buNone/>
              <a:defRPr sz="26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MX" dirty="0"/>
              <a:t>Desarrolló de la clase TablaSimbolos.java para registrar y organizar los identificadores utilizados en el programa. Durante su ejecución, permite almacenar información como nombre, tipo de dato, valor, ámbito y dirección de cada variable.</a:t>
            </a:r>
          </a:p>
        </p:txBody>
      </p:sp>
      <p:pic>
        <p:nvPicPr>
          <p:cNvPr id="8" name="Imagen 7">
            <a:extLst>
              <a:ext uri="{FF2B5EF4-FFF2-40B4-BE49-F238E27FC236}">
                <a16:creationId xmlns:a16="http://schemas.microsoft.com/office/drawing/2014/main" id="{6B4C5C3B-FEB7-1016-7FF2-AC90236FA0AB}"/>
              </a:ext>
            </a:extLst>
          </p:cNvPr>
          <p:cNvPicPr>
            <a:picLocks noChangeAspect="1"/>
          </p:cNvPicPr>
          <p:nvPr/>
        </p:nvPicPr>
        <p:blipFill>
          <a:blip r:embed="rId2"/>
          <a:stretch>
            <a:fillRect/>
          </a:stretch>
        </p:blipFill>
        <p:spPr>
          <a:xfrm>
            <a:off x="6399524" y="1576077"/>
            <a:ext cx="4480000" cy="2520000"/>
          </a:xfrm>
          <a:prstGeom prst="rect">
            <a:avLst/>
          </a:prstGeom>
        </p:spPr>
      </p:pic>
      <p:pic>
        <p:nvPicPr>
          <p:cNvPr id="5" name="Imagen 4">
            <a:extLst>
              <a:ext uri="{FF2B5EF4-FFF2-40B4-BE49-F238E27FC236}">
                <a16:creationId xmlns:a16="http://schemas.microsoft.com/office/drawing/2014/main" id="{7F99CDD8-B535-A6B1-C6E7-ECE20DB5920F}"/>
              </a:ext>
            </a:extLst>
          </p:cNvPr>
          <p:cNvPicPr>
            <a:picLocks noChangeAspect="1"/>
          </p:cNvPicPr>
          <p:nvPr/>
        </p:nvPicPr>
        <p:blipFill>
          <a:blip r:embed="rId3"/>
          <a:stretch>
            <a:fillRect/>
          </a:stretch>
        </p:blipFill>
        <p:spPr>
          <a:xfrm>
            <a:off x="838200" y="1576077"/>
            <a:ext cx="4480000" cy="2520000"/>
          </a:xfrm>
          <a:prstGeom prst="rect">
            <a:avLst/>
          </a:prstGeom>
        </p:spPr>
      </p:pic>
    </p:spTree>
    <p:extLst>
      <p:ext uri="{BB962C8B-B14F-4D97-AF65-F5344CB8AC3E}">
        <p14:creationId xmlns:p14="http://schemas.microsoft.com/office/powerpoint/2010/main" val="37270755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8A9D5-A579-35B2-F806-15510AC3D50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9D64B35-EF0D-8F92-359D-4BDAB93F7291}"/>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Tabla de direcciones</a:t>
            </a:r>
          </a:p>
        </p:txBody>
      </p:sp>
      <p:sp>
        <p:nvSpPr>
          <p:cNvPr id="4" name="CuadroTexto 3">
            <a:extLst>
              <a:ext uri="{FF2B5EF4-FFF2-40B4-BE49-F238E27FC236}">
                <a16:creationId xmlns:a16="http://schemas.microsoft.com/office/drawing/2014/main" id="{20D5F59B-BED3-5D34-4242-3105D887ED46}"/>
              </a:ext>
            </a:extLst>
          </p:cNvPr>
          <p:cNvSpPr txBox="1"/>
          <p:nvPr/>
        </p:nvSpPr>
        <p:spPr>
          <a:xfrm>
            <a:off x="838200" y="4745866"/>
            <a:ext cx="10123879" cy="1532727"/>
          </a:xfrm>
          <a:prstGeom prst="rect">
            <a:avLst/>
          </a:prstGeom>
          <a:noFill/>
        </p:spPr>
        <p:txBody>
          <a:bodyPr vert="horz" wrap="square" lIns="91440" tIns="45720" rIns="91440" bIns="45720" rtlCol="0">
            <a:spAutoFit/>
          </a:bodyPr>
          <a:lstStyle>
            <a:defPPr>
              <a:defRPr lang="es-MX"/>
            </a:defPPr>
            <a:lvl1pPr indent="0" algn="just">
              <a:lnSpc>
                <a:spcPct val="90000"/>
              </a:lnSpc>
              <a:spcBef>
                <a:spcPts val="1000"/>
              </a:spcBef>
              <a:buFont typeface="Arial" panose="020B0604020202020204" pitchFamily="34" charset="0"/>
              <a:buNone/>
              <a:defRPr sz="26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MX" dirty="0"/>
              <a:t>Desarrollo de la clase TablaDirecciones.java para relacionar cada identificador con una posición de memoria. Durante su ejecución, el programa permite registrar variables y visualizar la dirección asignada a cada una.</a:t>
            </a:r>
          </a:p>
        </p:txBody>
      </p:sp>
      <p:pic>
        <p:nvPicPr>
          <p:cNvPr id="5" name="Imagen 4">
            <a:extLst>
              <a:ext uri="{FF2B5EF4-FFF2-40B4-BE49-F238E27FC236}">
                <a16:creationId xmlns:a16="http://schemas.microsoft.com/office/drawing/2014/main" id="{F35E3B0D-C185-8051-67F7-BC7EC14AC5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2080" y="1785203"/>
            <a:ext cx="4480000" cy="2520000"/>
          </a:xfrm>
          <a:prstGeom prst="rect">
            <a:avLst/>
          </a:prstGeom>
        </p:spPr>
      </p:pic>
      <p:pic>
        <p:nvPicPr>
          <p:cNvPr id="6" name="Imagen 5">
            <a:extLst>
              <a:ext uri="{FF2B5EF4-FFF2-40B4-BE49-F238E27FC236}">
                <a16:creationId xmlns:a16="http://schemas.microsoft.com/office/drawing/2014/main" id="{D4E580A0-4C99-D655-EC9B-3CBFFD3EDB7D}"/>
              </a:ext>
            </a:extLst>
          </p:cNvPr>
          <p:cNvPicPr>
            <a:picLocks noChangeAspect="1"/>
          </p:cNvPicPr>
          <p:nvPr/>
        </p:nvPicPr>
        <p:blipFill>
          <a:blip r:embed="rId3"/>
          <a:stretch>
            <a:fillRect/>
          </a:stretch>
        </p:blipFill>
        <p:spPr>
          <a:xfrm>
            <a:off x="838200" y="1785203"/>
            <a:ext cx="4480000" cy="2520000"/>
          </a:xfrm>
          <a:prstGeom prst="rect">
            <a:avLst/>
          </a:prstGeom>
        </p:spPr>
      </p:pic>
    </p:spTree>
    <p:extLst>
      <p:ext uri="{BB962C8B-B14F-4D97-AF65-F5344CB8AC3E}">
        <p14:creationId xmlns:p14="http://schemas.microsoft.com/office/powerpoint/2010/main" val="40449225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90D26-F439-00A4-A065-9E16A86787C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1F11A5-58F1-AEB7-C6CA-A95C05B9C41C}"/>
              </a:ext>
            </a:extLst>
          </p:cNvPr>
          <p:cNvSpPr>
            <a:spLocks noGrp="1"/>
          </p:cNvSpPr>
          <p:nvPr>
            <p:ph type="title"/>
          </p:nvPr>
        </p:nvSpPr>
        <p:spPr/>
        <p:txBody>
          <a:bodyPr vert="horz" lIns="91440" tIns="45720" rIns="91440" bIns="45720" rtlCol="0" anchor="ctr">
            <a:normAutofit/>
          </a:bodyPr>
          <a:lstStyle/>
          <a:p>
            <a:pPr>
              <a:spcBef>
                <a:spcPts val="1000"/>
              </a:spcBef>
            </a:pPr>
            <a:r>
              <a:rPr lang="es-MX" sz="4800" b="1" dirty="0">
                <a:solidFill>
                  <a:schemeClr val="accent1"/>
                </a:solidFill>
                <a:ea typeface="+mn-ea"/>
                <a:cs typeface="+mn-cs"/>
              </a:rPr>
              <a:t>Manejo de errores semánticos</a:t>
            </a:r>
          </a:p>
        </p:txBody>
      </p:sp>
      <p:sp>
        <p:nvSpPr>
          <p:cNvPr id="4" name="CuadroTexto 3">
            <a:extLst>
              <a:ext uri="{FF2B5EF4-FFF2-40B4-BE49-F238E27FC236}">
                <a16:creationId xmlns:a16="http://schemas.microsoft.com/office/drawing/2014/main" id="{28E61F75-2844-54A9-299E-E5F136B42936}"/>
              </a:ext>
            </a:extLst>
          </p:cNvPr>
          <p:cNvSpPr txBox="1"/>
          <p:nvPr/>
        </p:nvSpPr>
        <p:spPr>
          <a:xfrm>
            <a:off x="838200" y="4780332"/>
            <a:ext cx="10420918" cy="1532727"/>
          </a:xfrm>
          <a:prstGeom prst="rect">
            <a:avLst/>
          </a:prstGeom>
          <a:noFill/>
        </p:spPr>
        <p:txBody>
          <a:bodyPr vert="horz" wrap="square" lIns="91440" tIns="45720" rIns="91440" bIns="45720" rtlCol="0">
            <a:spAutoFit/>
          </a:bodyPr>
          <a:lstStyle>
            <a:defPPr>
              <a:defRPr lang="es-MX"/>
            </a:defPPr>
            <a:lvl1pPr indent="0" algn="just">
              <a:lnSpc>
                <a:spcPct val="90000"/>
              </a:lnSpc>
              <a:spcBef>
                <a:spcPts val="1000"/>
              </a:spcBef>
              <a:buFont typeface="Arial" panose="020B0604020202020204" pitchFamily="34" charset="0"/>
              <a:buNone/>
              <a:defRPr sz="26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MX" dirty="0"/>
              <a:t>Desarrollo dela clase ErroresSemanticos.java para detectar errores como variables no declaradas, tipos incompatibles y asignaciones incorrectas. Durante su ejecución, el programa muestra ejemplos de estos errores y explica la causa de cada uno.</a:t>
            </a:r>
          </a:p>
        </p:txBody>
      </p:sp>
      <p:pic>
        <p:nvPicPr>
          <p:cNvPr id="7" name="Imagen 6">
            <a:extLst>
              <a:ext uri="{FF2B5EF4-FFF2-40B4-BE49-F238E27FC236}">
                <a16:creationId xmlns:a16="http://schemas.microsoft.com/office/drawing/2014/main" id="{CF1DAADC-07F9-9CD8-5168-DD826C077707}"/>
              </a:ext>
            </a:extLst>
          </p:cNvPr>
          <p:cNvPicPr>
            <a:picLocks noChangeAspect="1"/>
          </p:cNvPicPr>
          <p:nvPr/>
        </p:nvPicPr>
        <p:blipFill>
          <a:blip r:embed="rId2"/>
          <a:stretch>
            <a:fillRect/>
          </a:stretch>
        </p:blipFill>
        <p:spPr>
          <a:xfrm>
            <a:off x="6636317" y="1600198"/>
            <a:ext cx="4622801" cy="2600325"/>
          </a:xfrm>
          <a:prstGeom prst="rect">
            <a:avLst/>
          </a:prstGeom>
        </p:spPr>
      </p:pic>
      <p:pic>
        <p:nvPicPr>
          <p:cNvPr id="9" name="Imagen 8">
            <a:extLst>
              <a:ext uri="{FF2B5EF4-FFF2-40B4-BE49-F238E27FC236}">
                <a16:creationId xmlns:a16="http://schemas.microsoft.com/office/drawing/2014/main" id="{6E2B6CA3-8D5B-7474-96A5-E403AEE80A3C}"/>
              </a:ext>
            </a:extLst>
          </p:cNvPr>
          <p:cNvPicPr>
            <a:picLocks noChangeAspect="1"/>
          </p:cNvPicPr>
          <p:nvPr/>
        </p:nvPicPr>
        <p:blipFill>
          <a:blip r:embed="rId3"/>
          <a:stretch>
            <a:fillRect/>
          </a:stretch>
        </p:blipFill>
        <p:spPr>
          <a:xfrm>
            <a:off x="1038225" y="1600199"/>
            <a:ext cx="4622800" cy="2600325"/>
          </a:xfrm>
          <a:prstGeom prst="rect">
            <a:avLst/>
          </a:prstGeom>
        </p:spPr>
      </p:pic>
    </p:spTree>
    <p:extLst>
      <p:ext uri="{BB962C8B-B14F-4D97-AF65-F5344CB8AC3E}">
        <p14:creationId xmlns:p14="http://schemas.microsoft.com/office/powerpoint/2010/main" val="31977116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9BD58-882E-0A2F-21C7-CCA6EA4E2C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BF2C7FE-CA91-5A65-A5BE-96C5A8A57FCE}"/>
              </a:ext>
            </a:extLst>
          </p:cNvPr>
          <p:cNvSpPr>
            <a:spLocks noGrp="1"/>
          </p:cNvSpPr>
          <p:nvPr>
            <p:ph type="title"/>
          </p:nvPr>
        </p:nvSpPr>
        <p:spPr/>
        <p:txBody>
          <a:bodyPr>
            <a:normAutofit/>
          </a:bodyPr>
          <a:lstStyle/>
          <a:p>
            <a:pPr>
              <a:spcBef>
                <a:spcPts val="1000"/>
              </a:spcBef>
            </a:pPr>
            <a:r>
              <a:rPr lang="es-MX" sz="4800" b="1" dirty="0">
                <a:solidFill>
                  <a:schemeClr val="accent1"/>
                </a:solidFill>
                <a:ea typeface="+mn-ea"/>
                <a:cs typeface="+mn-cs"/>
              </a:rPr>
              <a:t>Resultado</a:t>
            </a:r>
          </a:p>
        </p:txBody>
      </p:sp>
      <p:sp>
        <p:nvSpPr>
          <p:cNvPr id="6" name="CuadroTexto 5">
            <a:extLst>
              <a:ext uri="{FF2B5EF4-FFF2-40B4-BE49-F238E27FC236}">
                <a16:creationId xmlns:a16="http://schemas.microsoft.com/office/drawing/2014/main" id="{3E444012-BBF2-3FF2-7676-1642078E3C82}"/>
              </a:ext>
            </a:extLst>
          </p:cNvPr>
          <p:cNvSpPr txBox="1"/>
          <p:nvPr/>
        </p:nvSpPr>
        <p:spPr>
          <a:xfrm>
            <a:off x="838199" y="1690688"/>
            <a:ext cx="11128513" cy="5286575"/>
          </a:xfrm>
          <a:prstGeom prst="rect">
            <a:avLst/>
          </a:prstGeom>
          <a:noFill/>
        </p:spPr>
        <p:txBody>
          <a:bodyPr vert="horz" wrap="square" lIns="91440" tIns="45720" rIns="91440" bIns="45720" rtlCol="0">
            <a:spAutoFit/>
          </a:bodyPr>
          <a:lstStyle>
            <a:defPPr>
              <a:defRPr lang="es-MX"/>
            </a:defPPr>
            <a:lvl1pPr indent="0" algn="just">
              <a:lnSpc>
                <a:spcPct val="90000"/>
              </a:lnSpc>
              <a:spcBef>
                <a:spcPts val="1000"/>
              </a:spcBef>
              <a:buFont typeface="Arial" panose="020B0604020202020204" pitchFamily="34" charset="0"/>
              <a:buNone/>
              <a:defRPr sz="26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MX" dirty="0"/>
              <a:t>Como resultado se obtuvo una aplicación funcional desarrollada mediante Java y </a:t>
            </a:r>
            <a:r>
              <a:rPr lang="es-MX" dirty="0" err="1"/>
              <a:t>JavaFX</a:t>
            </a:r>
            <a:r>
              <a:rPr lang="es-MX" dirty="0"/>
              <a:t> que permite representar los principales conceptos relacionados con el análisis semántico.</a:t>
            </a:r>
          </a:p>
          <a:p>
            <a:r>
              <a:rPr lang="es-MX" dirty="0"/>
              <a:t>El sistema cuenta con una interfaz gráfica que organiza los contenidos de la asignatura y permite acceder directamente a cada uno de los apartados correspondientes al Tema 1.</a:t>
            </a:r>
          </a:p>
          <a:p>
            <a:r>
              <a:rPr lang="es-MX" dirty="0"/>
              <a:t>La aplicación permite relacionar los conocimientos teóricos del proceso de compilación con una implementación práctica mediante programación. Se verificó la navegación entre el menú principal y el Tema 1, así como la ejecución de las diferentes opciones disponibles.</a:t>
            </a:r>
          </a:p>
          <a:p>
            <a:r>
              <a:rPr lang="es-MX" dirty="0"/>
              <a:t>También se realizaron pruebas con expresiones y datos válidos e inválidos con el objetivo de comprobar la respuesta del sistema ante diferentes situaciones.</a:t>
            </a:r>
          </a:p>
          <a:p>
            <a:endParaRPr lang="es-MX" dirty="0"/>
          </a:p>
        </p:txBody>
      </p:sp>
    </p:spTree>
    <p:extLst>
      <p:ext uri="{BB962C8B-B14F-4D97-AF65-F5344CB8AC3E}">
        <p14:creationId xmlns:p14="http://schemas.microsoft.com/office/powerpoint/2010/main" val="15424603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838200" y="596348"/>
            <a:ext cx="10515600" cy="5221356"/>
          </a:xfrm>
        </p:spPr>
        <p:txBody>
          <a:bodyPr>
            <a:normAutofit fontScale="77500" lnSpcReduction="20000"/>
          </a:bodyPr>
          <a:lstStyle/>
          <a:p>
            <a:pPr marL="0" indent="0">
              <a:buNone/>
            </a:pPr>
            <a:r>
              <a:rPr lang="es-MX" sz="6200" b="1" dirty="0">
                <a:solidFill>
                  <a:schemeClr val="accent1"/>
                </a:solidFill>
                <a:latin typeface="+mj-lt"/>
              </a:rPr>
              <a:t>Conclusión</a:t>
            </a:r>
          </a:p>
          <a:p>
            <a:pPr marL="0" indent="0" algn="just">
              <a:buNone/>
            </a:pPr>
            <a:r>
              <a:rPr lang="es-MX" sz="3400" dirty="0"/>
              <a:t>El desarrollo de esta práctica permitió comprender de una manera más clara el funcionamiento del análisis semántico como una de las etapas fundamentales de un compilador.</a:t>
            </a:r>
          </a:p>
          <a:p>
            <a:pPr marL="0" indent="0" algn="just">
              <a:buNone/>
            </a:pPr>
            <a:r>
              <a:rPr lang="es-MX" sz="3400" dirty="0"/>
              <a:t>Mediante la implementación del programa fue posible representar conceptos como los árboles de expresiones, las acciones semánticas, la comprobación de tipos, la pila semántica, los esquemas de traducción, las tablas de símbolos y el manejo de errores.</a:t>
            </a:r>
          </a:p>
          <a:p>
            <a:pPr marL="0" indent="0" algn="just">
              <a:buNone/>
            </a:pPr>
            <a:r>
              <a:rPr lang="es-MX" sz="3400" dirty="0"/>
              <a:t>Además, el uso de Java, </a:t>
            </a:r>
            <a:r>
              <a:rPr lang="es-MX" sz="3400" dirty="0" err="1"/>
              <a:t>JavaFX</a:t>
            </a:r>
            <a:r>
              <a:rPr lang="es-MX" sz="3400" dirty="0"/>
              <a:t> e IntelliJ IDEA permitió integrar los conocimientos teóricos con el desarrollo de una aplicación gráfica funcional.</a:t>
            </a:r>
          </a:p>
          <a:p>
            <a:pPr marL="0" indent="0" algn="just">
              <a:buNone/>
            </a:pPr>
            <a:r>
              <a:rPr lang="es-MX" sz="3400" dirty="0"/>
              <a:t>Con esta práctica se fortalecieron los conocimientos relacionados con el funcionamiento interno de los compiladores y se establecieron las bases necesarias para continuar posteriormente con las etapas de generación de código intermedio, optimización y generación de código objeto.</a:t>
            </a:r>
          </a:p>
        </p:txBody>
      </p:sp>
    </p:spTree>
    <p:extLst>
      <p:ext uri="{BB962C8B-B14F-4D97-AF65-F5344CB8AC3E}">
        <p14:creationId xmlns:p14="http://schemas.microsoft.com/office/powerpoint/2010/main" val="4155922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4124EC-CD38-C073-CDBA-5D847311AD5F}"/>
              </a:ext>
            </a:extLst>
          </p:cNvPr>
          <p:cNvSpPr>
            <a:spLocks noGrp="1"/>
          </p:cNvSpPr>
          <p:nvPr>
            <p:ph type="title"/>
          </p:nvPr>
        </p:nvSpPr>
        <p:spPr/>
        <p:txBody>
          <a:bodyPr/>
          <a:lstStyle/>
          <a:p>
            <a:r>
              <a:rPr lang="es-MX" b="1" dirty="0">
                <a:solidFill>
                  <a:schemeClr val="accent1"/>
                </a:solidFill>
              </a:rPr>
              <a:t>FUENTE DE INFORMACION</a:t>
            </a:r>
          </a:p>
        </p:txBody>
      </p:sp>
      <p:sp>
        <p:nvSpPr>
          <p:cNvPr id="3" name="Marcador de contenido 2">
            <a:extLst>
              <a:ext uri="{FF2B5EF4-FFF2-40B4-BE49-F238E27FC236}">
                <a16:creationId xmlns:a16="http://schemas.microsoft.com/office/drawing/2014/main" id="{820F83E8-77E6-BA3C-CE9D-7E292129AB41}"/>
              </a:ext>
            </a:extLst>
          </p:cNvPr>
          <p:cNvSpPr>
            <a:spLocks noGrp="1"/>
          </p:cNvSpPr>
          <p:nvPr>
            <p:ph idx="1"/>
          </p:nvPr>
        </p:nvSpPr>
        <p:spPr/>
        <p:txBody>
          <a:bodyPr>
            <a:normAutofit fontScale="77500" lnSpcReduction="20000"/>
          </a:bodyPr>
          <a:lstStyle/>
          <a:p>
            <a:pPr lvl="0"/>
            <a:r>
              <a:rPr lang="es-MX" dirty="0"/>
              <a:t>Aquino Villanueva, R. (2026). </a:t>
            </a:r>
            <a:r>
              <a:rPr lang="es-MX" i="1" dirty="0"/>
              <a:t>LYAII</a:t>
            </a:r>
            <a:r>
              <a:rPr lang="es-MX" dirty="0"/>
              <a:t> [Código fuente]. GitHub.</a:t>
            </a:r>
            <a:br>
              <a:rPr lang="es-MX" dirty="0"/>
            </a:br>
            <a:r>
              <a:rPr lang="es-MX" dirty="0">
                <a:hlinkClick r:id="rId2"/>
              </a:rPr>
              <a:t>https://github.com/rafaelrav8770/LYAll.git</a:t>
            </a:r>
            <a:br>
              <a:rPr lang="es-MX" dirty="0"/>
            </a:br>
            <a:r>
              <a:rPr lang="es-MX" dirty="0"/>
              <a:t>Mingo Velázquez, F. J. (2026). </a:t>
            </a:r>
            <a:r>
              <a:rPr lang="es-MX" i="1" dirty="0"/>
              <a:t>Análisis semántico en Lenguajes y Autómatas II</a:t>
            </a:r>
            <a:r>
              <a:rPr lang="es-MX" dirty="0"/>
              <a:t> [Material de clase no publicado]. Tecnológico Nacional de México, Unidad Académica Venustiano Carranza. </a:t>
            </a:r>
          </a:p>
          <a:p>
            <a:pPr lvl="0"/>
            <a:r>
              <a:rPr lang="es-MX" dirty="0"/>
              <a:t>Benítez Quecha, C. (2023). </a:t>
            </a:r>
            <a:r>
              <a:rPr lang="es-MX" i="1" dirty="0"/>
              <a:t>Apuntes para la materia de Lenguajes y Autómatas II</a:t>
            </a:r>
            <a:r>
              <a:rPr lang="es-MX" dirty="0"/>
              <a:t>. Tecnológico Nacional de México, Campus Oaxaca.</a:t>
            </a:r>
          </a:p>
          <a:p>
            <a:pPr lvl="0"/>
            <a:r>
              <a:rPr lang="es-MX" dirty="0"/>
              <a:t>Orozco, V. (2022, 13 de junio). </a:t>
            </a:r>
            <a:r>
              <a:rPr lang="es-MX" i="1" dirty="0"/>
              <a:t>Creando un analizador léxico con </a:t>
            </a:r>
            <a:r>
              <a:rPr lang="es-MX" i="1" dirty="0" err="1"/>
              <a:t>JFlex</a:t>
            </a:r>
            <a:r>
              <a:rPr lang="es-MX" i="1" dirty="0"/>
              <a:t>, Maven y Java 17</a:t>
            </a:r>
            <a:r>
              <a:rPr lang="es-MX" dirty="0"/>
              <a:t> [Video]. YouTube.</a:t>
            </a:r>
            <a:br>
              <a:rPr lang="es-MX" dirty="0"/>
            </a:br>
            <a:r>
              <a:rPr lang="es-MX" dirty="0">
                <a:hlinkClick r:id="rId3"/>
              </a:rPr>
              <a:t>https://www.youtube.com/watch?v=R6znBEekUVA</a:t>
            </a:r>
            <a:endParaRPr lang="es-MX" dirty="0"/>
          </a:p>
          <a:p>
            <a:pPr lvl="0"/>
            <a:r>
              <a:rPr lang="es-MX" dirty="0"/>
              <a:t>Charlead. (2019, 17 de febrero). </a:t>
            </a:r>
            <a:r>
              <a:rPr lang="es-MX" i="1" dirty="0" err="1"/>
              <a:t>JFlex</a:t>
            </a:r>
            <a:r>
              <a:rPr lang="es-MX" i="1" dirty="0"/>
              <a:t>: Analizador léxico con Java (explicación paso a paso)</a:t>
            </a:r>
            <a:r>
              <a:rPr lang="es-MX" dirty="0"/>
              <a:t> [Video]. YouTube.</a:t>
            </a:r>
            <a:br>
              <a:rPr lang="es-MX" dirty="0"/>
            </a:br>
            <a:r>
              <a:rPr lang="es-MX" dirty="0">
                <a:hlinkClick r:id="rId4"/>
              </a:rPr>
              <a:t>https://www.youtube.com/watch?v=5mIRrn2yEe8</a:t>
            </a:r>
            <a:endParaRPr lang="es-MX" dirty="0"/>
          </a:p>
          <a:p>
            <a:pPr lvl="0"/>
            <a:r>
              <a:rPr lang="es-MX" dirty="0" err="1"/>
              <a:t>JFlex</a:t>
            </a:r>
            <a:r>
              <a:rPr lang="es-MX" dirty="0"/>
              <a:t> Team. (s. f.). </a:t>
            </a:r>
            <a:r>
              <a:rPr lang="es-MX" i="1" dirty="0" err="1"/>
              <a:t>JFlex</a:t>
            </a:r>
            <a:r>
              <a:rPr lang="es-MX" i="1" dirty="0"/>
              <a:t> </a:t>
            </a:r>
            <a:r>
              <a:rPr lang="es-MX" i="1" dirty="0" err="1"/>
              <a:t>user’s</a:t>
            </a:r>
            <a:r>
              <a:rPr lang="es-MX" i="1" dirty="0"/>
              <a:t> manual</a:t>
            </a:r>
            <a:r>
              <a:rPr lang="es-MX" dirty="0"/>
              <a:t>.</a:t>
            </a:r>
            <a:br>
              <a:rPr lang="es-MX" dirty="0"/>
            </a:br>
            <a:r>
              <a:rPr lang="es-MX" dirty="0">
                <a:hlinkClick r:id="rId5"/>
              </a:rPr>
              <a:t>https://jflex.de/manual.html</a:t>
            </a:r>
            <a:endParaRPr lang="es-MX" dirty="0"/>
          </a:p>
          <a:p>
            <a:endParaRPr lang="es-MX" dirty="0"/>
          </a:p>
        </p:txBody>
      </p:sp>
    </p:spTree>
    <p:extLst>
      <p:ext uri="{BB962C8B-B14F-4D97-AF65-F5344CB8AC3E}">
        <p14:creationId xmlns:p14="http://schemas.microsoft.com/office/powerpoint/2010/main" val="143633541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2975</TotalTime>
  <Words>2065</Words>
  <Application>Microsoft Office PowerPoint</Application>
  <PresentationFormat>Panorámica</PresentationFormat>
  <Paragraphs>152</Paragraphs>
  <Slides>30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30</vt:i4>
      </vt:variant>
    </vt:vector>
  </HeadingPairs>
  <TitlesOfParts>
    <vt:vector size="34" baseType="lpstr">
      <vt:lpstr>Arial</vt:lpstr>
      <vt:lpstr>Calibri</vt:lpstr>
      <vt:lpstr>Calibri Light</vt:lpstr>
      <vt:lpstr>Tema de Office</vt:lpstr>
      <vt:lpstr>Presentación de PowerPoint</vt:lpstr>
      <vt:lpstr>Presentación de PowerPoint</vt:lpstr>
      <vt:lpstr>Presentación de PowerPoint</vt:lpstr>
      <vt:lpstr>justificación</vt:lpstr>
      <vt:lpstr>Creación del proyecto en IntelliJ IDEA</vt:lpstr>
      <vt:lpstr>Estructura inicial del proyecto</vt:lpstr>
      <vt:lpstr>Prueba inicial</vt:lpstr>
      <vt:lpstr>Creación del paquete principal </vt:lpstr>
      <vt:lpstr>Creación de la clase Main en java</vt:lpstr>
      <vt:lpstr>Eliminación del paquete predeterminado</vt:lpstr>
      <vt:lpstr>Configuración de JavaFX</vt:lpstr>
      <vt:lpstr>Creación de AplicacionFX.java</vt:lpstr>
      <vt:lpstr>Configuración de la clase principal</vt:lpstr>
      <vt:lpstr>Creación del menú del menú principal</vt:lpstr>
      <vt:lpstr>Creación del menú del Tema 1</vt:lpstr>
      <vt:lpstr>Creación de los módulos del Tema 1 </vt:lpstr>
      <vt:lpstr>Desarrollo del compilador</vt:lpstr>
      <vt:lpstr>Estructura del proyecto</vt:lpstr>
      <vt:lpstr>Tema 1 – Análisis semántico</vt:lpstr>
      <vt:lpstr>Árboles de expresiones</vt:lpstr>
      <vt:lpstr>Acciones semánticas de un analizador sintáctico</vt:lpstr>
      <vt:lpstr>Comprobaciones de tipos en expresiones</vt:lpstr>
      <vt:lpstr>Pila semántica</vt:lpstr>
      <vt:lpstr>Esquema de traducción</vt:lpstr>
      <vt:lpstr>Tabla de símbolos</vt:lpstr>
      <vt:lpstr>Tabla de direcciones</vt:lpstr>
      <vt:lpstr>Manejo de errores semánticos</vt:lpstr>
      <vt:lpstr>Resultado</vt:lpstr>
      <vt:lpstr>Presentación de PowerPoint</vt:lpstr>
      <vt:lpstr>FUENTE DE INFORMACION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55</cp:revision>
  <dcterms:created xsi:type="dcterms:W3CDTF">2026-02-14T13:39:49Z</dcterms:created>
  <dcterms:modified xsi:type="dcterms:W3CDTF">2026-08-31T03:31:58Z</dcterms:modified>
</cp:coreProperties>
</file>