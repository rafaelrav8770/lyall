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77" r:id="rId14"/>
    <p:sldId id="278" r:id="rId15"/>
    <p:sldId id="279" r:id="rId16"/>
    <p:sldId id="280" r:id="rId17"/>
    <p:sldId id="281" r:id="rId18"/>
    <p:sldId id="282" r:id="rId19"/>
    <p:sldId id="283" r:id="rId20"/>
    <p:sldId id="268" r:id="rId21"/>
    <p:sldId id="269" r:id="rId22"/>
    <p:sldId id="270" r:id="rId23"/>
    <p:sldId id="271" r:id="rId24"/>
    <p:sldId id="272" r:id="rId25"/>
    <p:sldId id="273" r:id="rId26"/>
    <p:sldId id="274" r:id="rId27"/>
    <p:sldId id="275" r:id="rId28"/>
    <p:sldId id="276" r:id="rId29"/>
  </p:sldIdLst>
  <p:sldSz cx="12192000" cy="6858000"/>
  <p:notesSz cx="6858000" cy="9144000"/>
  <p:defaultTex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Estilo medio 2 - Énfasis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B301B821-A1FF-4177-AEE7-76D212191A09}" styleName="Estilo medio 1 - Énfasis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BC89EF96-8CEA-46FF-86C4-4CE0E7609802}" styleName="Estilo claro 3 - Acento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80" d="100"/>
          <a:sy n="80" d="100"/>
        </p:scale>
        <p:origin x="782"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MX"/>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E8B5F02-D1F5-4A8C-9E16-879D2FAAE6D2}" type="datetimeFigureOut">
              <a:rPr lang="es-MX" smtClean="0"/>
              <a:t>04/10/2026</a:t>
            </a:fld>
            <a:endParaRPr lang="es-MX"/>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MX"/>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MX"/>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D08E338-237A-4FD6-91E8-AE3330CCA9C3}" type="slidenum">
              <a:rPr lang="es-MX" smtClean="0"/>
              <a:t>‹Nº›</a:t>
            </a:fld>
            <a:endParaRPr lang="es-MX"/>
          </a:p>
        </p:txBody>
      </p:sp>
    </p:spTree>
    <p:extLst>
      <p:ext uri="{BB962C8B-B14F-4D97-AF65-F5344CB8AC3E}">
        <p14:creationId xmlns:p14="http://schemas.microsoft.com/office/powerpoint/2010/main" val="6514339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2797A6B-C8A5-A893-2EB4-EAD802D176BF}"/>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MX"/>
          </a:p>
        </p:txBody>
      </p:sp>
      <p:sp>
        <p:nvSpPr>
          <p:cNvPr id="3" name="Subtítulo 2">
            <a:extLst>
              <a:ext uri="{FF2B5EF4-FFF2-40B4-BE49-F238E27FC236}">
                <a16:creationId xmlns:a16="http://schemas.microsoft.com/office/drawing/2014/main" id="{12E9E8D3-983C-1FBA-F097-D58F78BA921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MX"/>
          </a:p>
        </p:txBody>
      </p:sp>
      <p:sp>
        <p:nvSpPr>
          <p:cNvPr id="4" name="Marcador de fecha 3">
            <a:extLst>
              <a:ext uri="{FF2B5EF4-FFF2-40B4-BE49-F238E27FC236}">
                <a16:creationId xmlns:a16="http://schemas.microsoft.com/office/drawing/2014/main" id="{20900B84-F10B-751B-5908-FC18C6422C01}"/>
              </a:ext>
            </a:extLst>
          </p:cNvPr>
          <p:cNvSpPr>
            <a:spLocks noGrp="1"/>
          </p:cNvSpPr>
          <p:nvPr>
            <p:ph type="dt" sz="half" idx="10"/>
          </p:nvPr>
        </p:nvSpPr>
        <p:spPr/>
        <p:txBody>
          <a:bodyPr/>
          <a:lstStyle/>
          <a:p>
            <a:fld id="{B744A13C-A177-47DD-903A-D74B08377F6A}" type="datetimeFigureOut">
              <a:rPr lang="es-MX" smtClean="0"/>
              <a:t>04/10/2026</a:t>
            </a:fld>
            <a:endParaRPr lang="es-MX"/>
          </a:p>
        </p:txBody>
      </p:sp>
      <p:sp>
        <p:nvSpPr>
          <p:cNvPr id="5" name="Marcador de pie de página 4">
            <a:extLst>
              <a:ext uri="{FF2B5EF4-FFF2-40B4-BE49-F238E27FC236}">
                <a16:creationId xmlns:a16="http://schemas.microsoft.com/office/drawing/2014/main" id="{89A144F6-9197-16C1-A989-50C7A0E4960F}"/>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86DBAAEB-1ABF-E979-BAC2-66927C69E877}"/>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18272842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C953055-0E2B-CB93-6D72-F6BFE456BAAF}"/>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BC4E3AF4-F79F-763A-9DAF-C6C175A55FA4}"/>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A8555DC5-3E01-56E7-631E-04D4A904C314}"/>
              </a:ext>
            </a:extLst>
          </p:cNvPr>
          <p:cNvSpPr>
            <a:spLocks noGrp="1"/>
          </p:cNvSpPr>
          <p:nvPr>
            <p:ph type="dt" sz="half" idx="10"/>
          </p:nvPr>
        </p:nvSpPr>
        <p:spPr/>
        <p:txBody>
          <a:bodyPr/>
          <a:lstStyle/>
          <a:p>
            <a:fld id="{B744A13C-A177-47DD-903A-D74B08377F6A}" type="datetimeFigureOut">
              <a:rPr lang="es-MX" smtClean="0"/>
              <a:t>04/10/2026</a:t>
            </a:fld>
            <a:endParaRPr lang="es-MX"/>
          </a:p>
        </p:txBody>
      </p:sp>
      <p:sp>
        <p:nvSpPr>
          <p:cNvPr id="5" name="Marcador de pie de página 4">
            <a:extLst>
              <a:ext uri="{FF2B5EF4-FFF2-40B4-BE49-F238E27FC236}">
                <a16:creationId xmlns:a16="http://schemas.microsoft.com/office/drawing/2014/main" id="{55B53975-0403-0D44-401F-71EA01B2175C}"/>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763A586F-F27C-248A-D498-ADFFEFE93691}"/>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30642903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8E57E10-4726-7D0A-E1F8-93439BFF20A4}"/>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A7C9CE40-9232-9AC4-A9C6-59A9B847313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D81E2653-A3E2-493F-59D0-04D925E18921}"/>
              </a:ext>
            </a:extLst>
          </p:cNvPr>
          <p:cNvSpPr>
            <a:spLocks noGrp="1"/>
          </p:cNvSpPr>
          <p:nvPr>
            <p:ph type="dt" sz="half" idx="10"/>
          </p:nvPr>
        </p:nvSpPr>
        <p:spPr/>
        <p:txBody>
          <a:bodyPr/>
          <a:lstStyle/>
          <a:p>
            <a:fld id="{B744A13C-A177-47DD-903A-D74B08377F6A}" type="datetimeFigureOut">
              <a:rPr lang="es-MX" smtClean="0"/>
              <a:t>04/10/2026</a:t>
            </a:fld>
            <a:endParaRPr lang="es-MX"/>
          </a:p>
        </p:txBody>
      </p:sp>
      <p:sp>
        <p:nvSpPr>
          <p:cNvPr id="5" name="Marcador de pie de página 4">
            <a:extLst>
              <a:ext uri="{FF2B5EF4-FFF2-40B4-BE49-F238E27FC236}">
                <a16:creationId xmlns:a16="http://schemas.microsoft.com/office/drawing/2014/main" id="{1ADFD983-ED4E-38A6-DCD5-DB9EF6346AC5}"/>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BD502D16-37E0-4D0D-5BB7-68A3BDB4C672}"/>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30220891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C60EA5F-E2E9-67F7-E292-C84FCB6FE5E8}"/>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7F13239D-44F0-8AD1-FF8A-D79A0CA81779}"/>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contenido 3">
            <a:extLst>
              <a:ext uri="{FF2B5EF4-FFF2-40B4-BE49-F238E27FC236}">
                <a16:creationId xmlns:a16="http://schemas.microsoft.com/office/drawing/2014/main" id="{3769FD3F-356E-6F60-6A25-56717337FB98}"/>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fecha 4">
            <a:extLst>
              <a:ext uri="{FF2B5EF4-FFF2-40B4-BE49-F238E27FC236}">
                <a16:creationId xmlns:a16="http://schemas.microsoft.com/office/drawing/2014/main" id="{917C736D-F3D7-D82B-BB73-E65F46C18CBA}"/>
              </a:ext>
            </a:extLst>
          </p:cNvPr>
          <p:cNvSpPr>
            <a:spLocks noGrp="1"/>
          </p:cNvSpPr>
          <p:nvPr>
            <p:ph type="dt" sz="half" idx="10"/>
          </p:nvPr>
        </p:nvSpPr>
        <p:spPr/>
        <p:txBody>
          <a:bodyPr/>
          <a:lstStyle/>
          <a:p>
            <a:fld id="{B744A13C-A177-47DD-903A-D74B08377F6A}" type="datetimeFigureOut">
              <a:rPr lang="es-MX" smtClean="0"/>
              <a:t>04/10/2026</a:t>
            </a:fld>
            <a:endParaRPr lang="es-MX"/>
          </a:p>
        </p:txBody>
      </p:sp>
      <p:sp>
        <p:nvSpPr>
          <p:cNvPr id="6" name="Marcador de pie de página 5">
            <a:extLst>
              <a:ext uri="{FF2B5EF4-FFF2-40B4-BE49-F238E27FC236}">
                <a16:creationId xmlns:a16="http://schemas.microsoft.com/office/drawing/2014/main" id="{C692062B-BCCF-C2B2-D017-588DE122978E}"/>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D0151BE1-2995-E957-66B3-46B9B16082AB}"/>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23249257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81DADCE-63AC-54B1-31D4-48CC1F8280F6}"/>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7BE131CC-B953-9DA0-84D7-342F7661F72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D1ADC272-3617-466E-F6F0-16A81075165E}"/>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texto 4">
            <a:extLst>
              <a:ext uri="{FF2B5EF4-FFF2-40B4-BE49-F238E27FC236}">
                <a16:creationId xmlns:a16="http://schemas.microsoft.com/office/drawing/2014/main" id="{6FDDCA87-61A0-8976-E9D1-03EDE6E1143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350B0352-2822-B688-0216-B6F8FB988F72}"/>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7" name="Marcador de fecha 6">
            <a:extLst>
              <a:ext uri="{FF2B5EF4-FFF2-40B4-BE49-F238E27FC236}">
                <a16:creationId xmlns:a16="http://schemas.microsoft.com/office/drawing/2014/main" id="{DA0D192A-B4AB-FABE-D934-62F9F766DA0D}"/>
              </a:ext>
            </a:extLst>
          </p:cNvPr>
          <p:cNvSpPr>
            <a:spLocks noGrp="1"/>
          </p:cNvSpPr>
          <p:nvPr>
            <p:ph type="dt" sz="half" idx="10"/>
          </p:nvPr>
        </p:nvSpPr>
        <p:spPr/>
        <p:txBody>
          <a:bodyPr/>
          <a:lstStyle/>
          <a:p>
            <a:fld id="{B744A13C-A177-47DD-903A-D74B08377F6A}" type="datetimeFigureOut">
              <a:rPr lang="es-MX" smtClean="0"/>
              <a:t>04/10/2026</a:t>
            </a:fld>
            <a:endParaRPr lang="es-MX"/>
          </a:p>
        </p:txBody>
      </p:sp>
      <p:sp>
        <p:nvSpPr>
          <p:cNvPr id="8" name="Marcador de pie de página 7">
            <a:extLst>
              <a:ext uri="{FF2B5EF4-FFF2-40B4-BE49-F238E27FC236}">
                <a16:creationId xmlns:a16="http://schemas.microsoft.com/office/drawing/2014/main" id="{144D7369-D1D8-1689-1054-CDA289864608}"/>
              </a:ext>
            </a:extLst>
          </p:cNvPr>
          <p:cNvSpPr>
            <a:spLocks noGrp="1"/>
          </p:cNvSpPr>
          <p:nvPr>
            <p:ph type="ftr" sz="quarter" idx="11"/>
          </p:nvPr>
        </p:nvSpPr>
        <p:spPr/>
        <p:txBody>
          <a:bodyPr/>
          <a:lstStyle/>
          <a:p>
            <a:endParaRPr lang="es-MX"/>
          </a:p>
        </p:txBody>
      </p:sp>
      <p:sp>
        <p:nvSpPr>
          <p:cNvPr id="9" name="Marcador de número de diapositiva 8">
            <a:extLst>
              <a:ext uri="{FF2B5EF4-FFF2-40B4-BE49-F238E27FC236}">
                <a16:creationId xmlns:a16="http://schemas.microsoft.com/office/drawing/2014/main" id="{538CB792-19CD-5761-B36C-DC7CC94594B6}"/>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38315431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43624A4-077D-5486-B7D9-11FE3E1CD160}"/>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fecha 2">
            <a:extLst>
              <a:ext uri="{FF2B5EF4-FFF2-40B4-BE49-F238E27FC236}">
                <a16:creationId xmlns:a16="http://schemas.microsoft.com/office/drawing/2014/main" id="{8C9D86B5-34D8-63DA-CA5E-EB64FC37BEA0}"/>
              </a:ext>
            </a:extLst>
          </p:cNvPr>
          <p:cNvSpPr>
            <a:spLocks noGrp="1"/>
          </p:cNvSpPr>
          <p:nvPr>
            <p:ph type="dt" sz="half" idx="10"/>
          </p:nvPr>
        </p:nvSpPr>
        <p:spPr/>
        <p:txBody>
          <a:bodyPr/>
          <a:lstStyle/>
          <a:p>
            <a:fld id="{B744A13C-A177-47DD-903A-D74B08377F6A}" type="datetimeFigureOut">
              <a:rPr lang="es-MX" smtClean="0"/>
              <a:t>04/10/2026</a:t>
            </a:fld>
            <a:endParaRPr lang="es-MX"/>
          </a:p>
        </p:txBody>
      </p:sp>
      <p:sp>
        <p:nvSpPr>
          <p:cNvPr id="4" name="Marcador de pie de página 3">
            <a:extLst>
              <a:ext uri="{FF2B5EF4-FFF2-40B4-BE49-F238E27FC236}">
                <a16:creationId xmlns:a16="http://schemas.microsoft.com/office/drawing/2014/main" id="{9F1CB502-05EE-237F-2E29-626516E35C13}"/>
              </a:ext>
            </a:extLst>
          </p:cNvPr>
          <p:cNvSpPr>
            <a:spLocks noGrp="1"/>
          </p:cNvSpPr>
          <p:nvPr>
            <p:ph type="ftr" sz="quarter" idx="11"/>
          </p:nvPr>
        </p:nvSpPr>
        <p:spPr/>
        <p:txBody>
          <a:bodyPr/>
          <a:lstStyle/>
          <a:p>
            <a:endParaRPr lang="es-MX"/>
          </a:p>
        </p:txBody>
      </p:sp>
      <p:sp>
        <p:nvSpPr>
          <p:cNvPr id="5" name="Marcador de número de diapositiva 4">
            <a:extLst>
              <a:ext uri="{FF2B5EF4-FFF2-40B4-BE49-F238E27FC236}">
                <a16:creationId xmlns:a16="http://schemas.microsoft.com/office/drawing/2014/main" id="{254E0509-4D7E-FE6F-A441-35102690137D}"/>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19341986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13D2BB40-084A-590A-568A-4FBC55A7A4CC}"/>
              </a:ext>
            </a:extLst>
          </p:cNvPr>
          <p:cNvSpPr>
            <a:spLocks noGrp="1"/>
          </p:cNvSpPr>
          <p:nvPr>
            <p:ph type="dt" sz="half" idx="10"/>
          </p:nvPr>
        </p:nvSpPr>
        <p:spPr/>
        <p:txBody>
          <a:bodyPr/>
          <a:lstStyle/>
          <a:p>
            <a:fld id="{B744A13C-A177-47DD-903A-D74B08377F6A}" type="datetimeFigureOut">
              <a:rPr lang="es-MX" smtClean="0"/>
              <a:t>04/10/2026</a:t>
            </a:fld>
            <a:endParaRPr lang="es-MX"/>
          </a:p>
        </p:txBody>
      </p:sp>
      <p:sp>
        <p:nvSpPr>
          <p:cNvPr id="3" name="Marcador de pie de página 2">
            <a:extLst>
              <a:ext uri="{FF2B5EF4-FFF2-40B4-BE49-F238E27FC236}">
                <a16:creationId xmlns:a16="http://schemas.microsoft.com/office/drawing/2014/main" id="{1031945B-3C8A-CC04-90CF-86A6FB926664}"/>
              </a:ext>
            </a:extLst>
          </p:cNvPr>
          <p:cNvSpPr>
            <a:spLocks noGrp="1"/>
          </p:cNvSpPr>
          <p:nvPr>
            <p:ph type="ftr" sz="quarter" idx="11"/>
          </p:nvPr>
        </p:nvSpPr>
        <p:spPr/>
        <p:txBody>
          <a:bodyPr/>
          <a:lstStyle/>
          <a:p>
            <a:endParaRPr lang="es-MX"/>
          </a:p>
        </p:txBody>
      </p:sp>
      <p:sp>
        <p:nvSpPr>
          <p:cNvPr id="4" name="Marcador de número de diapositiva 3">
            <a:extLst>
              <a:ext uri="{FF2B5EF4-FFF2-40B4-BE49-F238E27FC236}">
                <a16:creationId xmlns:a16="http://schemas.microsoft.com/office/drawing/2014/main" id="{0554383D-C3B6-AF0C-D3F1-2DB73EE04BB0}"/>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13353909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C207E4E-5A62-92CA-7ACA-D3C6DC7B5140}"/>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0843F851-D00D-6093-A986-6C5F35C56C8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texto 3">
            <a:extLst>
              <a:ext uri="{FF2B5EF4-FFF2-40B4-BE49-F238E27FC236}">
                <a16:creationId xmlns:a16="http://schemas.microsoft.com/office/drawing/2014/main" id="{A96ECEE2-9260-2C2E-BC65-C11DE6DFFFA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196AE17B-F1FD-90D4-9A7D-49AAC564DEA5}"/>
              </a:ext>
            </a:extLst>
          </p:cNvPr>
          <p:cNvSpPr>
            <a:spLocks noGrp="1"/>
          </p:cNvSpPr>
          <p:nvPr>
            <p:ph type="dt" sz="half" idx="10"/>
          </p:nvPr>
        </p:nvSpPr>
        <p:spPr/>
        <p:txBody>
          <a:bodyPr/>
          <a:lstStyle/>
          <a:p>
            <a:fld id="{B744A13C-A177-47DD-903A-D74B08377F6A}" type="datetimeFigureOut">
              <a:rPr lang="es-MX" smtClean="0"/>
              <a:t>04/10/2026</a:t>
            </a:fld>
            <a:endParaRPr lang="es-MX"/>
          </a:p>
        </p:txBody>
      </p:sp>
      <p:sp>
        <p:nvSpPr>
          <p:cNvPr id="6" name="Marcador de pie de página 5">
            <a:extLst>
              <a:ext uri="{FF2B5EF4-FFF2-40B4-BE49-F238E27FC236}">
                <a16:creationId xmlns:a16="http://schemas.microsoft.com/office/drawing/2014/main" id="{561728C9-30AA-559A-CB48-C6B866313382}"/>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CCF8E15D-A90F-EA63-7DF9-46C7810DE39B}"/>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36893188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E2DD758-F948-B2A7-DC08-B687F91B8D2C}"/>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posición de imagen 2">
            <a:extLst>
              <a:ext uri="{FF2B5EF4-FFF2-40B4-BE49-F238E27FC236}">
                <a16:creationId xmlns:a16="http://schemas.microsoft.com/office/drawing/2014/main" id="{A1C892A9-AD64-6F7D-FEE0-967756CA2CD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MX"/>
          </a:p>
        </p:txBody>
      </p:sp>
      <p:sp>
        <p:nvSpPr>
          <p:cNvPr id="4" name="Marcador de texto 3">
            <a:extLst>
              <a:ext uri="{FF2B5EF4-FFF2-40B4-BE49-F238E27FC236}">
                <a16:creationId xmlns:a16="http://schemas.microsoft.com/office/drawing/2014/main" id="{1D238B53-DBF4-A3CB-9E1A-386EDC4987F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B7447764-59A7-8823-1D1A-CF02217FD75B}"/>
              </a:ext>
            </a:extLst>
          </p:cNvPr>
          <p:cNvSpPr>
            <a:spLocks noGrp="1"/>
          </p:cNvSpPr>
          <p:nvPr>
            <p:ph type="dt" sz="half" idx="10"/>
          </p:nvPr>
        </p:nvSpPr>
        <p:spPr/>
        <p:txBody>
          <a:bodyPr/>
          <a:lstStyle/>
          <a:p>
            <a:fld id="{B744A13C-A177-47DD-903A-D74B08377F6A}" type="datetimeFigureOut">
              <a:rPr lang="es-MX" smtClean="0"/>
              <a:t>04/10/2026</a:t>
            </a:fld>
            <a:endParaRPr lang="es-MX"/>
          </a:p>
        </p:txBody>
      </p:sp>
      <p:sp>
        <p:nvSpPr>
          <p:cNvPr id="6" name="Marcador de pie de página 5">
            <a:extLst>
              <a:ext uri="{FF2B5EF4-FFF2-40B4-BE49-F238E27FC236}">
                <a16:creationId xmlns:a16="http://schemas.microsoft.com/office/drawing/2014/main" id="{80A3D35F-6746-D59D-FB36-01BA85D38818}"/>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765FE247-F7A5-5BF6-7419-4D0C9940C50B}"/>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3493462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23FDA35-B0B4-E787-3D72-F031788E9A72}"/>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E0F0C38B-FF72-ABBA-A9A3-57F2D48A308F}"/>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721F98C5-01BB-732B-11CB-7FADA28975F8}"/>
              </a:ext>
            </a:extLst>
          </p:cNvPr>
          <p:cNvSpPr>
            <a:spLocks noGrp="1"/>
          </p:cNvSpPr>
          <p:nvPr>
            <p:ph type="dt" sz="half" idx="10"/>
          </p:nvPr>
        </p:nvSpPr>
        <p:spPr/>
        <p:txBody>
          <a:bodyPr/>
          <a:lstStyle/>
          <a:p>
            <a:fld id="{B744A13C-A177-47DD-903A-D74B08377F6A}" type="datetimeFigureOut">
              <a:rPr lang="es-MX" smtClean="0"/>
              <a:t>04/10/2026</a:t>
            </a:fld>
            <a:endParaRPr lang="es-MX"/>
          </a:p>
        </p:txBody>
      </p:sp>
      <p:sp>
        <p:nvSpPr>
          <p:cNvPr id="5" name="Marcador de pie de página 4">
            <a:extLst>
              <a:ext uri="{FF2B5EF4-FFF2-40B4-BE49-F238E27FC236}">
                <a16:creationId xmlns:a16="http://schemas.microsoft.com/office/drawing/2014/main" id="{109513AF-E2D8-C50D-31BA-5F9705122FA3}"/>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826C0206-8F5E-04A4-613D-6EC2B5984FC0}"/>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41663017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5FF840C8-6BFA-8DB5-04D9-2FFF606B96AF}"/>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483C22F2-C176-59C9-19E7-C3A94CBB29FE}"/>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D612D9B4-8F58-BE69-EF19-A521A08A9F5A}"/>
              </a:ext>
            </a:extLst>
          </p:cNvPr>
          <p:cNvSpPr>
            <a:spLocks noGrp="1"/>
          </p:cNvSpPr>
          <p:nvPr>
            <p:ph type="dt" sz="half" idx="10"/>
          </p:nvPr>
        </p:nvSpPr>
        <p:spPr/>
        <p:txBody>
          <a:bodyPr/>
          <a:lstStyle/>
          <a:p>
            <a:fld id="{B744A13C-A177-47DD-903A-D74B08377F6A}" type="datetimeFigureOut">
              <a:rPr lang="es-MX" smtClean="0"/>
              <a:t>04/10/2026</a:t>
            </a:fld>
            <a:endParaRPr lang="es-MX"/>
          </a:p>
        </p:txBody>
      </p:sp>
      <p:sp>
        <p:nvSpPr>
          <p:cNvPr id="5" name="Marcador de pie de página 4">
            <a:extLst>
              <a:ext uri="{FF2B5EF4-FFF2-40B4-BE49-F238E27FC236}">
                <a16:creationId xmlns:a16="http://schemas.microsoft.com/office/drawing/2014/main" id="{3DB5D75A-9186-AC95-3F60-D715E515C19F}"/>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1FF889DC-3AEB-704A-0884-C0B1EAD821F5}"/>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33761727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C9D456B8-F474-DC21-CA32-71136C73E13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5776B21C-E071-F827-CAB6-8D305BED3A0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DCD4E7BC-1E44-2D21-548A-97F953824FB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744A13C-A177-47DD-903A-D74B08377F6A}" type="datetimeFigureOut">
              <a:rPr lang="es-MX" smtClean="0"/>
              <a:t>04/10/2026</a:t>
            </a:fld>
            <a:endParaRPr lang="es-MX"/>
          </a:p>
        </p:txBody>
      </p:sp>
      <p:sp>
        <p:nvSpPr>
          <p:cNvPr id="5" name="Marcador de pie de página 4">
            <a:extLst>
              <a:ext uri="{FF2B5EF4-FFF2-40B4-BE49-F238E27FC236}">
                <a16:creationId xmlns:a16="http://schemas.microsoft.com/office/drawing/2014/main" id="{2D6E618A-2674-067F-A9B5-F000F8046AE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MX"/>
          </a:p>
        </p:txBody>
      </p:sp>
      <p:sp>
        <p:nvSpPr>
          <p:cNvPr id="6" name="Marcador de número de diapositiva 5">
            <a:extLst>
              <a:ext uri="{FF2B5EF4-FFF2-40B4-BE49-F238E27FC236}">
                <a16:creationId xmlns:a16="http://schemas.microsoft.com/office/drawing/2014/main" id="{5F06479D-49A2-2EF0-B936-306AEE0B0EF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BDC0401-0789-4F42-8B4F-18107AD06626}" type="slidenum">
              <a:rPr lang="es-MX" smtClean="0"/>
              <a:t>‹Nº›</a:t>
            </a:fld>
            <a:endParaRPr lang="es-MX"/>
          </a:p>
        </p:txBody>
      </p:sp>
    </p:spTree>
    <p:extLst>
      <p:ext uri="{BB962C8B-B14F-4D97-AF65-F5344CB8AC3E}">
        <p14:creationId xmlns:p14="http://schemas.microsoft.com/office/powerpoint/2010/main" val="283225342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hyperlink" Target="https://openjfx.io/" TargetMode="External"/><Relationship Id="rId2" Type="http://schemas.openxmlformats.org/officeDocument/2006/relationships/hyperlink" Target="https://github.com/rafaelrav8770/LYAll.git" TargetMode="External"/><Relationship Id="rId1" Type="http://schemas.openxmlformats.org/officeDocument/2006/relationships/slideLayout" Target="../slideLayouts/slideLayout2.xml"/><Relationship Id="rId5" Type="http://schemas.openxmlformats.org/officeDocument/2006/relationships/hyperlink" Target="https://github.com/ianmadariaga07/Sistema-Compilador-Multifase-Java" TargetMode="External"/><Relationship Id="rId4" Type="http://schemas.openxmlformats.org/officeDocument/2006/relationships/hyperlink" Target="https://docs.oracle.com/en/java/javase/17/docs/api/"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Imagen 25">
            <a:extLst>
              <a:ext uri="{FF2B5EF4-FFF2-40B4-BE49-F238E27FC236}">
                <a16:creationId xmlns:a16="http://schemas.microsoft.com/office/drawing/2014/main" id="{13792C0E-56A4-038E-25C8-41619E973B3F}"/>
              </a:ext>
            </a:extLst>
          </p:cNvPr>
          <p:cNvPicPr>
            <a:picLocks noChangeAspect="1"/>
          </p:cNvPicPr>
          <p:nvPr/>
        </p:nvPicPr>
        <p:blipFill>
          <a:blip r:embed="rId2" cstate="print">
            <a:lum bright="70000" contrast="-70000"/>
            <a:extLst>
              <a:ext uri="{BEBA8EAE-BF5A-486C-A8C5-ECC9F3942E4B}">
                <a14:imgProps xmlns:a14="http://schemas.microsoft.com/office/drawing/2010/main">
                  <a14:imgLayer r:embed="rId3">
                    <a14:imgEffect>
                      <a14:sharpenSoften amount="50000"/>
                    </a14:imgEffect>
                    <a14:imgEffect>
                      <a14:colorTemperature colorTemp="4700"/>
                    </a14:imgEffect>
                    <a14:imgEffect>
                      <a14:saturation sat="33000"/>
                    </a14:imgEffect>
                  </a14:imgLayer>
                </a14:imgProps>
              </a:ext>
              <a:ext uri="{28A0092B-C50C-407E-A947-70E740481C1C}">
                <a14:useLocalDpi xmlns:a14="http://schemas.microsoft.com/office/drawing/2010/main"/>
              </a:ext>
            </a:extLst>
          </a:blip>
          <a:stretch>
            <a:fillRect/>
          </a:stretch>
        </p:blipFill>
        <p:spPr>
          <a:xfrm>
            <a:off x="3091815" y="510540"/>
            <a:ext cx="5303520" cy="5836920"/>
          </a:xfrm>
          <a:prstGeom prst="rect">
            <a:avLst/>
          </a:prstGeom>
          <a:noFill/>
        </p:spPr>
      </p:pic>
      <p:pic>
        <p:nvPicPr>
          <p:cNvPr id="11" name="Imagen 10" descr="Logotipo&#10;&#10;Descripción generada automáticamente">
            <a:extLst>
              <a:ext uri="{FF2B5EF4-FFF2-40B4-BE49-F238E27FC236}">
                <a16:creationId xmlns:a16="http://schemas.microsoft.com/office/drawing/2014/main" id="{76F1C2F9-DDFC-CBF2-E48A-E64DE4A37DF6}"/>
              </a:ext>
            </a:extLst>
          </p:cNvPr>
          <p:cNvPicPr>
            <a:picLocks noChangeAspect="1"/>
          </p:cNvPicPr>
          <p:nvPr/>
        </p:nvPicPr>
        <p:blipFill>
          <a:blip r:embed="rId4" cstate="print">
            <a:extLst>
              <a:ext uri="{28A0092B-C50C-407E-A947-70E740481C1C}">
                <a14:useLocalDpi xmlns:a14="http://schemas.microsoft.com/office/drawing/2010/main"/>
              </a:ext>
            </a:extLst>
          </a:blip>
          <a:srcRect/>
          <a:stretch>
            <a:fillRect/>
          </a:stretch>
        </p:blipFill>
        <p:spPr bwMode="auto">
          <a:xfrm>
            <a:off x="9145905" y="46990"/>
            <a:ext cx="2301875" cy="1016000"/>
          </a:xfrm>
          <a:prstGeom prst="rect">
            <a:avLst/>
          </a:prstGeom>
          <a:noFill/>
          <a:ln>
            <a:noFill/>
          </a:ln>
        </p:spPr>
      </p:pic>
      <p:pic>
        <p:nvPicPr>
          <p:cNvPr id="12" name="Imagen 11">
            <a:extLst>
              <a:ext uri="{FF2B5EF4-FFF2-40B4-BE49-F238E27FC236}">
                <a16:creationId xmlns:a16="http://schemas.microsoft.com/office/drawing/2014/main" id="{503E3447-738B-D8B1-B47D-8EBA647E114F}"/>
              </a:ext>
            </a:extLst>
          </p:cNvPr>
          <p:cNvPicPr>
            <a:picLocks noChangeAspect="1"/>
          </p:cNvPicPr>
          <p:nvPr/>
        </p:nvPicPr>
        <p:blipFill rotWithShape="1">
          <a:blip r:embed="rId5" cstate="print">
            <a:extLst>
              <a:ext uri="{28A0092B-C50C-407E-A947-70E740481C1C}">
                <a14:useLocalDpi xmlns:a14="http://schemas.microsoft.com/office/drawing/2010/main"/>
              </a:ext>
            </a:extLst>
          </a:blip>
          <a:srcRect/>
          <a:stretch/>
        </p:blipFill>
        <p:spPr bwMode="auto">
          <a:xfrm>
            <a:off x="277495" y="46990"/>
            <a:ext cx="1516380" cy="1089660"/>
          </a:xfrm>
          <a:prstGeom prst="rect">
            <a:avLst/>
          </a:prstGeom>
          <a:noFill/>
          <a:ln>
            <a:noFill/>
          </a:ln>
          <a:extLst>
            <a:ext uri="{53640926-AAD7-44D8-BBD7-CCE9431645EC}">
              <a14:shadowObscured xmlns:a14="http://schemas.microsoft.com/office/drawing/2010/main"/>
            </a:ext>
          </a:extLst>
        </p:spPr>
      </p:pic>
      <p:sp>
        <p:nvSpPr>
          <p:cNvPr id="14" name="CuadroTexto 13">
            <a:extLst>
              <a:ext uri="{FF2B5EF4-FFF2-40B4-BE49-F238E27FC236}">
                <a16:creationId xmlns:a16="http://schemas.microsoft.com/office/drawing/2014/main" id="{29E7C584-C5C9-2730-50A7-5B38CB386E43}"/>
              </a:ext>
            </a:extLst>
          </p:cNvPr>
          <p:cNvSpPr txBox="1"/>
          <p:nvPr/>
        </p:nvSpPr>
        <p:spPr>
          <a:xfrm>
            <a:off x="1943100" y="374015"/>
            <a:ext cx="7124700" cy="799130"/>
          </a:xfrm>
          <a:prstGeom prst="rect">
            <a:avLst/>
          </a:prstGeom>
          <a:noFill/>
        </p:spPr>
        <p:txBody>
          <a:bodyPr wrap="square">
            <a:spAutoFit/>
          </a:bodyPr>
          <a:lstStyle/>
          <a:p>
            <a:pPr algn="ctr">
              <a:lnSpc>
                <a:spcPct val="107000"/>
              </a:lnSpc>
              <a:spcAft>
                <a:spcPts val="800"/>
              </a:spcAft>
              <a:buNone/>
            </a:pPr>
            <a:r>
              <a:rPr lang="es-MX" sz="2000" b="1" kern="100" noProof="0" dirty="0">
                <a:effectLst/>
                <a:latin typeface="Arial" panose="020B0604020202020204" pitchFamily="34" charset="0"/>
                <a:ea typeface="Calibri" panose="020F0502020204030204" pitchFamily="34" charset="0"/>
                <a:cs typeface="Times New Roman" panose="02020603050405020304" pitchFamily="18" charset="0"/>
              </a:rPr>
              <a:t>TECNOLÓGICO NACIONAL DE MÉXICO</a:t>
            </a:r>
            <a:endParaRPr lang="es-MX" sz="1600" kern="100" noProof="0" dirty="0">
              <a:effectLst/>
              <a:latin typeface="Arial" panose="020B0604020202020204" pitchFamily="34" charset="0"/>
              <a:ea typeface="Calibri" panose="020F0502020204030204" pitchFamily="34" charset="0"/>
              <a:cs typeface="Times New Roman" panose="02020603050405020304" pitchFamily="18" charset="0"/>
            </a:endParaRPr>
          </a:p>
          <a:p>
            <a:pPr algn="ctr">
              <a:lnSpc>
                <a:spcPct val="107000"/>
              </a:lnSpc>
              <a:spcAft>
                <a:spcPts val="800"/>
              </a:spcAft>
              <a:buNone/>
            </a:pPr>
            <a:r>
              <a:rPr lang="es-MX" sz="1800" b="1" kern="100" noProof="0" dirty="0">
                <a:effectLst/>
                <a:latin typeface="Arial" panose="020B0604020202020204" pitchFamily="34" charset="0"/>
                <a:ea typeface="Calibri" panose="020F0502020204030204" pitchFamily="34" charset="0"/>
                <a:cs typeface="Times New Roman" panose="02020603050405020304" pitchFamily="18" charset="0"/>
              </a:rPr>
              <a:t>UNIDAD ACADÉMICA VENUSTIANO CARRANZA</a:t>
            </a:r>
            <a:endParaRPr lang="es-MX" sz="1600" kern="100" noProof="0" dirty="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16" name="CuadroTexto 15">
            <a:extLst>
              <a:ext uri="{FF2B5EF4-FFF2-40B4-BE49-F238E27FC236}">
                <a16:creationId xmlns:a16="http://schemas.microsoft.com/office/drawing/2014/main" id="{A4A9E771-2CE9-85CC-E1A4-169697077E49}"/>
              </a:ext>
            </a:extLst>
          </p:cNvPr>
          <p:cNvSpPr txBox="1"/>
          <p:nvPr/>
        </p:nvSpPr>
        <p:spPr>
          <a:xfrm>
            <a:off x="2550694" y="1329363"/>
            <a:ext cx="6096000" cy="367216"/>
          </a:xfrm>
          <a:prstGeom prst="rect">
            <a:avLst/>
          </a:prstGeom>
          <a:noFill/>
        </p:spPr>
        <p:txBody>
          <a:bodyPr wrap="square">
            <a:spAutoFit/>
          </a:bodyPr>
          <a:lstStyle/>
          <a:p>
            <a:pPr algn="ctr">
              <a:lnSpc>
                <a:spcPct val="107000"/>
              </a:lnSpc>
              <a:spcAft>
                <a:spcPts val="800"/>
              </a:spcAft>
              <a:buNone/>
            </a:pPr>
            <a:r>
              <a:rPr lang="es-MX" sz="1800" b="1" kern="0" noProof="0" dirty="0">
                <a:effectLst/>
                <a:latin typeface="Arial" panose="020B0604020202020204" pitchFamily="34" charset="0"/>
                <a:ea typeface="Arial" panose="020B0604020202020204" pitchFamily="34" charset="0"/>
                <a:cs typeface="Arial" panose="020B0604020202020204" pitchFamily="34" charset="0"/>
              </a:rPr>
              <a:t>“</a:t>
            </a:r>
            <a:r>
              <a:rPr lang="es-MX" sz="1800" b="1" kern="0" noProof="0" dirty="0">
                <a:effectLst/>
                <a:latin typeface="Arial" panose="020B0604020202020204" pitchFamily="34" charset="0"/>
                <a:ea typeface="Times New Roman" panose="02020603050405020304" pitchFamily="18" charset="0"/>
                <a:cs typeface="Arial" panose="020B0604020202020204" pitchFamily="34" charset="0"/>
              </a:rPr>
              <a:t>INGENIERÍA EN SISTEMAS COMPUTACIONALES</a:t>
            </a:r>
            <a:r>
              <a:rPr lang="es-MX" sz="1800" b="1" kern="0" noProof="0" dirty="0">
                <a:effectLst/>
                <a:latin typeface="Arial" panose="020B0604020202020204" pitchFamily="34" charset="0"/>
                <a:ea typeface="Arial" panose="020B0604020202020204" pitchFamily="34" charset="0"/>
                <a:cs typeface="Arial" panose="020B0604020202020204" pitchFamily="34" charset="0"/>
              </a:rPr>
              <a:t>”</a:t>
            </a:r>
            <a:endParaRPr lang="es-MX" sz="1800" kern="100" noProof="0" dirty="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18" name="CuadroTexto 17">
            <a:extLst>
              <a:ext uri="{FF2B5EF4-FFF2-40B4-BE49-F238E27FC236}">
                <a16:creationId xmlns:a16="http://schemas.microsoft.com/office/drawing/2014/main" id="{1FA8327A-BF41-1978-27AD-7942D85077F5}"/>
              </a:ext>
            </a:extLst>
          </p:cNvPr>
          <p:cNvSpPr txBox="1"/>
          <p:nvPr/>
        </p:nvSpPr>
        <p:spPr>
          <a:xfrm>
            <a:off x="2550694" y="1824715"/>
            <a:ext cx="6096000" cy="1463040"/>
          </a:xfrm>
          <a:prstGeom prst="rect">
            <a:avLst/>
          </a:prstGeom>
          <a:noFill/>
        </p:spPr>
        <p:txBody>
          <a:bodyPr wrap="square">
            <a:spAutoFit/>
          </a:bodyPr>
          <a:lstStyle/>
          <a:p>
            <a:pPr algn="ctr">
              <a:lnSpc>
                <a:spcPct val="100000"/>
              </a:lnSpc>
              <a:spcAft>
                <a:spcPts val="800"/>
              </a:spcAft>
              <a:buNone/>
            </a:pPr>
            <a:r>
              <a:rPr lang="es-MX" sz="2000" b="1" kern="0" noProof="0" dirty="0">
                <a:latin typeface="Arial" panose="020B0604020202020204" pitchFamily="34" charset="0"/>
                <a:cs typeface="Arial" panose="020B0604020202020204" pitchFamily="34" charset="0"/>
              </a:rPr>
              <a:t>Lenguajes y Autómatas II </a:t>
            </a:r>
          </a:p>
          <a:p>
            <a:pPr algn="ctr">
              <a:lnSpc>
                <a:spcPct val="107000"/>
              </a:lnSpc>
              <a:spcAft>
                <a:spcPts val="800"/>
              </a:spcAft>
              <a:buNone/>
            </a:pPr>
            <a:r>
              <a:rPr lang="es-MX" sz="1800" b="1" kern="0" noProof="0" dirty="0">
                <a:effectLst/>
                <a:latin typeface="Arial" panose="020B0604020202020204" pitchFamily="34" charset="0"/>
                <a:ea typeface="Arial" panose="020B0604020202020204" pitchFamily="34" charset="0"/>
                <a:cs typeface="Arial" panose="020B0604020202020204" pitchFamily="34" charset="0"/>
              </a:rPr>
              <a:t>ACTIVIDAD  </a:t>
            </a:r>
            <a:endParaRPr lang="es-MX" sz="2000" kern="100" noProof="0" dirty="0">
              <a:effectLst/>
              <a:latin typeface="Arial" panose="020B0604020202020204" pitchFamily="34" charset="0"/>
              <a:ea typeface="Calibri" panose="020F0502020204030204" pitchFamily="34" charset="0"/>
              <a:cs typeface="Times New Roman" panose="02020603050405020304" pitchFamily="18" charset="0"/>
            </a:endParaRPr>
          </a:p>
          <a:p>
            <a:pPr algn="ctr">
              <a:lnSpc>
                <a:spcPct val="100000"/>
              </a:lnSpc>
              <a:spcAft>
                <a:spcPts val="800"/>
              </a:spcAft>
              <a:buNone/>
            </a:pPr>
            <a:r>
              <a:rPr lang="es-MX" sz="1600" b="1" kern="0" noProof="0" dirty="0">
                <a:effectLst/>
                <a:latin typeface="Arial" panose="020B0604020202020204" pitchFamily="34" charset="0"/>
                <a:ea typeface="Arial" panose="020B0604020202020204" pitchFamily="34" charset="0"/>
                <a:cs typeface="Arial" panose="020B0604020202020204" pitchFamily="34" charset="0"/>
              </a:rPr>
              <a:t>ACTIVIDAD 4.2 – PROYECTO ANALIZADOR SEMÁNTICO EN JAVA (COMPILADOR EN JAVA)</a:t>
            </a:r>
            <a:endParaRPr lang="es-MX" sz="2000" kern="100" noProof="0" dirty="0">
              <a:effectLst/>
              <a:latin typeface="Arial" panose="020B0604020202020204" pitchFamily="34" charset="0"/>
              <a:ea typeface="Calibri" panose="020F0502020204030204" pitchFamily="34" charset="0"/>
              <a:cs typeface="Times New Roman" panose="02020603050405020304" pitchFamily="18" charset="0"/>
            </a:endParaRPr>
          </a:p>
        </p:txBody>
      </p:sp>
      <p:graphicFrame>
        <p:nvGraphicFramePr>
          <p:cNvPr id="19" name="Tabla 18">
            <a:extLst>
              <a:ext uri="{FF2B5EF4-FFF2-40B4-BE49-F238E27FC236}">
                <a16:creationId xmlns:a16="http://schemas.microsoft.com/office/drawing/2014/main" id="{C3F20D4B-4AB8-951E-96AB-E5F9938ABBDE}"/>
              </a:ext>
            </a:extLst>
          </p:cNvPr>
          <p:cNvGraphicFramePr>
            <a:graphicFrameLocks noGrp="1"/>
          </p:cNvGraphicFramePr>
          <p:nvPr>
            <p:extLst>
              <p:ext uri="{D42A27DB-BD31-4B8C-83A1-F6EECF244321}">
                <p14:modId xmlns:p14="http://schemas.microsoft.com/office/powerpoint/2010/main" val="261290263"/>
              </p:ext>
            </p:extLst>
          </p:nvPr>
        </p:nvGraphicFramePr>
        <p:xfrm>
          <a:off x="3249461" y="3989064"/>
          <a:ext cx="4505960" cy="762000"/>
        </p:xfrm>
        <a:graphic>
          <a:graphicData uri="http://schemas.openxmlformats.org/drawingml/2006/table">
            <a:tbl>
              <a:tblPr firstRow="1" firstCol="1" bandRow="1">
                <a:tableStyleId>{5C22544A-7EE6-4342-B048-85BDC9FD1C3A}</a:tableStyleId>
              </a:tblPr>
              <a:tblGrid>
                <a:gridCol w="2697480">
                  <a:extLst>
                    <a:ext uri="{9D8B030D-6E8A-4147-A177-3AD203B41FA5}">
                      <a16:colId xmlns:a16="http://schemas.microsoft.com/office/drawing/2014/main" val="3511045433"/>
                    </a:ext>
                  </a:extLst>
                </a:gridCol>
                <a:gridCol w="1808480">
                  <a:extLst>
                    <a:ext uri="{9D8B030D-6E8A-4147-A177-3AD203B41FA5}">
                      <a16:colId xmlns:a16="http://schemas.microsoft.com/office/drawing/2014/main" val="2206197710"/>
                    </a:ext>
                  </a:extLst>
                </a:gridCol>
              </a:tblGrid>
              <a:tr h="254000">
                <a:tc>
                  <a:txBody>
                    <a:bodyPr/>
                    <a:lstStyle/>
                    <a:p>
                      <a:pPr marL="0" algn="ctr" defTabSz="914400" rtl="0" eaLnBrk="1" latinLnBrk="0" hangingPunct="1">
                        <a:lnSpc>
                          <a:spcPct val="107000"/>
                        </a:lnSpc>
                        <a:spcAft>
                          <a:spcPts val="800"/>
                        </a:spcAft>
                        <a:buNone/>
                      </a:pPr>
                      <a:r>
                        <a:rPr lang="es-MX" sz="1200" b="1" kern="0" noProof="0" dirty="0">
                          <a:solidFill>
                            <a:schemeClr val="tx1"/>
                          </a:solidFill>
                          <a:effectLst/>
                          <a:latin typeface="+mn-lt"/>
                          <a:ea typeface="+mn-ea"/>
                          <a:cs typeface="+mn-cs"/>
                        </a:rPr>
                        <a:t>SEMESTRE</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lnSpc>
                          <a:spcPct val="107000"/>
                        </a:lnSpc>
                        <a:spcAft>
                          <a:spcPts val="800"/>
                        </a:spcAft>
                        <a:buNone/>
                      </a:pPr>
                      <a:r>
                        <a:rPr lang="es-MX" sz="1200" b="1" kern="0" noProof="0" dirty="0">
                          <a:solidFill>
                            <a:schemeClr val="tx1"/>
                          </a:solidFill>
                          <a:effectLst/>
                          <a:latin typeface="+mn-lt"/>
                          <a:ea typeface="+mn-ea"/>
                          <a:cs typeface="+mn-cs"/>
                        </a:rPr>
                        <a:t>SEPTIMO</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71488426"/>
                  </a:ext>
                </a:extLst>
              </a:tr>
              <a:tr h="254000">
                <a:tc>
                  <a:txBody>
                    <a:bodyPr/>
                    <a:lstStyle/>
                    <a:p>
                      <a:pPr marL="0" algn="ctr" defTabSz="914400" rtl="0" eaLnBrk="1" latinLnBrk="0" hangingPunct="1">
                        <a:lnSpc>
                          <a:spcPct val="107000"/>
                        </a:lnSpc>
                        <a:spcAft>
                          <a:spcPts val="800"/>
                        </a:spcAft>
                        <a:buNone/>
                      </a:pPr>
                      <a:r>
                        <a:rPr lang="es-MX" sz="1200" b="1" kern="0" noProof="0" dirty="0">
                          <a:solidFill>
                            <a:schemeClr val="tx1"/>
                          </a:solidFill>
                          <a:effectLst/>
                          <a:latin typeface="+mn-lt"/>
                          <a:ea typeface="+mn-ea"/>
                          <a:cs typeface="+mn-cs"/>
                        </a:rPr>
                        <a:t>NOMBRE DEL ALUMNO</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lnSpc>
                          <a:spcPct val="107000"/>
                        </a:lnSpc>
                        <a:spcAft>
                          <a:spcPts val="800"/>
                        </a:spcAft>
                        <a:buNone/>
                      </a:pPr>
                      <a:r>
                        <a:rPr lang="es-MX" sz="1200" b="1" kern="0" noProof="0" dirty="0">
                          <a:solidFill>
                            <a:schemeClr val="tx1"/>
                          </a:solidFill>
                          <a:effectLst/>
                          <a:latin typeface="+mn-lt"/>
                          <a:ea typeface="+mn-ea"/>
                          <a:cs typeface="+mn-cs"/>
                        </a:rPr>
                        <a:t>MATRICULA</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19201878"/>
                  </a:ext>
                </a:extLst>
              </a:tr>
              <a:tr h="254000">
                <a:tc>
                  <a:txBody>
                    <a:bodyPr/>
                    <a:lstStyle/>
                    <a:p>
                      <a:pPr marL="0" algn="ctr" defTabSz="914400" rtl="0" eaLnBrk="1" latinLnBrk="0" hangingPunct="1">
                        <a:lnSpc>
                          <a:spcPct val="107000"/>
                        </a:lnSpc>
                        <a:spcAft>
                          <a:spcPts val="800"/>
                        </a:spcAft>
                        <a:buNone/>
                      </a:pPr>
                      <a:r>
                        <a:rPr lang="es-MX" sz="1200" b="1" kern="0" noProof="0" dirty="0">
                          <a:solidFill>
                            <a:schemeClr val="tx1"/>
                          </a:solidFill>
                          <a:effectLst/>
                          <a:latin typeface="+mn-lt"/>
                          <a:ea typeface="+mn-ea"/>
                          <a:cs typeface="+mn-cs"/>
                        </a:rPr>
                        <a:t>Rafael Aquino Villanueva</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lnSpc>
                          <a:spcPct val="107000"/>
                        </a:lnSpc>
                        <a:spcAft>
                          <a:spcPts val="800"/>
                        </a:spcAft>
                        <a:buNone/>
                      </a:pPr>
                      <a:r>
                        <a:rPr lang="es-MX" sz="1200" b="1" kern="0" noProof="0" dirty="0">
                          <a:solidFill>
                            <a:schemeClr val="tx1"/>
                          </a:solidFill>
                          <a:effectLst/>
                          <a:latin typeface="+mn-lt"/>
                          <a:ea typeface="+mn-ea"/>
                          <a:cs typeface="+mn-cs"/>
                        </a:rPr>
                        <a:t>231260073</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98394392"/>
                  </a:ext>
                </a:extLst>
              </a:tr>
            </a:tbl>
          </a:graphicData>
        </a:graphic>
      </p:graphicFrame>
      <p:sp>
        <p:nvSpPr>
          <p:cNvPr id="21" name="CuadroTexto 20">
            <a:extLst>
              <a:ext uri="{FF2B5EF4-FFF2-40B4-BE49-F238E27FC236}">
                <a16:creationId xmlns:a16="http://schemas.microsoft.com/office/drawing/2014/main" id="{2BBA4D31-60C9-991B-3D34-3585F8C8348E}"/>
              </a:ext>
            </a:extLst>
          </p:cNvPr>
          <p:cNvSpPr txBox="1"/>
          <p:nvPr/>
        </p:nvSpPr>
        <p:spPr>
          <a:xfrm>
            <a:off x="4010525" y="3322501"/>
            <a:ext cx="2983833" cy="1165127"/>
          </a:xfrm>
          <a:prstGeom prst="rect">
            <a:avLst/>
          </a:prstGeom>
          <a:noFill/>
        </p:spPr>
        <p:txBody>
          <a:bodyPr wrap="square">
            <a:spAutoFit/>
          </a:bodyPr>
          <a:lstStyle/>
          <a:p>
            <a:pPr algn="ctr">
              <a:lnSpc>
                <a:spcPct val="107000"/>
              </a:lnSpc>
              <a:spcAft>
                <a:spcPts val="800"/>
              </a:spcAft>
              <a:buNone/>
            </a:pPr>
            <a:r>
              <a:rPr lang="es-MX" sz="1800" b="1" kern="0" noProof="0" dirty="0">
                <a:effectLst/>
                <a:latin typeface="Arial" panose="020B0604020202020204" pitchFamily="34" charset="0"/>
                <a:ea typeface="Arial" panose="020B0604020202020204" pitchFamily="34" charset="0"/>
                <a:cs typeface="Arial" panose="020B0604020202020204" pitchFamily="34" charset="0"/>
              </a:rPr>
              <a:t>PRESENTA</a:t>
            </a:r>
            <a:endParaRPr lang="es-MX" sz="2000" kern="100" noProof="0" dirty="0">
              <a:effectLst/>
              <a:latin typeface="Arial" panose="020B0604020202020204" pitchFamily="34" charset="0"/>
              <a:ea typeface="Calibri" panose="020F0502020204030204" pitchFamily="34" charset="0"/>
              <a:cs typeface="Times New Roman" panose="02020603050405020304" pitchFamily="18" charset="0"/>
            </a:endParaRPr>
          </a:p>
          <a:p>
            <a:pPr algn="ctr">
              <a:lnSpc>
                <a:spcPct val="107000"/>
              </a:lnSpc>
              <a:spcAft>
                <a:spcPts val="800"/>
              </a:spcAft>
              <a:buNone/>
            </a:pPr>
            <a:r>
              <a:rPr lang="es-MX" sz="1800" b="1" kern="0" noProof="0" dirty="0">
                <a:effectLst/>
                <a:latin typeface="Arial" panose="020B0604020202020204" pitchFamily="34" charset="0"/>
                <a:ea typeface="Arial" panose="020B0604020202020204" pitchFamily="34" charset="0"/>
                <a:cs typeface="Arial" panose="020B0604020202020204" pitchFamily="34" charset="0"/>
              </a:rPr>
              <a:t> </a:t>
            </a:r>
            <a:endParaRPr lang="es-MX" sz="2000" kern="100" noProof="0" dirty="0">
              <a:effectLst/>
              <a:latin typeface="Arial" panose="020B0604020202020204" pitchFamily="34" charset="0"/>
              <a:ea typeface="Calibri" panose="020F0502020204030204" pitchFamily="34" charset="0"/>
              <a:cs typeface="Times New Roman" panose="02020603050405020304" pitchFamily="18" charset="0"/>
            </a:endParaRPr>
          </a:p>
          <a:p>
            <a:pPr algn="ctr">
              <a:lnSpc>
                <a:spcPct val="107000"/>
              </a:lnSpc>
              <a:spcAft>
                <a:spcPts val="800"/>
              </a:spcAft>
              <a:buNone/>
            </a:pPr>
            <a:r>
              <a:rPr lang="es-MX" sz="1800" b="1" kern="0" noProof="0" dirty="0">
                <a:effectLst/>
                <a:latin typeface="Arial" panose="020B0604020202020204" pitchFamily="34" charset="0"/>
                <a:ea typeface="Arial" panose="020B0604020202020204" pitchFamily="34" charset="0"/>
                <a:cs typeface="Arial" panose="020B0604020202020204" pitchFamily="34" charset="0"/>
              </a:rPr>
              <a:t> </a:t>
            </a:r>
            <a:endParaRPr lang="es-MX" sz="2000" kern="100" noProof="0" dirty="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23" name="CuadroTexto 22">
            <a:extLst>
              <a:ext uri="{FF2B5EF4-FFF2-40B4-BE49-F238E27FC236}">
                <a16:creationId xmlns:a16="http://schemas.microsoft.com/office/drawing/2014/main" id="{D2284A4D-D83A-881E-63B3-639ACAB1ACB4}"/>
              </a:ext>
            </a:extLst>
          </p:cNvPr>
          <p:cNvSpPr txBox="1"/>
          <p:nvPr/>
        </p:nvSpPr>
        <p:spPr>
          <a:xfrm>
            <a:off x="2550694" y="4946336"/>
            <a:ext cx="6096000" cy="928459"/>
          </a:xfrm>
          <a:prstGeom prst="rect">
            <a:avLst/>
          </a:prstGeom>
          <a:noFill/>
        </p:spPr>
        <p:txBody>
          <a:bodyPr wrap="square">
            <a:spAutoFit/>
          </a:bodyPr>
          <a:lstStyle/>
          <a:p>
            <a:pPr algn="ctr">
              <a:lnSpc>
                <a:spcPct val="150000"/>
              </a:lnSpc>
              <a:spcAft>
                <a:spcPts val="800"/>
              </a:spcAft>
              <a:buNone/>
            </a:pPr>
            <a:r>
              <a:rPr lang="es-MX" sz="1600" b="1" kern="0" noProof="0" dirty="0">
                <a:latin typeface="Arial" panose="020B0604020202020204" pitchFamily="34" charset="0"/>
                <a:ea typeface="Calibri" panose="020F0502020204030204" pitchFamily="34" charset="0"/>
                <a:cs typeface="Arial" panose="020B0604020202020204" pitchFamily="34" charset="0"/>
              </a:rPr>
              <a:t>DOCENTE</a:t>
            </a:r>
            <a:endParaRPr lang="es-MX" sz="1800" kern="100" noProof="0" dirty="0">
              <a:effectLst/>
              <a:latin typeface="Arial" panose="020B0604020202020204" pitchFamily="34" charset="0"/>
              <a:ea typeface="Calibri" panose="020F0502020204030204" pitchFamily="34" charset="0"/>
              <a:cs typeface="Times New Roman" panose="02020603050405020304" pitchFamily="18" charset="0"/>
            </a:endParaRPr>
          </a:p>
          <a:p>
            <a:pPr algn="ctr">
              <a:lnSpc>
                <a:spcPct val="150000"/>
              </a:lnSpc>
              <a:spcAft>
                <a:spcPts val="800"/>
              </a:spcAft>
              <a:buNone/>
            </a:pPr>
            <a:r>
              <a:rPr lang="es-MX" sz="1800" b="1" kern="0" noProof="0" dirty="0">
                <a:effectLst/>
                <a:latin typeface="Arial" panose="020B0604020202020204" pitchFamily="34" charset="0"/>
                <a:ea typeface="Times New Roman" panose="02020603050405020304" pitchFamily="18" charset="0"/>
                <a:cs typeface="Arial" panose="020B0604020202020204" pitchFamily="34" charset="0"/>
              </a:rPr>
              <a:t>ING. FRANCISCO JAVIER MINGO VELAZQUEZ</a:t>
            </a:r>
            <a:endParaRPr lang="es-MX" sz="1800" kern="100" noProof="0" dirty="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25" name="CuadroTexto 24">
            <a:extLst>
              <a:ext uri="{FF2B5EF4-FFF2-40B4-BE49-F238E27FC236}">
                <a16:creationId xmlns:a16="http://schemas.microsoft.com/office/drawing/2014/main" id="{2669DBE5-FAF1-35CF-08F0-D08353CB1B1B}"/>
              </a:ext>
            </a:extLst>
          </p:cNvPr>
          <p:cNvSpPr txBox="1"/>
          <p:nvPr/>
        </p:nvSpPr>
        <p:spPr>
          <a:xfrm>
            <a:off x="1793875" y="6265557"/>
            <a:ext cx="7812505" cy="1078244"/>
          </a:xfrm>
          <a:prstGeom prst="rect">
            <a:avLst/>
          </a:prstGeom>
          <a:noFill/>
        </p:spPr>
        <p:txBody>
          <a:bodyPr wrap="square">
            <a:spAutoFit/>
          </a:bodyPr>
          <a:lstStyle/>
          <a:p>
            <a:pPr algn="r">
              <a:lnSpc>
                <a:spcPct val="107000"/>
              </a:lnSpc>
              <a:spcAft>
                <a:spcPts val="800"/>
              </a:spcAft>
              <a:buNone/>
            </a:pPr>
            <a:r>
              <a:rPr lang="es-MX" sz="2000" b="1" kern="0" noProof="0" dirty="0">
                <a:latin typeface="Arial" panose="020B0604020202020204" pitchFamily="34" charset="0"/>
                <a:ea typeface="Times New Roman" panose="02020603050405020304" pitchFamily="18" charset="0"/>
                <a:cs typeface="Arial" panose="020B0604020202020204" pitchFamily="34" charset="0"/>
              </a:rPr>
              <a:t>04</a:t>
            </a:r>
            <a:r>
              <a:rPr lang="es-MX" sz="2000" b="1" kern="0" noProof="0" dirty="0">
                <a:effectLst/>
                <a:latin typeface="Arial" panose="020B0604020202020204" pitchFamily="34" charset="0"/>
                <a:ea typeface="Times New Roman" panose="02020603050405020304" pitchFamily="18" charset="0"/>
                <a:cs typeface="Arial" panose="020B0604020202020204" pitchFamily="34" charset="0"/>
              </a:rPr>
              <a:t> DE </a:t>
            </a:r>
            <a:r>
              <a:rPr lang="es-MX" sz="2000" b="1" kern="0" noProof="0" dirty="0">
                <a:latin typeface="Arial" panose="020B0604020202020204" pitchFamily="34" charset="0"/>
                <a:ea typeface="Times New Roman" panose="02020603050405020304" pitchFamily="18" charset="0"/>
                <a:cs typeface="Arial" panose="020B0604020202020204" pitchFamily="34" charset="0"/>
              </a:rPr>
              <a:t>OCTUBRE</a:t>
            </a:r>
            <a:r>
              <a:rPr lang="es-MX" sz="2000" b="1" kern="0" noProof="0" dirty="0">
                <a:effectLst/>
                <a:latin typeface="Arial" panose="020B0604020202020204" pitchFamily="34" charset="0"/>
                <a:ea typeface="Times New Roman" panose="02020603050405020304" pitchFamily="18" charset="0"/>
                <a:cs typeface="Arial" panose="020B0604020202020204" pitchFamily="34" charset="0"/>
              </a:rPr>
              <a:t> DE 2026</a:t>
            </a:r>
            <a:r>
              <a:rPr lang="es-MX" sz="1800" b="1" kern="0" noProof="0" dirty="0">
                <a:effectLst/>
                <a:latin typeface="Arial" panose="020B0604020202020204" pitchFamily="34" charset="0"/>
                <a:ea typeface="Arial" panose="020B0604020202020204" pitchFamily="34" charset="0"/>
                <a:cs typeface="Arial" panose="020B0604020202020204" pitchFamily="34" charset="0"/>
              </a:rPr>
              <a:t> </a:t>
            </a:r>
            <a:r>
              <a:rPr lang="es-MX" sz="1800" kern="0" noProof="0" dirty="0">
                <a:effectLst/>
                <a:latin typeface="Arial" panose="020B0604020202020204" pitchFamily="34" charset="0"/>
                <a:ea typeface="Arial" panose="020B0604020202020204" pitchFamily="34" charset="0"/>
                <a:cs typeface="Arial" panose="020B0604020202020204" pitchFamily="34" charset="0"/>
              </a:rPr>
              <a:t>VENUSTIANO CARRANZA, CHIAPAS</a:t>
            </a:r>
            <a:endParaRPr lang="es-MX" sz="2000" kern="100" noProof="0" dirty="0">
              <a:effectLst/>
              <a:latin typeface="Arial" panose="020B0604020202020204" pitchFamily="34" charset="0"/>
              <a:ea typeface="Calibri" panose="020F0502020204030204" pitchFamily="34" charset="0"/>
              <a:cs typeface="Times New Roman" panose="02020603050405020304" pitchFamily="18" charset="0"/>
            </a:endParaRPr>
          </a:p>
          <a:p>
            <a:pPr>
              <a:buNone/>
            </a:pPr>
            <a:br>
              <a:rPr lang="es-MX" sz="1800" kern="0" noProof="0" dirty="0">
                <a:effectLst/>
                <a:latin typeface="Arial" panose="020B0604020202020204" pitchFamily="34" charset="0"/>
                <a:ea typeface="Arial" panose="020B0604020202020204" pitchFamily="34" charset="0"/>
              </a:rPr>
            </a:br>
            <a:endParaRPr lang="es-MX" noProof="0" dirty="0"/>
          </a:p>
        </p:txBody>
      </p:sp>
    </p:spTree>
    <p:extLst>
      <p:ext uri="{BB962C8B-B14F-4D97-AF65-F5344CB8AC3E}">
        <p14:creationId xmlns:p14="http://schemas.microsoft.com/office/powerpoint/2010/main" val="40010118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365760"/>
            <a:ext cx="10515600" cy="1097280"/>
          </a:xfrm>
        </p:spPr>
        <p:txBody>
          <a:bodyPr/>
          <a:lstStyle/>
          <a:p>
            <a:pPr algn="ctr"/>
            <a:r>
              <a:rPr lang="es-MX" sz="4400" b="1" noProof="0" dirty="0">
                <a:solidFill>
                  <a:srgbClr val="000000"/>
                </a:solidFill>
              </a:rPr>
              <a:t>Introducción</a:t>
            </a:r>
          </a:p>
        </p:txBody>
      </p:sp>
      <p:sp>
        <p:nvSpPr>
          <p:cNvPr id="3" name="TextBox 2"/>
          <p:cNvSpPr txBox="1"/>
          <p:nvPr/>
        </p:nvSpPr>
        <p:spPr>
          <a:xfrm>
            <a:off x="841248" y="1737360"/>
            <a:ext cx="10515600" cy="2246769"/>
          </a:xfrm>
          <a:prstGeom prst="rect">
            <a:avLst/>
          </a:prstGeom>
          <a:noFill/>
        </p:spPr>
        <p:txBody>
          <a:bodyPr wrap="square" anchor="t">
            <a:spAutoFit/>
          </a:bodyPr>
          <a:lstStyle/>
          <a:p>
            <a:pPr algn="just">
              <a:spcAft>
                <a:spcPts val="800"/>
              </a:spcAft>
            </a:pPr>
            <a:r>
              <a:rPr lang="es-MX" sz="2000" noProof="0" dirty="0"/>
              <a:t>El análisis semántico es la etapa del compilador que verifica que un programa, además de estar bien escrito, tenga un significado correcto: que las variables estén declaradas, que los tipos sean compatibles y que cada valor se use de forma válida. Para esta actividad se desarrolló, con Java y </a:t>
            </a:r>
            <a:r>
              <a:rPr lang="es-MX" sz="2000" noProof="0" dirty="0" err="1"/>
              <a:t>JavaFX</a:t>
            </a:r>
            <a:r>
              <a:rPr lang="es-MX" sz="2000" noProof="0" dirty="0"/>
              <a:t> en IntelliJ IDEA, el proyecto RAV Compilador, un compilador gráfico para un Java simplificado  que integra el analizador semántico dentro de un pipeline completo: análisis léxico, sintáctico y semántico, código de tres direcciones, optimización local, ensamblador y código objeto RAVM ejecutable.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365760"/>
            <a:ext cx="10515600" cy="1097280"/>
          </a:xfrm>
        </p:spPr>
        <p:txBody>
          <a:bodyPr/>
          <a:lstStyle/>
          <a:p>
            <a:pPr algn="ctr"/>
            <a:r>
              <a:rPr lang="es-MX" sz="4400" b="1" noProof="0" dirty="0">
                <a:solidFill>
                  <a:srgbClr val="000000"/>
                </a:solidFill>
              </a:rPr>
              <a:t>Objetivo</a:t>
            </a:r>
          </a:p>
        </p:txBody>
      </p:sp>
      <p:sp>
        <p:nvSpPr>
          <p:cNvPr id="3" name="TextBox 2"/>
          <p:cNvSpPr txBox="1"/>
          <p:nvPr/>
        </p:nvSpPr>
        <p:spPr>
          <a:xfrm>
            <a:off x="841248" y="1737360"/>
            <a:ext cx="10515600" cy="4572000"/>
          </a:xfrm>
          <a:prstGeom prst="rect">
            <a:avLst/>
          </a:prstGeom>
          <a:noFill/>
        </p:spPr>
        <p:txBody>
          <a:bodyPr wrap="square" anchor="t">
            <a:spAutoFit/>
          </a:bodyPr>
          <a:lstStyle/>
          <a:p>
            <a:pPr algn="just">
              <a:spcAft>
                <a:spcPts val="800"/>
              </a:spcAft>
            </a:pPr>
            <a:r>
              <a:rPr lang="es-MX" sz="2000" noProof="0" dirty="0"/>
              <a:t>Desarrollar en Java y </a:t>
            </a:r>
            <a:r>
              <a:rPr lang="es-MX" sz="2000" noProof="0" dirty="0" err="1"/>
              <a:t>JavaFX</a:t>
            </a:r>
            <a:r>
              <a:rPr lang="es-MX" sz="2000" noProof="0" dirty="0"/>
              <a:t> un compilador gráfico para un lenguaje Java simplificado, cuyo núcleo sea un analizador semántico que construya la tabla de símbolos, controle los ámbitos, compruebe los tipos de cada expresión y detecte el uso de variables no declaradas o sin valor. Integrar el analizador con las fases de análisis léxico y sintáctico y con la generación de código intermedio, optimización, ensamblador y código objeto, y comprobar su funcionamiento mediante programas de prueba correctos y con errores.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365760"/>
            <a:ext cx="10515600" cy="1097280"/>
          </a:xfrm>
        </p:spPr>
        <p:txBody>
          <a:bodyPr/>
          <a:lstStyle/>
          <a:p>
            <a:pPr algn="ctr"/>
            <a:r>
              <a:rPr lang="es-MX" sz="4400" b="1" noProof="0" dirty="0">
                <a:solidFill>
                  <a:srgbClr val="000000"/>
                </a:solidFill>
              </a:rPr>
              <a:t>Justificación</a:t>
            </a:r>
          </a:p>
        </p:txBody>
      </p:sp>
      <p:sp>
        <p:nvSpPr>
          <p:cNvPr id="3" name="TextBox 2"/>
          <p:cNvSpPr txBox="1"/>
          <p:nvPr/>
        </p:nvSpPr>
        <p:spPr>
          <a:xfrm>
            <a:off x="841248" y="1737360"/>
            <a:ext cx="10515600" cy="4572000"/>
          </a:xfrm>
          <a:prstGeom prst="rect">
            <a:avLst/>
          </a:prstGeom>
          <a:noFill/>
        </p:spPr>
        <p:txBody>
          <a:bodyPr wrap="square" anchor="t">
            <a:spAutoFit/>
          </a:bodyPr>
          <a:lstStyle/>
          <a:p>
            <a:pPr algn="just">
              <a:spcAft>
                <a:spcPts val="800"/>
              </a:spcAft>
            </a:pPr>
            <a:r>
              <a:rPr lang="es-MX" sz="2000" noProof="0" dirty="0"/>
              <a:t>Un programa puede respetar la gramática del lenguaje y aun así no tener sentido; por ejemplo, asignar una cadena a una variable entera o usar una variable que nunca recibió valor. El analizador semántico es el filtro que evita que esos errores lleguen a las etapas de generación de código. Construir un compilador propio permite observar cómo la información que reúne el análisis semántico, en especial la tabla de símbolos y los tipos, es la base de todas las fases posteriores, y no solo estudiarlo de forma teórica. Además, los diagnósticos con línea y columna muestran de forma práctica cómo un compilador real orienta al programador.</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365760"/>
            <a:ext cx="10515600" cy="1097280"/>
          </a:xfrm>
        </p:spPr>
        <p:txBody>
          <a:bodyPr/>
          <a:lstStyle/>
          <a:p>
            <a:pPr algn="ctr"/>
            <a:r>
              <a:rPr lang="es-MX" sz="4000" b="1" noProof="0" dirty="0">
                <a:solidFill>
                  <a:srgbClr val="000000"/>
                </a:solidFill>
              </a:rPr>
              <a:t>Desarrollo del compilador</a:t>
            </a:r>
          </a:p>
        </p:txBody>
      </p:sp>
      <p:sp>
        <p:nvSpPr>
          <p:cNvPr id="3" name="TextBox 2"/>
          <p:cNvSpPr txBox="1"/>
          <p:nvPr/>
        </p:nvSpPr>
        <p:spPr>
          <a:xfrm>
            <a:off x="713232" y="1691640"/>
            <a:ext cx="5120640" cy="4846320"/>
          </a:xfrm>
          <a:prstGeom prst="rect">
            <a:avLst/>
          </a:prstGeom>
          <a:noFill/>
        </p:spPr>
        <p:txBody>
          <a:bodyPr wrap="square" anchor="t">
            <a:spAutoFit/>
          </a:bodyPr>
          <a:lstStyle/>
          <a:p>
            <a:pPr algn="just">
              <a:spcAft>
                <a:spcPts val="800"/>
              </a:spcAft>
            </a:pPr>
            <a:r>
              <a:rPr lang="es-MX" sz="1800" noProof="0" dirty="0"/>
              <a:t>El proyecto se desarrolló en Java 17 con </a:t>
            </a:r>
            <a:r>
              <a:rPr lang="es-MX" sz="1800" noProof="0" dirty="0" err="1"/>
              <a:t>JavaFX</a:t>
            </a:r>
            <a:r>
              <a:rPr lang="es-MX" sz="1800" noProof="0" dirty="0"/>
              <a:t> 17 y Maven, en el entorno IntelliJ IDEA. La ventana principal, RAV Compilador, contiene un editor de programa fuente con numeración de líneas y los botones Abrir, Guardar, Compilar y Ejecutar.</a:t>
            </a:r>
          </a:p>
          <a:p>
            <a:pPr algn="just">
              <a:spcAft>
                <a:spcPts val="800"/>
              </a:spcAft>
            </a:pPr>
            <a:r>
              <a:rPr lang="es-MX" sz="1800" noProof="0" dirty="0"/>
              <a:t>En la parte derecha se muestran siete pestañas, una por etapa: Tokens, Árbol, Símbolos, Intermedio, Optimización, Ensamblador y Objeto. En la parte inferior, la consola de Compilación y Ejecución muestra el avance de cada fase. Al iniciar, el editor contiene un programa de ejemplo listo para compilar.</a:t>
            </a:r>
          </a:p>
        </p:txBody>
      </p:sp>
      <p:pic>
        <p:nvPicPr>
          <p:cNvPr id="4" name="Picture 3" descr="c8.png"/>
          <p:cNvPicPr>
            <a:picLocks noChangeAspect="1"/>
          </p:cNvPicPr>
          <p:nvPr/>
        </p:nvPicPr>
        <p:blipFill>
          <a:blip r:embed="rId2"/>
          <a:stretch>
            <a:fillRect/>
          </a:stretch>
        </p:blipFill>
        <p:spPr>
          <a:xfrm>
            <a:off x="5989320" y="1691640"/>
            <a:ext cx="5852160" cy="3172341"/>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365760"/>
            <a:ext cx="10515600" cy="1097280"/>
          </a:xfrm>
        </p:spPr>
        <p:txBody>
          <a:bodyPr/>
          <a:lstStyle/>
          <a:p>
            <a:pPr algn="ctr"/>
            <a:r>
              <a:rPr lang="es-MX" sz="4400" b="1" noProof="0" dirty="0">
                <a:solidFill>
                  <a:srgbClr val="000000"/>
                </a:solidFill>
              </a:rPr>
              <a:t>Estructura del proyecto</a:t>
            </a:r>
          </a:p>
        </p:txBody>
      </p:sp>
      <p:sp>
        <p:nvSpPr>
          <p:cNvPr id="3" name="TextBox 2"/>
          <p:cNvSpPr txBox="1"/>
          <p:nvPr/>
        </p:nvSpPr>
        <p:spPr>
          <a:xfrm>
            <a:off x="713232" y="1691640"/>
            <a:ext cx="5120640" cy="4846320"/>
          </a:xfrm>
          <a:prstGeom prst="rect">
            <a:avLst/>
          </a:prstGeom>
          <a:noFill/>
        </p:spPr>
        <p:txBody>
          <a:bodyPr wrap="square" anchor="t">
            <a:spAutoFit/>
          </a:bodyPr>
          <a:lstStyle/>
          <a:p>
            <a:pPr algn="just">
              <a:spcAft>
                <a:spcPts val="800"/>
              </a:spcAft>
            </a:pPr>
            <a:r>
              <a:rPr lang="es-MX" sz="1800" noProof="0" dirty="0"/>
              <a:t>El proyecto LYAII-COMPILADOR se organizó en paquetes para separar la interfaz de las fases del compilador.</a:t>
            </a:r>
          </a:p>
          <a:p>
            <a:pPr algn="just">
              <a:spcAft>
                <a:spcPts val="800"/>
              </a:spcAft>
            </a:pPr>
            <a:r>
              <a:rPr lang="es-MX" sz="1800" noProof="0" dirty="0"/>
              <a:t>En el paquete </a:t>
            </a:r>
            <a:r>
              <a:rPr lang="es-MX" sz="1800" noProof="0" dirty="0" err="1"/>
              <a:t>compiladorrav</a:t>
            </a:r>
            <a:r>
              <a:rPr lang="es-MX" sz="1800" noProof="0" dirty="0"/>
              <a:t> se encuentran LectorLexico.java, LectorSintactico.java, RevisionSemantica.java, Traduccion.java, Mejora.java, Objeto.java, Ejecucion.java y Compilacion.java, que orquesta todo el proceso.</a:t>
            </a:r>
          </a:p>
          <a:p>
            <a:pPr algn="just">
              <a:spcAft>
                <a:spcPts val="800"/>
              </a:spcAft>
            </a:pPr>
            <a:r>
              <a:rPr lang="es-MX" sz="1800" noProof="0" dirty="0"/>
              <a:t>El paquete servicios reutiliza el código de los temas anteriores (TEMA1 a TEMA4), y el paquete interfaz contiene MesaTrabajo.java, la ventana del compilador.</a:t>
            </a:r>
          </a:p>
        </p:txBody>
      </p:sp>
      <p:pic>
        <p:nvPicPr>
          <p:cNvPr id="6" name="Imagen 5">
            <a:extLst>
              <a:ext uri="{FF2B5EF4-FFF2-40B4-BE49-F238E27FC236}">
                <a16:creationId xmlns:a16="http://schemas.microsoft.com/office/drawing/2014/main" id="{F3C04144-3AC4-FCFD-57D5-1A7E89E2BFD0}"/>
              </a:ext>
            </a:extLst>
          </p:cNvPr>
          <p:cNvPicPr>
            <a:picLocks noChangeAspect="1"/>
          </p:cNvPicPr>
          <p:nvPr/>
        </p:nvPicPr>
        <p:blipFill>
          <a:blip r:embed="rId2"/>
          <a:stretch>
            <a:fillRect/>
          </a:stretch>
        </p:blipFill>
        <p:spPr>
          <a:xfrm>
            <a:off x="6096000" y="1825942"/>
            <a:ext cx="5699760" cy="320611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365760"/>
            <a:ext cx="10515600" cy="1097280"/>
          </a:xfrm>
        </p:spPr>
        <p:txBody>
          <a:bodyPr/>
          <a:lstStyle/>
          <a:p>
            <a:pPr algn="ctr"/>
            <a:r>
              <a:rPr lang="es-MX" sz="3600" b="1" noProof="0" dirty="0">
                <a:solidFill>
                  <a:srgbClr val="000000"/>
                </a:solidFill>
              </a:rPr>
              <a:t>Análisis léxico – LectorLexico.java</a:t>
            </a:r>
          </a:p>
        </p:txBody>
      </p:sp>
      <p:sp>
        <p:nvSpPr>
          <p:cNvPr id="3" name="TextBox 2"/>
          <p:cNvSpPr txBox="1"/>
          <p:nvPr/>
        </p:nvSpPr>
        <p:spPr>
          <a:xfrm>
            <a:off x="713232" y="1691640"/>
            <a:ext cx="5120640" cy="4846320"/>
          </a:xfrm>
          <a:prstGeom prst="rect">
            <a:avLst/>
          </a:prstGeom>
          <a:noFill/>
        </p:spPr>
        <p:txBody>
          <a:bodyPr wrap="square" anchor="t">
            <a:spAutoFit/>
          </a:bodyPr>
          <a:lstStyle/>
          <a:p>
            <a:pPr algn="just">
              <a:spcAft>
                <a:spcPts val="800"/>
              </a:spcAft>
            </a:pPr>
            <a:r>
              <a:rPr lang="es-MX" sz="1800" noProof="0" dirty="0"/>
              <a:t>Se desarrolló la clase LectorLexico.java, un escáner determinista que recorre el programa carácter por carácter, sin usar expresiones regulares. Clasifica cada lexema como palabra reservada, identificador (ID), número entero, número decimal, cadena u operador, e ignora espacios y comentarios.</a:t>
            </a:r>
          </a:p>
          <a:p>
            <a:pPr algn="just">
              <a:spcAft>
                <a:spcPts val="800"/>
              </a:spcAft>
            </a:pPr>
            <a:r>
              <a:rPr lang="es-MX" sz="1800" noProof="0" dirty="0"/>
              <a:t>Cada token guarda su línea y columna. Por ejemplo, la palabra </a:t>
            </a:r>
            <a:r>
              <a:rPr lang="es-MX" sz="1800" noProof="0" dirty="0" err="1"/>
              <a:t>class</a:t>
            </a:r>
            <a:r>
              <a:rPr lang="es-MX" sz="1800" noProof="0" dirty="0"/>
              <a:t> se reconoce en 1:1 y el identificador Entradas en 1:7. La pestaña Tokens muestra la lista completa y la consola confirma el análisis léxico.</a:t>
            </a:r>
          </a:p>
        </p:txBody>
      </p:sp>
      <p:pic>
        <p:nvPicPr>
          <p:cNvPr id="4" name="Picture 3" descr="c7.png"/>
          <p:cNvPicPr>
            <a:picLocks noChangeAspect="1"/>
          </p:cNvPicPr>
          <p:nvPr/>
        </p:nvPicPr>
        <p:blipFill>
          <a:blip r:embed="rId2"/>
          <a:stretch>
            <a:fillRect/>
          </a:stretch>
        </p:blipFill>
        <p:spPr>
          <a:xfrm>
            <a:off x="5989320" y="1691640"/>
            <a:ext cx="5852160" cy="314740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365760"/>
            <a:ext cx="10515600" cy="1097280"/>
          </a:xfrm>
        </p:spPr>
        <p:txBody>
          <a:bodyPr/>
          <a:lstStyle/>
          <a:p>
            <a:pPr algn="ctr"/>
            <a:r>
              <a:rPr lang="es-MX" sz="3600" b="1" noProof="0" dirty="0">
                <a:solidFill>
                  <a:srgbClr val="000000"/>
                </a:solidFill>
              </a:rPr>
              <a:t>Análisis sintáctico – LectorSintactico.java</a:t>
            </a:r>
          </a:p>
        </p:txBody>
      </p:sp>
      <p:sp>
        <p:nvSpPr>
          <p:cNvPr id="3" name="TextBox 2"/>
          <p:cNvSpPr txBox="1"/>
          <p:nvPr/>
        </p:nvSpPr>
        <p:spPr>
          <a:xfrm>
            <a:off x="713232" y="1691640"/>
            <a:ext cx="5120640" cy="4846320"/>
          </a:xfrm>
          <a:prstGeom prst="rect">
            <a:avLst/>
          </a:prstGeom>
          <a:noFill/>
        </p:spPr>
        <p:txBody>
          <a:bodyPr wrap="square" anchor="t">
            <a:spAutoFit/>
          </a:bodyPr>
          <a:lstStyle/>
          <a:p>
            <a:pPr algn="just">
              <a:spcAft>
                <a:spcPts val="800"/>
              </a:spcAft>
            </a:pPr>
            <a:r>
              <a:rPr lang="es-MX" sz="1800" noProof="0" dirty="0"/>
              <a:t>Se desarrolló la clase LectorSintactico.java, un analizador de descenso recursivo que valida la estructura del programa y construye el árbol sintáctico abstracto (AST). Maneja seis niveles de precedencia de operadores, desde || hasta * / %.</a:t>
            </a:r>
          </a:p>
          <a:p>
            <a:pPr algn="just">
              <a:spcAft>
                <a:spcPts val="800"/>
              </a:spcAft>
            </a:pPr>
            <a:r>
              <a:rPr lang="es-MX" sz="1800" noProof="0" dirty="0"/>
              <a:t>En la pestaña Árbol se observa la jerarquía del programa: la clase Entradas, su Bloque y cada declaración. Por ejemplo, </a:t>
            </a:r>
            <a:r>
              <a:rPr lang="es-MX" sz="1800" noProof="0" dirty="0" err="1"/>
              <a:t>int</a:t>
            </a:r>
            <a:r>
              <a:rPr lang="es-MX" sz="1800" noProof="0" dirty="0"/>
              <a:t> </a:t>
            </a:r>
            <a:r>
              <a:rPr lang="es-MX" sz="1800" noProof="0" dirty="0" err="1"/>
              <a:t>porMesa</a:t>
            </a:r>
            <a:r>
              <a:rPr lang="es-MX" sz="1800" noProof="0" dirty="0"/>
              <a:t> = invitados / mesas genera un nodo / con las hojas invitados y mesas.</a:t>
            </a:r>
          </a:p>
        </p:txBody>
      </p:sp>
      <p:pic>
        <p:nvPicPr>
          <p:cNvPr id="4" name="Picture 3" descr="c6.png"/>
          <p:cNvPicPr>
            <a:picLocks noChangeAspect="1"/>
          </p:cNvPicPr>
          <p:nvPr/>
        </p:nvPicPr>
        <p:blipFill>
          <a:blip r:embed="rId2"/>
          <a:stretch>
            <a:fillRect/>
          </a:stretch>
        </p:blipFill>
        <p:spPr>
          <a:xfrm>
            <a:off x="5989320" y="1691640"/>
            <a:ext cx="5852160" cy="329184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365760"/>
            <a:ext cx="10515600" cy="1097280"/>
          </a:xfrm>
        </p:spPr>
        <p:txBody>
          <a:bodyPr/>
          <a:lstStyle/>
          <a:p>
            <a:pPr algn="ctr"/>
            <a:r>
              <a:rPr lang="es-MX" sz="3200" b="1" noProof="0" dirty="0">
                <a:solidFill>
                  <a:srgbClr val="000000"/>
                </a:solidFill>
              </a:rPr>
              <a:t>Analizador semántico – RevisionSemantica.java</a:t>
            </a:r>
          </a:p>
        </p:txBody>
      </p:sp>
      <p:sp>
        <p:nvSpPr>
          <p:cNvPr id="3" name="TextBox 2"/>
          <p:cNvSpPr txBox="1"/>
          <p:nvPr/>
        </p:nvSpPr>
        <p:spPr>
          <a:xfrm>
            <a:off x="713232" y="1691640"/>
            <a:ext cx="5120640" cy="4846320"/>
          </a:xfrm>
          <a:prstGeom prst="rect">
            <a:avLst/>
          </a:prstGeom>
          <a:noFill/>
        </p:spPr>
        <p:txBody>
          <a:bodyPr wrap="square" anchor="t">
            <a:spAutoFit/>
          </a:bodyPr>
          <a:lstStyle/>
          <a:p>
            <a:pPr algn="just">
              <a:spcAft>
                <a:spcPts val="800"/>
              </a:spcAft>
            </a:pPr>
            <a:r>
              <a:rPr lang="es-MX" sz="1700" noProof="0" dirty="0"/>
              <a:t>Se desarrolló la clase RevisionSemantica.java, el núcleo de esta actividad. Recorre el AST y, por cada declaración, busca el nombre en la pila de ámbitos para impedir </a:t>
            </a:r>
            <a:r>
              <a:rPr lang="es-MX" sz="1700" noProof="0" dirty="0" err="1"/>
              <a:t>redeclaraciones</a:t>
            </a:r>
            <a:r>
              <a:rPr lang="es-MX" sz="1700" noProof="0" dirty="0"/>
              <a:t>, crea un símbolo con su tipo, ámbito y posición, y lo agrega a la tabla de símbolos.</a:t>
            </a:r>
          </a:p>
          <a:p>
            <a:pPr algn="just">
              <a:spcAft>
                <a:spcPts val="800"/>
              </a:spcAft>
            </a:pPr>
            <a:r>
              <a:rPr lang="es-MX" sz="1700" noProof="0" dirty="0"/>
              <a:t>Además calcula el tipo de cada expresión, verifica que las condiciones de </a:t>
            </a:r>
            <a:r>
              <a:rPr lang="es-MX" sz="1700" noProof="0" dirty="0" err="1"/>
              <a:t>if</a:t>
            </a:r>
            <a:r>
              <a:rPr lang="es-MX" sz="1700" noProof="0" dirty="0"/>
              <a:t> y </a:t>
            </a:r>
            <a:r>
              <a:rPr lang="es-MX" sz="1700" noProof="0" dirty="0" err="1"/>
              <a:t>while</a:t>
            </a:r>
            <a:r>
              <a:rPr lang="es-MX" sz="1700" noProof="0" dirty="0"/>
              <a:t> sean </a:t>
            </a:r>
            <a:r>
              <a:rPr lang="es-MX" sz="1700" noProof="0" dirty="0" err="1"/>
              <a:t>boolean</a:t>
            </a:r>
            <a:r>
              <a:rPr lang="es-MX" sz="1700" noProof="0" dirty="0"/>
              <a:t>, que los operadores reciban operandos válidos y que ninguna variable se use antes de recibir un valor. La compatibilidad de tipos se decide con </a:t>
            </a:r>
            <a:r>
              <a:rPr lang="es-MX" sz="1700" noProof="0" dirty="0" err="1"/>
              <a:t>ReglasTipos</a:t>
            </a:r>
            <a:r>
              <a:rPr lang="es-MX" sz="1700" noProof="0" dirty="0"/>
              <a:t>, que permite promover </a:t>
            </a:r>
            <a:r>
              <a:rPr lang="es-MX" sz="1700" noProof="0" dirty="0" err="1"/>
              <a:t>int</a:t>
            </a:r>
            <a:r>
              <a:rPr lang="es-MX" sz="1700" noProof="0" dirty="0"/>
              <a:t> a </a:t>
            </a:r>
            <a:r>
              <a:rPr lang="es-MX" sz="1700" noProof="0" dirty="0" err="1"/>
              <a:t>double</a:t>
            </a:r>
            <a:r>
              <a:rPr lang="es-MX" sz="1700" noProof="0" dirty="0"/>
              <a:t>.</a:t>
            </a:r>
          </a:p>
        </p:txBody>
      </p:sp>
      <p:pic>
        <p:nvPicPr>
          <p:cNvPr id="6" name="Imagen 5">
            <a:extLst>
              <a:ext uri="{FF2B5EF4-FFF2-40B4-BE49-F238E27FC236}">
                <a16:creationId xmlns:a16="http://schemas.microsoft.com/office/drawing/2014/main" id="{295D8A95-48ED-0580-9D9B-9028AAFB1B11}"/>
              </a:ext>
            </a:extLst>
          </p:cNvPr>
          <p:cNvPicPr>
            <a:picLocks noChangeAspect="1"/>
          </p:cNvPicPr>
          <p:nvPr/>
        </p:nvPicPr>
        <p:blipFill>
          <a:blip r:embed="rId2"/>
          <a:stretch>
            <a:fillRect/>
          </a:stretch>
        </p:blipFill>
        <p:spPr>
          <a:xfrm>
            <a:off x="6259915" y="1691640"/>
            <a:ext cx="5096933" cy="286702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365760"/>
            <a:ext cx="10515600" cy="1097280"/>
          </a:xfrm>
        </p:spPr>
        <p:txBody>
          <a:bodyPr/>
          <a:lstStyle/>
          <a:p>
            <a:pPr algn="ctr"/>
            <a:r>
              <a:rPr lang="es-MX" sz="4000" b="1" noProof="0" dirty="0">
                <a:solidFill>
                  <a:srgbClr val="000000"/>
                </a:solidFill>
              </a:rPr>
              <a:t>Tabla de símbolos</a:t>
            </a:r>
          </a:p>
        </p:txBody>
      </p:sp>
      <p:sp>
        <p:nvSpPr>
          <p:cNvPr id="3" name="TextBox 2"/>
          <p:cNvSpPr txBox="1"/>
          <p:nvPr/>
        </p:nvSpPr>
        <p:spPr>
          <a:xfrm>
            <a:off x="713232" y="1691640"/>
            <a:ext cx="5120640" cy="4846320"/>
          </a:xfrm>
          <a:prstGeom prst="rect">
            <a:avLst/>
          </a:prstGeom>
          <a:noFill/>
        </p:spPr>
        <p:txBody>
          <a:bodyPr wrap="square" anchor="t">
            <a:spAutoFit/>
          </a:bodyPr>
          <a:lstStyle/>
          <a:p>
            <a:pPr algn="just">
              <a:spcAft>
                <a:spcPts val="800"/>
              </a:spcAft>
            </a:pPr>
            <a:r>
              <a:rPr lang="es-MX" sz="1800" noProof="0" dirty="0"/>
              <a:t>Como resultado del análisis semántico se genera la tabla de símbolos, visible en la pestaña Símbolos. Para el programa de ejemplo se registraron seis variables, todas en el ámbito 1, que corresponde al cuerpo del método </a:t>
            </a:r>
            <a:r>
              <a:rPr lang="es-MX" sz="1800" noProof="0" dirty="0" err="1"/>
              <a:t>main</a:t>
            </a:r>
            <a:r>
              <a:rPr lang="es-MX" sz="1800" noProof="0" dirty="0"/>
              <a:t>.</a:t>
            </a:r>
          </a:p>
          <a:p>
            <a:pPr algn="just">
              <a:spcAft>
                <a:spcPts val="800"/>
              </a:spcAft>
            </a:pPr>
            <a:r>
              <a:rPr lang="es-MX" sz="1800" noProof="0" dirty="0"/>
              <a:t>Cada variable recibe una ranura formada por un número secuencial y su nombre, como v0_invitados, v3_precio o v5_mensaje, junto con su tipo (</a:t>
            </a:r>
            <a:r>
              <a:rPr lang="es-MX" sz="1800" noProof="0" dirty="0" err="1"/>
              <a:t>int</a:t>
            </a:r>
            <a:r>
              <a:rPr lang="es-MX" sz="1800" noProof="0" dirty="0"/>
              <a:t>, </a:t>
            </a:r>
            <a:r>
              <a:rPr lang="es-MX" sz="1800" noProof="0" dirty="0" err="1"/>
              <a:t>double</a:t>
            </a:r>
            <a:r>
              <a:rPr lang="es-MX" sz="1800" noProof="0" dirty="0"/>
              <a:t> o String) y la línea y columna donde se declaró. Estas ranuras son las que usan después el código intermedio, el ensamblador y el código objeto.</a:t>
            </a:r>
          </a:p>
        </p:txBody>
      </p:sp>
      <p:pic>
        <p:nvPicPr>
          <p:cNvPr id="4" name="Picture 3" descr="c5.png"/>
          <p:cNvPicPr>
            <a:picLocks noChangeAspect="1"/>
          </p:cNvPicPr>
          <p:nvPr/>
        </p:nvPicPr>
        <p:blipFill>
          <a:blip r:embed="rId2"/>
          <a:stretch>
            <a:fillRect/>
          </a:stretch>
        </p:blipFill>
        <p:spPr>
          <a:xfrm>
            <a:off x="5989320" y="1691640"/>
            <a:ext cx="5852160" cy="329184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365760"/>
            <a:ext cx="10515600" cy="1097280"/>
          </a:xfrm>
        </p:spPr>
        <p:txBody>
          <a:bodyPr/>
          <a:lstStyle/>
          <a:p>
            <a:pPr algn="ctr"/>
            <a:r>
              <a:rPr lang="es-MX" sz="4400" b="1" noProof="0" dirty="0">
                <a:solidFill>
                  <a:srgbClr val="000000"/>
                </a:solidFill>
              </a:rPr>
              <a:t>Detección de errores semánticos</a:t>
            </a:r>
          </a:p>
        </p:txBody>
      </p:sp>
      <p:sp>
        <p:nvSpPr>
          <p:cNvPr id="3" name="TextBox 2"/>
          <p:cNvSpPr txBox="1"/>
          <p:nvPr/>
        </p:nvSpPr>
        <p:spPr>
          <a:xfrm>
            <a:off x="713232" y="1691640"/>
            <a:ext cx="5120640" cy="4846320"/>
          </a:xfrm>
          <a:prstGeom prst="rect">
            <a:avLst/>
          </a:prstGeom>
          <a:noFill/>
        </p:spPr>
        <p:txBody>
          <a:bodyPr wrap="square" anchor="t">
            <a:spAutoFit/>
          </a:bodyPr>
          <a:lstStyle/>
          <a:p>
            <a:pPr algn="just">
              <a:spcAft>
                <a:spcPts val="800"/>
              </a:spcAft>
            </a:pPr>
            <a:r>
              <a:rPr lang="es-MX" sz="1800" noProof="0" dirty="0"/>
              <a:t>Cuando el analizador encuentra un error, la compilación se detiene y la consola muestra la fase, la línea, la columna y la causa del problema, sin generar código.</a:t>
            </a:r>
          </a:p>
          <a:p>
            <a:pPr algn="just">
              <a:spcAft>
                <a:spcPts val="800"/>
              </a:spcAft>
            </a:pPr>
            <a:r>
              <a:rPr lang="es-MX" sz="1800" noProof="0" dirty="0"/>
              <a:t>Por ejemplo, para la instrucción </a:t>
            </a:r>
            <a:r>
              <a:rPr lang="es-MX" sz="1800" noProof="0" dirty="0" err="1"/>
              <a:t>int</a:t>
            </a:r>
            <a:r>
              <a:rPr lang="es-MX" sz="1800" noProof="0" dirty="0"/>
              <a:t> cantidad = "tres"; el compilador reporta: ERROR SEMÁNTICO, línea 3, columna 24: No se puede asignar String a </a:t>
            </a:r>
            <a:r>
              <a:rPr lang="es-MX" sz="1800" noProof="0" dirty="0" err="1"/>
              <a:t>int</a:t>
            </a:r>
            <a:r>
              <a:rPr lang="es-MX" sz="1800" noProof="0" dirty="0"/>
              <a:t>. El botón Ejecutar permanece deshabilitado hasta que el programa se corrige.</a:t>
            </a:r>
          </a:p>
        </p:txBody>
      </p:sp>
      <p:pic>
        <p:nvPicPr>
          <p:cNvPr id="6" name="Imagen 5">
            <a:extLst>
              <a:ext uri="{FF2B5EF4-FFF2-40B4-BE49-F238E27FC236}">
                <a16:creationId xmlns:a16="http://schemas.microsoft.com/office/drawing/2014/main" id="{C48F1C5D-387C-41F3-CE8B-6D62DBB545CB}"/>
              </a:ext>
            </a:extLst>
          </p:cNvPr>
          <p:cNvPicPr>
            <a:picLocks noChangeAspect="1"/>
          </p:cNvPicPr>
          <p:nvPr/>
        </p:nvPicPr>
        <p:blipFill>
          <a:blip r:embed="rId2"/>
          <a:stretch>
            <a:fillRect/>
          </a:stretch>
        </p:blipFill>
        <p:spPr>
          <a:xfrm>
            <a:off x="6167966" y="1691640"/>
            <a:ext cx="5452533" cy="306705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365760"/>
            <a:ext cx="10515600" cy="1097280"/>
          </a:xfrm>
        </p:spPr>
        <p:txBody>
          <a:bodyPr/>
          <a:lstStyle/>
          <a:p>
            <a:pPr algn="ctr"/>
            <a:r>
              <a:rPr lang="es-MX" sz="4400" b="1" noProof="0" dirty="0">
                <a:solidFill>
                  <a:srgbClr val="000000"/>
                </a:solidFill>
              </a:rPr>
              <a:t>Pruebas del analizador semántico</a:t>
            </a:r>
          </a:p>
        </p:txBody>
      </p:sp>
      <p:graphicFrame>
        <p:nvGraphicFramePr>
          <p:cNvPr id="3" name="Table 2"/>
          <p:cNvGraphicFramePr>
            <a:graphicFrameLocks noGrp="1"/>
          </p:cNvGraphicFramePr>
          <p:nvPr>
            <p:extLst>
              <p:ext uri="{D42A27DB-BD31-4B8C-83A1-F6EECF244321}">
                <p14:modId xmlns:p14="http://schemas.microsoft.com/office/powerpoint/2010/main" val="1770955658"/>
              </p:ext>
            </p:extLst>
          </p:nvPr>
        </p:nvGraphicFramePr>
        <p:xfrm>
          <a:off x="841248" y="1691640"/>
          <a:ext cx="10515600" cy="4114800"/>
        </p:xfrm>
        <a:graphic>
          <a:graphicData uri="http://schemas.openxmlformats.org/drawingml/2006/table">
            <a:tbl>
              <a:tblPr firstRow="1" bandRow="1">
                <a:tableStyleId>{5C22544A-7EE6-4342-B048-85BDC9FD1C3A}</a:tableStyleId>
              </a:tblPr>
              <a:tblGrid>
                <a:gridCol w="3566160">
                  <a:extLst>
                    <a:ext uri="{9D8B030D-6E8A-4147-A177-3AD203B41FA5}">
                      <a16:colId xmlns:a16="http://schemas.microsoft.com/office/drawing/2014/main" val="20000"/>
                    </a:ext>
                  </a:extLst>
                </a:gridCol>
                <a:gridCol w="2377440">
                  <a:extLst>
                    <a:ext uri="{9D8B030D-6E8A-4147-A177-3AD203B41FA5}">
                      <a16:colId xmlns:a16="http://schemas.microsoft.com/office/drawing/2014/main" val="20001"/>
                    </a:ext>
                  </a:extLst>
                </a:gridCol>
                <a:gridCol w="4572000">
                  <a:extLst>
                    <a:ext uri="{9D8B030D-6E8A-4147-A177-3AD203B41FA5}">
                      <a16:colId xmlns:a16="http://schemas.microsoft.com/office/drawing/2014/main" val="20002"/>
                    </a:ext>
                  </a:extLst>
                </a:gridCol>
              </a:tblGrid>
              <a:tr h="502920">
                <a:tc>
                  <a:txBody>
                    <a:bodyPr/>
                    <a:lstStyle/>
                    <a:p>
                      <a:r>
                        <a:rPr lang="es-MX" sz="1800" b="1" noProof="0" dirty="0">
                          <a:solidFill>
                            <a:schemeClr val="tx1"/>
                          </a:solidFill>
                        </a:rPr>
                        <a:t>Código de prueba</a:t>
                      </a:r>
                    </a:p>
                  </a:txBody>
                  <a:tcPr/>
                </a:tc>
                <a:tc>
                  <a:txBody>
                    <a:bodyPr/>
                    <a:lstStyle/>
                    <a:p>
                      <a:r>
                        <a:rPr lang="es-MX" sz="1800" b="1" noProof="0" dirty="0">
                          <a:solidFill>
                            <a:schemeClr val="tx1"/>
                          </a:solidFill>
                        </a:rPr>
                        <a:t>Regla verificada</a:t>
                      </a:r>
                    </a:p>
                  </a:txBody>
                  <a:tcPr/>
                </a:tc>
                <a:tc>
                  <a:txBody>
                    <a:bodyPr/>
                    <a:lstStyle/>
                    <a:p>
                      <a:r>
                        <a:rPr lang="es-MX" sz="1800" b="1" noProof="0" dirty="0">
                          <a:solidFill>
                            <a:schemeClr val="tx1"/>
                          </a:solidFill>
                        </a:rPr>
                        <a:t>Resultado del compilador</a:t>
                      </a:r>
                    </a:p>
                  </a:txBody>
                  <a:tcPr/>
                </a:tc>
                <a:extLst>
                  <a:ext uri="{0D108BD9-81ED-4DB2-BD59-A6C34878D82A}">
                    <a16:rowId xmlns:a16="http://schemas.microsoft.com/office/drawing/2014/main" val="10000"/>
                  </a:ext>
                </a:extLst>
              </a:tr>
              <a:tr h="502920">
                <a:tc>
                  <a:txBody>
                    <a:bodyPr/>
                    <a:lstStyle/>
                    <a:p>
                      <a:r>
                        <a:rPr lang="es-MX" sz="1600" b="0" noProof="0" dirty="0" err="1">
                          <a:solidFill>
                            <a:schemeClr val="tx1"/>
                          </a:solidFill>
                          <a:latin typeface="Consolas"/>
                        </a:rPr>
                        <a:t>int</a:t>
                      </a:r>
                      <a:r>
                        <a:rPr lang="es-MX" sz="1600" b="0" noProof="0" dirty="0">
                          <a:solidFill>
                            <a:schemeClr val="tx1"/>
                          </a:solidFill>
                          <a:latin typeface="Consolas"/>
                        </a:rPr>
                        <a:t> cantidad = "tres";</a:t>
                      </a:r>
                    </a:p>
                  </a:txBody>
                  <a:tcPr/>
                </a:tc>
                <a:tc>
                  <a:txBody>
                    <a:bodyPr/>
                    <a:lstStyle/>
                    <a:p>
                      <a:r>
                        <a:rPr lang="es-MX" sz="1600" b="0" noProof="0" dirty="0">
                          <a:solidFill>
                            <a:schemeClr val="tx1"/>
                          </a:solidFill>
                        </a:rPr>
                        <a:t>Compatibilidad de tipos</a:t>
                      </a:r>
                    </a:p>
                  </a:txBody>
                  <a:tcPr/>
                </a:tc>
                <a:tc>
                  <a:txBody>
                    <a:bodyPr/>
                    <a:lstStyle/>
                    <a:p>
                      <a:r>
                        <a:rPr lang="es-MX" sz="1600" b="0" noProof="0" dirty="0">
                          <a:solidFill>
                            <a:schemeClr val="tx1"/>
                          </a:solidFill>
                        </a:rPr>
                        <a:t>3:24 – No se puede asignar String a </a:t>
                      </a:r>
                      <a:r>
                        <a:rPr lang="es-MX" sz="1600" b="0" noProof="0" dirty="0" err="1">
                          <a:solidFill>
                            <a:schemeClr val="tx1"/>
                          </a:solidFill>
                        </a:rPr>
                        <a:t>int</a:t>
                      </a:r>
                      <a:r>
                        <a:rPr lang="es-MX" sz="1600" b="0" noProof="0" dirty="0">
                          <a:solidFill>
                            <a:schemeClr val="tx1"/>
                          </a:solidFill>
                        </a:rPr>
                        <a:t>.</a:t>
                      </a:r>
                    </a:p>
                  </a:txBody>
                  <a:tcPr/>
                </a:tc>
                <a:extLst>
                  <a:ext uri="{0D108BD9-81ED-4DB2-BD59-A6C34878D82A}">
                    <a16:rowId xmlns:a16="http://schemas.microsoft.com/office/drawing/2014/main" val="10001"/>
                  </a:ext>
                </a:extLst>
              </a:tr>
              <a:tr h="502920">
                <a:tc>
                  <a:txBody>
                    <a:bodyPr/>
                    <a:lstStyle/>
                    <a:p>
                      <a:r>
                        <a:rPr lang="es-MX" sz="1600" b="0" noProof="0" dirty="0" err="1">
                          <a:solidFill>
                            <a:schemeClr val="tx1"/>
                          </a:solidFill>
                          <a:latin typeface="Consolas"/>
                        </a:rPr>
                        <a:t>print</a:t>
                      </a:r>
                      <a:r>
                        <a:rPr lang="es-MX" sz="1600" b="0" noProof="0" dirty="0">
                          <a:solidFill>
                            <a:schemeClr val="tx1"/>
                          </a:solidFill>
                          <a:latin typeface="Consolas"/>
                        </a:rPr>
                        <a:t>(suma);</a:t>
                      </a:r>
                    </a:p>
                  </a:txBody>
                  <a:tcPr/>
                </a:tc>
                <a:tc>
                  <a:txBody>
                    <a:bodyPr/>
                    <a:lstStyle/>
                    <a:p>
                      <a:r>
                        <a:rPr lang="es-MX" sz="1600" b="0" noProof="0" dirty="0">
                          <a:solidFill>
                            <a:schemeClr val="tx1"/>
                          </a:solidFill>
                        </a:rPr>
                        <a:t>Variable declarada</a:t>
                      </a:r>
                    </a:p>
                  </a:txBody>
                  <a:tcPr/>
                </a:tc>
                <a:tc>
                  <a:txBody>
                    <a:bodyPr/>
                    <a:lstStyle/>
                    <a:p>
                      <a:r>
                        <a:rPr lang="es-MX" sz="1600" b="0" noProof="0" dirty="0">
                          <a:solidFill>
                            <a:schemeClr val="tx1"/>
                          </a:solidFill>
                        </a:rPr>
                        <a:t>4:15 – La variable 'suma' no está declarada.</a:t>
                      </a:r>
                    </a:p>
                  </a:txBody>
                  <a:tcPr/>
                </a:tc>
                <a:extLst>
                  <a:ext uri="{0D108BD9-81ED-4DB2-BD59-A6C34878D82A}">
                    <a16:rowId xmlns:a16="http://schemas.microsoft.com/office/drawing/2014/main" val="10002"/>
                  </a:ext>
                </a:extLst>
              </a:tr>
              <a:tr h="502920">
                <a:tc>
                  <a:txBody>
                    <a:bodyPr/>
                    <a:lstStyle/>
                    <a:p>
                      <a:r>
                        <a:rPr lang="es-MX" sz="1600" b="0" noProof="0" dirty="0" err="1">
                          <a:solidFill>
                            <a:schemeClr val="tx1"/>
                          </a:solidFill>
                          <a:latin typeface="Consolas"/>
                        </a:rPr>
                        <a:t>int</a:t>
                      </a:r>
                      <a:r>
                        <a:rPr lang="es-MX" sz="1600" b="0" noProof="0" dirty="0">
                          <a:solidFill>
                            <a:schemeClr val="tx1"/>
                          </a:solidFill>
                          <a:latin typeface="Consolas"/>
                        </a:rPr>
                        <a:t> edad; </a:t>
                      </a:r>
                      <a:r>
                        <a:rPr lang="es-MX" sz="1600" b="0" noProof="0" dirty="0" err="1">
                          <a:solidFill>
                            <a:schemeClr val="tx1"/>
                          </a:solidFill>
                          <a:latin typeface="Consolas"/>
                        </a:rPr>
                        <a:t>print</a:t>
                      </a:r>
                      <a:r>
                        <a:rPr lang="es-MX" sz="1600" b="0" noProof="0" dirty="0">
                          <a:solidFill>
                            <a:schemeClr val="tx1"/>
                          </a:solidFill>
                          <a:latin typeface="Consolas"/>
                        </a:rPr>
                        <a:t>(edad);</a:t>
                      </a:r>
                    </a:p>
                  </a:txBody>
                  <a:tcPr/>
                </a:tc>
                <a:tc>
                  <a:txBody>
                    <a:bodyPr/>
                    <a:lstStyle/>
                    <a:p>
                      <a:r>
                        <a:rPr lang="es-MX" sz="1600" b="0" noProof="0" dirty="0">
                          <a:solidFill>
                            <a:schemeClr val="tx1"/>
                          </a:solidFill>
                        </a:rPr>
                        <a:t>Uso antes de asignar</a:t>
                      </a:r>
                    </a:p>
                  </a:txBody>
                  <a:tcPr/>
                </a:tc>
                <a:tc>
                  <a:txBody>
                    <a:bodyPr/>
                    <a:lstStyle/>
                    <a:p>
                      <a:r>
                        <a:rPr lang="es-MX" sz="1600" b="0" noProof="0" dirty="0">
                          <a:solidFill>
                            <a:schemeClr val="tx1"/>
                          </a:solidFill>
                        </a:rPr>
                        <a:t>4:15 – La variable 'edad' se usa antes de recibir un valor.</a:t>
                      </a:r>
                    </a:p>
                  </a:txBody>
                  <a:tcPr/>
                </a:tc>
                <a:extLst>
                  <a:ext uri="{0D108BD9-81ED-4DB2-BD59-A6C34878D82A}">
                    <a16:rowId xmlns:a16="http://schemas.microsoft.com/office/drawing/2014/main" val="10003"/>
                  </a:ext>
                </a:extLst>
              </a:tr>
              <a:tr h="502920">
                <a:tc>
                  <a:txBody>
                    <a:bodyPr/>
                    <a:lstStyle/>
                    <a:p>
                      <a:r>
                        <a:rPr lang="es-MX" sz="1600" b="0" noProof="0" dirty="0" err="1">
                          <a:solidFill>
                            <a:schemeClr val="tx1"/>
                          </a:solidFill>
                          <a:latin typeface="Consolas"/>
                        </a:rPr>
                        <a:t>int</a:t>
                      </a:r>
                      <a:r>
                        <a:rPr lang="es-MX" sz="1600" b="0" noProof="0" dirty="0">
                          <a:solidFill>
                            <a:schemeClr val="tx1"/>
                          </a:solidFill>
                          <a:latin typeface="Consolas"/>
                        </a:rPr>
                        <a:t> x = 5; </a:t>
                      </a:r>
                      <a:r>
                        <a:rPr lang="es-MX" sz="1600" b="0" noProof="0" dirty="0" err="1">
                          <a:solidFill>
                            <a:schemeClr val="tx1"/>
                          </a:solidFill>
                          <a:latin typeface="Consolas"/>
                        </a:rPr>
                        <a:t>if</a:t>
                      </a:r>
                      <a:r>
                        <a:rPr lang="es-MX" sz="1600" b="0" noProof="0" dirty="0">
                          <a:solidFill>
                            <a:schemeClr val="tx1"/>
                          </a:solidFill>
                          <a:latin typeface="Consolas"/>
                        </a:rPr>
                        <a:t> (x) { … }</a:t>
                      </a:r>
                    </a:p>
                  </a:txBody>
                  <a:tcPr/>
                </a:tc>
                <a:tc>
                  <a:txBody>
                    <a:bodyPr/>
                    <a:lstStyle/>
                    <a:p>
                      <a:r>
                        <a:rPr lang="es-MX" sz="1600" b="0" noProof="0" dirty="0">
                          <a:solidFill>
                            <a:schemeClr val="tx1"/>
                          </a:solidFill>
                        </a:rPr>
                        <a:t>Condición </a:t>
                      </a:r>
                      <a:r>
                        <a:rPr lang="es-MX" sz="1600" b="0" noProof="0" dirty="0" err="1">
                          <a:solidFill>
                            <a:schemeClr val="tx1"/>
                          </a:solidFill>
                        </a:rPr>
                        <a:t>boolean</a:t>
                      </a:r>
                      <a:endParaRPr lang="es-MX" sz="1600" b="0" noProof="0" dirty="0">
                        <a:solidFill>
                          <a:schemeClr val="tx1"/>
                        </a:solidFill>
                      </a:endParaRPr>
                    </a:p>
                  </a:txBody>
                  <a:tcPr/>
                </a:tc>
                <a:tc>
                  <a:txBody>
                    <a:bodyPr/>
                    <a:lstStyle/>
                    <a:p>
                      <a:r>
                        <a:rPr lang="es-MX" sz="1600" b="0" noProof="0" dirty="0">
                          <a:solidFill>
                            <a:schemeClr val="tx1"/>
                          </a:solidFill>
                        </a:rPr>
                        <a:t>4:13 – La condición debe ser </a:t>
                      </a:r>
                      <a:r>
                        <a:rPr lang="es-MX" sz="1600" b="0" noProof="0" dirty="0" err="1">
                          <a:solidFill>
                            <a:schemeClr val="tx1"/>
                          </a:solidFill>
                        </a:rPr>
                        <a:t>boolean</a:t>
                      </a:r>
                      <a:r>
                        <a:rPr lang="es-MX" sz="1600" b="0" noProof="0" dirty="0">
                          <a:solidFill>
                            <a:schemeClr val="tx1"/>
                          </a:solidFill>
                        </a:rPr>
                        <a:t>.</a:t>
                      </a:r>
                    </a:p>
                  </a:txBody>
                  <a:tcPr/>
                </a:tc>
                <a:extLst>
                  <a:ext uri="{0D108BD9-81ED-4DB2-BD59-A6C34878D82A}">
                    <a16:rowId xmlns:a16="http://schemas.microsoft.com/office/drawing/2014/main" val="10004"/>
                  </a:ext>
                </a:extLst>
              </a:tr>
              <a:tr h="502920">
                <a:tc>
                  <a:txBody>
                    <a:bodyPr/>
                    <a:lstStyle/>
                    <a:p>
                      <a:r>
                        <a:rPr lang="es-MX" sz="1600" b="0" noProof="0" dirty="0" err="1">
                          <a:solidFill>
                            <a:schemeClr val="tx1"/>
                          </a:solidFill>
                          <a:latin typeface="Consolas"/>
                        </a:rPr>
                        <a:t>int</a:t>
                      </a:r>
                      <a:r>
                        <a:rPr lang="es-MX" sz="1600" b="0" noProof="0" dirty="0">
                          <a:solidFill>
                            <a:schemeClr val="tx1"/>
                          </a:solidFill>
                          <a:latin typeface="Consolas"/>
                        </a:rPr>
                        <a:t> x = 1; </a:t>
                      </a:r>
                      <a:r>
                        <a:rPr lang="es-MX" sz="1600" b="0" noProof="0" dirty="0" err="1">
                          <a:solidFill>
                            <a:schemeClr val="tx1"/>
                          </a:solidFill>
                          <a:latin typeface="Consolas"/>
                        </a:rPr>
                        <a:t>double</a:t>
                      </a:r>
                      <a:r>
                        <a:rPr lang="es-MX" sz="1600" b="0" noProof="0" dirty="0">
                          <a:solidFill>
                            <a:schemeClr val="tx1"/>
                          </a:solidFill>
                          <a:latin typeface="Consolas"/>
                        </a:rPr>
                        <a:t> x = 2.5;</a:t>
                      </a:r>
                    </a:p>
                  </a:txBody>
                  <a:tcPr/>
                </a:tc>
                <a:tc>
                  <a:txBody>
                    <a:bodyPr/>
                    <a:lstStyle/>
                    <a:p>
                      <a:r>
                        <a:rPr lang="es-MX" sz="1600" b="0" noProof="0" dirty="0" err="1">
                          <a:solidFill>
                            <a:schemeClr val="tx1"/>
                          </a:solidFill>
                        </a:rPr>
                        <a:t>Redeclaración</a:t>
                      </a:r>
                      <a:endParaRPr lang="es-MX" sz="1600" b="0" noProof="0" dirty="0">
                        <a:solidFill>
                          <a:schemeClr val="tx1"/>
                        </a:solidFill>
                      </a:endParaRPr>
                    </a:p>
                  </a:txBody>
                  <a:tcPr/>
                </a:tc>
                <a:tc>
                  <a:txBody>
                    <a:bodyPr/>
                    <a:lstStyle/>
                    <a:p>
                      <a:r>
                        <a:rPr lang="es-MX" sz="1600" b="0" noProof="0" dirty="0">
                          <a:solidFill>
                            <a:schemeClr val="tx1"/>
                          </a:solidFill>
                        </a:rPr>
                        <a:t>4:16 – La variable 'x' ya fue declarada en un ámbito visible.</a:t>
                      </a:r>
                    </a:p>
                  </a:txBody>
                  <a:tcPr/>
                </a:tc>
                <a:extLst>
                  <a:ext uri="{0D108BD9-81ED-4DB2-BD59-A6C34878D82A}">
                    <a16:rowId xmlns:a16="http://schemas.microsoft.com/office/drawing/2014/main" val="10005"/>
                  </a:ext>
                </a:extLst>
              </a:tr>
              <a:tr h="502920">
                <a:tc>
                  <a:txBody>
                    <a:bodyPr/>
                    <a:lstStyle/>
                    <a:p>
                      <a:r>
                        <a:rPr lang="es-MX" sz="1600" b="0" noProof="0" dirty="0" err="1">
                          <a:solidFill>
                            <a:schemeClr val="tx1"/>
                          </a:solidFill>
                          <a:latin typeface="Consolas"/>
                        </a:rPr>
                        <a:t>boolean</a:t>
                      </a:r>
                      <a:r>
                        <a:rPr lang="es-MX" sz="1600" b="0" noProof="0" dirty="0">
                          <a:solidFill>
                            <a:schemeClr val="tx1"/>
                          </a:solidFill>
                          <a:latin typeface="Consolas"/>
                        </a:rPr>
                        <a:t> ok = true; </a:t>
                      </a:r>
                      <a:r>
                        <a:rPr lang="es-MX" sz="1600" b="0" noProof="0" dirty="0" err="1">
                          <a:solidFill>
                            <a:schemeClr val="tx1"/>
                          </a:solidFill>
                          <a:latin typeface="Consolas"/>
                        </a:rPr>
                        <a:t>int</a:t>
                      </a:r>
                      <a:r>
                        <a:rPr lang="es-MX" sz="1600" b="0" noProof="0" dirty="0">
                          <a:solidFill>
                            <a:schemeClr val="tx1"/>
                          </a:solidFill>
                          <a:latin typeface="Consolas"/>
                        </a:rPr>
                        <a:t> r = ok + 1;</a:t>
                      </a:r>
                    </a:p>
                  </a:txBody>
                  <a:tcPr/>
                </a:tc>
                <a:tc>
                  <a:txBody>
                    <a:bodyPr/>
                    <a:lstStyle/>
                    <a:p>
                      <a:r>
                        <a:rPr lang="es-MX" sz="1600" b="0" noProof="0" dirty="0">
                          <a:solidFill>
                            <a:schemeClr val="tx1"/>
                          </a:solidFill>
                        </a:rPr>
                        <a:t>Operandos numéricos</a:t>
                      </a:r>
                    </a:p>
                  </a:txBody>
                  <a:tcPr/>
                </a:tc>
                <a:tc>
                  <a:txBody>
                    <a:bodyPr/>
                    <a:lstStyle/>
                    <a:p>
                      <a:r>
                        <a:rPr lang="es-MX" sz="1600" b="0" noProof="0" dirty="0">
                          <a:solidFill>
                            <a:schemeClr val="tx1"/>
                          </a:solidFill>
                        </a:rPr>
                        <a:t>4:20 – '+' requiere operandos numéricos.</a:t>
                      </a:r>
                    </a:p>
                  </a:txBody>
                  <a:tcPr/>
                </a:tc>
                <a:extLst>
                  <a:ext uri="{0D108BD9-81ED-4DB2-BD59-A6C34878D82A}">
                    <a16:rowId xmlns:a16="http://schemas.microsoft.com/office/drawing/2014/main" val="10006"/>
                  </a:ext>
                </a:extLst>
              </a:tr>
              <a:tr h="502920">
                <a:tc>
                  <a:txBody>
                    <a:bodyPr/>
                    <a:lstStyle/>
                    <a:p>
                      <a:r>
                        <a:rPr lang="es-MX" sz="1600" b="0" noProof="0" dirty="0" err="1">
                          <a:solidFill>
                            <a:schemeClr val="tx1"/>
                          </a:solidFill>
                          <a:latin typeface="Consolas"/>
                        </a:rPr>
                        <a:t>int</a:t>
                      </a:r>
                      <a:r>
                        <a:rPr lang="es-MX" sz="1600" b="0" noProof="0" dirty="0">
                          <a:solidFill>
                            <a:schemeClr val="tx1"/>
                          </a:solidFill>
                          <a:latin typeface="Consolas"/>
                        </a:rPr>
                        <a:t> n = 3; </a:t>
                      </a:r>
                      <a:r>
                        <a:rPr lang="es-MX" sz="1600" b="0" noProof="0" dirty="0" err="1">
                          <a:solidFill>
                            <a:schemeClr val="tx1"/>
                          </a:solidFill>
                          <a:latin typeface="Consolas"/>
                        </a:rPr>
                        <a:t>double</a:t>
                      </a:r>
                      <a:r>
                        <a:rPr lang="es-MX" sz="1600" b="0" noProof="0" dirty="0">
                          <a:solidFill>
                            <a:schemeClr val="tx1"/>
                          </a:solidFill>
                          <a:latin typeface="Consolas"/>
                        </a:rPr>
                        <a:t> d = n;</a:t>
                      </a:r>
                    </a:p>
                  </a:txBody>
                  <a:tcPr/>
                </a:tc>
                <a:tc>
                  <a:txBody>
                    <a:bodyPr/>
                    <a:lstStyle/>
                    <a:p>
                      <a:r>
                        <a:rPr lang="es-MX" sz="1600" b="0" noProof="0" dirty="0">
                          <a:solidFill>
                            <a:schemeClr val="tx1"/>
                          </a:solidFill>
                        </a:rPr>
                        <a:t>Promoción </a:t>
                      </a:r>
                      <a:r>
                        <a:rPr lang="es-MX" sz="1600" b="0" noProof="0" dirty="0" err="1">
                          <a:solidFill>
                            <a:schemeClr val="tx1"/>
                          </a:solidFill>
                        </a:rPr>
                        <a:t>int</a:t>
                      </a:r>
                      <a:r>
                        <a:rPr lang="es-MX" sz="1600" b="0" noProof="0" dirty="0">
                          <a:solidFill>
                            <a:schemeClr val="tx1"/>
                          </a:solidFill>
                        </a:rPr>
                        <a:t> → </a:t>
                      </a:r>
                      <a:r>
                        <a:rPr lang="es-MX" sz="1600" b="0" noProof="0" dirty="0" err="1">
                          <a:solidFill>
                            <a:schemeClr val="tx1"/>
                          </a:solidFill>
                        </a:rPr>
                        <a:t>double</a:t>
                      </a:r>
                      <a:endParaRPr lang="es-MX" sz="1600" b="0" noProof="0" dirty="0">
                        <a:solidFill>
                          <a:schemeClr val="tx1"/>
                        </a:solidFill>
                      </a:endParaRPr>
                    </a:p>
                  </a:txBody>
                  <a:tcPr/>
                </a:tc>
                <a:tc>
                  <a:txBody>
                    <a:bodyPr/>
                    <a:lstStyle/>
                    <a:p>
                      <a:r>
                        <a:rPr lang="es-MX" sz="1600" b="0" noProof="0" dirty="0">
                          <a:solidFill>
                            <a:schemeClr val="tx1"/>
                          </a:solidFill>
                        </a:rPr>
                        <a:t>Compilación correcta.</a:t>
                      </a:r>
                    </a:p>
                  </a:txBody>
                  <a:tcPr/>
                </a:tc>
                <a:extLst>
                  <a:ext uri="{0D108BD9-81ED-4DB2-BD59-A6C34878D82A}">
                    <a16:rowId xmlns:a16="http://schemas.microsoft.com/office/drawing/2014/main" val="10007"/>
                  </a:ext>
                </a:extLst>
              </a:tr>
            </a:tbl>
          </a:graphicData>
        </a:graphic>
      </p:graphicFrame>
      <p:sp>
        <p:nvSpPr>
          <p:cNvPr id="4" name="TextBox 3"/>
          <p:cNvSpPr txBox="1"/>
          <p:nvPr/>
        </p:nvSpPr>
        <p:spPr>
          <a:xfrm>
            <a:off x="841248" y="5897880"/>
            <a:ext cx="10515600" cy="457200"/>
          </a:xfrm>
          <a:prstGeom prst="rect">
            <a:avLst/>
          </a:prstGeom>
          <a:noFill/>
        </p:spPr>
        <p:txBody>
          <a:bodyPr wrap="square" anchor="t">
            <a:spAutoFit/>
          </a:bodyPr>
          <a:lstStyle/>
          <a:p>
            <a:pPr algn="just">
              <a:spcAft>
                <a:spcPts val="800"/>
              </a:spcAft>
            </a:pPr>
            <a:r>
              <a:rPr lang="es-MX" sz="1400" noProof="0" dirty="0"/>
              <a:t>Resultados obtenidos al compilar cada caso de prueba; la columna derecha indica </a:t>
            </a:r>
            <a:r>
              <a:rPr lang="es-MX" sz="1400" noProof="0" dirty="0" err="1"/>
              <a:t>línea:columna</a:t>
            </a:r>
            <a:r>
              <a:rPr lang="es-MX" sz="1400" noProof="0" dirty="0"/>
              <a:t> y el mensaje que muestra la consola.</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365760"/>
            <a:ext cx="10515600" cy="1097280"/>
          </a:xfrm>
        </p:spPr>
        <p:txBody>
          <a:bodyPr/>
          <a:lstStyle/>
          <a:p>
            <a:pPr algn="ctr"/>
            <a:r>
              <a:rPr lang="es-MX" sz="4000" b="1" noProof="0" dirty="0">
                <a:solidFill>
                  <a:srgbClr val="000000"/>
                </a:solidFill>
              </a:rPr>
              <a:t>Prueba 1 – Tipos incompatibles</a:t>
            </a:r>
          </a:p>
        </p:txBody>
      </p:sp>
      <p:sp>
        <p:nvSpPr>
          <p:cNvPr id="3" name="TextBox 2"/>
          <p:cNvSpPr txBox="1"/>
          <p:nvPr/>
        </p:nvSpPr>
        <p:spPr>
          <a:xfrm>
            <a:off x="713232" y="1691640"/>
            <a:ext cx="5120640" cy="2513509"/>
          </a:xfrm>
          <a:prstGeom prst="rect">
            <a:avLst/>
          </a:prstGeom>
          <a:noFill/>
        </p:spPr>
        <p:txBody>
          <a:bodyPr wrap="square" anchor="t">
            <a:spAutoFit/>
          </a:bodyPr>
          <a:lstStyle/>
          <a:p>
            <a:pPr algn="just">
              <a:spcAft>
                <a:spcPts val="800"/>
              </a:spcAft>
            </a:pPr>
            <a:r>
              <a:rPr lang="es-MX" sz="1800" b="1" noProof="0" dirty="0"/>
              <a:t>prueba: </a:t>
            </a:r>
            <a:r>
              <a:rPr lang="es-MX" sz="1600" b="0" noProof="0" dirty="0" err="1">
                <a:latin typeface="Consolas"/>
              </a:rPr>
              <a:t>int</a:t>
            </a:r>
            <a:r>
              <a:rPr lang="es-MX" sz="1600" b="0" noProof="0" dirty="0">
                <a:latin typeface="Consolas"/>
              </a:rPr>
              <a:t> cantidad = "tres";</a:t>
            </a:r>
          </a:p>
          <a:p>
            <a:pPr algn="just">
              <a:spcAft>
                <a:spcPts val="800"/>
              </a:spcAft>
            </a:pPr>
            <a:r>
              <a:rPr lang="es-MX" sz="1800" b="0" noProof="0" dirty="0"/>
              <a:t>Se declara una variable de tipo </a:t>
            </a:r>
            <a:r>
              <a:rPr lang="es-MX" sz="1800" b="0" noProof="0" dirty="0" err="1"/>
              <a:t>int</a:t>
            </a:r>
            <a:r>
              <a:rPr lang="es-MX" sz="1800" b="0" noProof="0" dirty="0"/>
              <a:t> y se le asigna una cadena. El analizador compara el tipo del destino (</a:t>
            </a:r>
            <a:r>
              <a:rPr lang="es-MX" sz="1800" b="0" noProof="0" dirty="0" err="1"/>
              <a:t>int</a:t>
            </a:r>
            <a:r>
              <a:rPr lang="es-MX" sz="1800" b="0" noProof="0" dirty="0"/>
              <a:t>) con el tipo de la expresión (String) mediante </a:t>
            </a:r>
            <a:r>
              <a:rPr lang="es-MX" sz="1800" b="0" noProof="0" dirty="0" err="1"/>
              <a:t>ReglasTipos</a:t>
            </a:r>
            <a:r>
              <a:rPr lang="es-MX" sz="1800" b="0" noProof="0" dirty="0"/>
              <a:t> y rechaza la asignación.</a:t>
            </a:r>
          </a:p>
          <a:p>
            <a:pPr algn="just">
              <a:spcAft>
                <a:spcPts val="800"/>
              </a:spcAft>
            </a:pPr>
            <a:r>
              <a:rPr lang="es-MX" sz="1800" b="1" noProof="0" dirty="0"/>
              <a:t>Resultado: </a:t>
            </a:r>
            <a:r>
              <a:rPr lang="es-MX" sz="1800" b="0" noProof="0" dirty="0"/>
              <a:t>ERROR SEMÁNTICO, línea 3, columna 24: No se puede asignar String a </a:t>
            </a:r>
            <a:r>
              <a:rPr lang="es-MX" sz="1800" b="0" noProof="0" dirty="0" err="1"/>
              <a:t>int</a:t>
            </a:r>
            <a:r>
              <a:rPr lang="es-MX" sz="1800" b="0" noProof="0" dirty="0"/>
              <a:t>. El editor resalta "tres" y el botón Ejecutar queda deshabilitado.</a:t>
            </a:r>
          </a:p>
        </p:txBody>
      </p:sp>
      <p:pic>
        <p:nvPicPr>
          <p:cNvPr id="4" name="Picture 3" descr="bdd1e6e1-image.png"/>
          <p:cNvPicPr>
            <a:picLocks noChangeAspect="1"/>
          </p:cNvPicPr>
          <p:nvPr/>
        </p:nvPicPr>
        <p:blipFill>
          <a:blip r:embed="rId2"/>
          <a:stretch>
            <a:fillRect/>
          </a:stretch>
        </p:blipFill>
        <p:spPr>
          <a:xfrm>
            <a:off x="5989320" y="1691640"/>
            <a:ext cx="5852160" cy="329184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365760"/>
            <a:ext cx="10515600" cy="1097280"/>
          </a:xfrm>
        </p:spPr>
        <p:txBody>
          <a:bodyPr/>
          <a:lstStyle/>
          <a:p>
            <a:pPr algn="ctr"/>
            <a:r>
              <a:rPr lang="es-MX" sz="4000" b="1" noProof="0" dirty="0">
                <a:solidFill>
                  <a:srgbClr val="000000"/>
                </a:solidFill>
              </a:rPr>
              <a:t>Prueba 2 – Variable no declarada</a:t>
            </a:r>
          </a:p>
        </p:txBody>
      </p:sp>
      <p:sp>
        <p:nvSpPr>
          <p:cNvPr id="3" name="TextBox 2"/>
          <p:cNvSpPr txBox="1"/>
          <p:nvPr/>
        </p:nvSpPr>
        <p:spPr>
          <a:xfrm>
            <a:off x="713232" y="1691640"/>
            <a:ext cx="5120640" cy="1959511"/>
          </a:xfrm>
          <a:prstGeom prst="rect">
            <a:avLst/>
          </a:prstGeom>
          <a:noFill/>
        </p:spPr>
        <p:txBody>
          <a:bodyPr wrap="square" anchor="t">
            <a:spAutoFit/>
          </a:bodyPr>
          <a:lstStyle/>
          <a:p>
            <a:pPr algn="just">
              <a:spcAft>
                <a:spcPts val="800"/>
              </a:spcAft>
            </a:pPr>
            <a:r>
              <a:rPr lang="es-MX" sz="1800" b="1" noProof="0" dirty="0"/>
              <a:t>prueba: </a:t>
            </a:r>
            <a:r>
              <a:rPr lang="es-MX" sz="1600" b="0" noProof="0" dirty="0" err="1">
                <a:latin typeface="Consolas"/>
              </a:rPr>
              <a:t>print</a:t>
            </a:r>
            <a:r>
              <a:rPr lang="es-MX" sz="1600" b="0" noProof="0" dirty="0">
                <a:latin typeface="Consolas"/>
              </a:rPr>
              <a:t>(suma);</a:t>
            </a:r>
          </a:p>
          <a:p>
            <a:pPr algn="just">
              <a:spcAft>
                <a:spcPts val="800"/>
              </a:spcAft>
            </a:pPr>
            <a:r>
              <a:rPr lang="es-MX" sz="1800" b="0" noProof="0" dirty="0"/>
              <a:t>Se imprime la variable suma, que nunca fue declarada; solo existe total. Al buscar el nombre en la pila de ámbitos no se encuentra ningún símbolo.</a:t>
            </a:r>
          </a:p>
          <a:p>
            <a:pPr algn="just">
              <a:spcAft>
                <a:spcPts val="800"/>
              </a:spcAft>
            </a:pPr>
            <a:r>
              <a:rPr lang="es-MX" sz="1800" b="1" noProof="0" dirty="0"/>
              <a:t>Resultado: </a:t>
            </a:r>
            <a:r>
              <a:rPr lang="es-MX" sz="1800" b="0" noProof="0" dirty="0"/>
              <a:t>ERROR SEMÁNTICO, línea 4, columna 15: La variable 'suma' no está declarada.</a:t>
            </a:r>
          </a:p>
        </p:txBody>
      </p:sp>
      <p:pic>
        <p:nvPicPr>
          <p:cNvPr id="4" name="Picture 3" descr="c2a010ea-image.png"/>
          <p:cNvPicPr>
            <a:picLocks noChangeAspect="1"/>
          </p:cNvPicPr>
          <p:nvPr/>
        </p:nvPicPr>
        <p:blipFill>
          <a:blip r:embed="rId2"/>
          <a:stretch>
            <a:fillRect/>
          </a:stretch>
        </p:blipFill>
        <p:spPr>
          <a:xfrm>
            <a:off x="5989320" y="1691640"/>
            <a:ext cx="5852160" cy="329184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365760"/>
            <a:ext cx="10515600" cy="1097280"/>
          </a:xfrm>
        </p:spPr>
        <p:txBody>
          <a:bodyPr/>
          <a:lstStyle/>
          <a:p>
            <a:pPr algn="ctr"/>
            <a:r>
              <a:rPr lang="es-MX" sz="4000" b="1" noProof="0" dirty="0">
                <a:solidFill>
                  <a:srgbClr val="000000"/>
                </a:solidFill>
              </a:rPr>
              <a:t>Prueba 3 – Uso antes de asignar</a:t>
            </a:r>
          </a:p>
        </p:txBody>
      </p:sp>
      <p:sp>
        <p:nvSpPr>
          <p:cNvPr id="3" name="TextBox 2"/>
          <p:cNvSpPr txBox="1"/>
          <p:nvPr/>
        </p:nvSpPr>
        <p:spPr>
          <a:xfrm>
            <a:off x="713232" y="1691640"/>
            <a:ext cx="5120640" cy="4846320"/>
          </a:xfrm>
          <a:prstGeom prst="rect">
            <a:avLst/>
          </a:prstGeom>
          <a:noFill/>
        </p:spPr>
        <p:txBody>
          <a:bodyPr wrap="square" anchor="t">
            <a:spAutoFit/>
          </a:bodyPr>
          <a:lstStyle/>
          <a:p>
            <a:pPr algn="just">
              <a:spcAft>
                <a:spcPts val="800"/>
              </a:spcAft>
            </a:pPr>
            <a:r>
              <a:rPr lang="es-MX" sz="1800" b="1" noProof="0" dirty="0"/>
              <a:t>Código probado: </a:t>
            </a:r>
            <a:r>
              <a:rPr lang="es-MX" sz="1600" b="0" noProof="0" dirty="0" err="1">
                <a:latin typeface="Consolas"/>
              </a:rPr>
              <a:t>int</a:t>
            </a:r>
            <a:r>
              <a:rPr lang="es-MX" sz="1600" b="0" noProof="0" dirty="0">
                <a:latin typeface="Consolas"/>
              </a:rPr>
              <a:t> edad;  </a:t>
            </a:r>
            <a:r>
              <a:rPr lang="es-MX" sz="1600" b="0" noProof="0" dirty="0" err="1">
                <a:latin typeface="Consolas"/>
              </a:rPr>
              <a:t>print</a:t>
            </a:r>
            <a:r>
              <a:rPr lang="es-MX" sz="1600" b="0" noProof="0" dirty="0">
                <a:latin typeface="Consolas"/>
              </a:rPr>
              <a:t>(edad);</a:t>
            </a:r>
          </a:p>
          <a:p>
            <a:pPr algn="just">
              <a:spcAft>
                <a:spcPts val="800"/>
              </a:spcAft>
            </a:pPr>
            <a:r>
              <a:rPr lang="es-MX" sz="1800" b="0" noProof="0" dirty="0"/>
              <a:t>La variable edad se declara sin valor inicial y se usa inmediatamente. El analizador lleva un conjunto de variables inicializadas y edad no pertenece a él.</a:t>
            </a:r>
          </a:p>
          <a:p>
            <a:pPr algn="just">
              <a:spcAft>
                <a:spcPts val="800"/>
              </a:spcAft>
            </a:pPr>
            <a:r>
              <a:rPr lang="es-MX" sz="1800" b="1" noProof="0" dirty="0"/>
              <a:t>Resultado: </a:t>
            </a:r>
            <a:r>
              <a:rPr lang="es-MX" sz="1800" b="0" noProof="0" dirty="0"/>
              <a:t>ERROR SEMÁNTICO, línea 4, columna 15: La variable 'edad' se usa antes de recibir un valor.</a:t>
            </a:r>
          </a:p>
        </p:txBody>
      </p:sp>
      <p:pic>
        <p:nvPicPr>
          <p:cNvPr id="4" name="Picture 3" descr="a530fe20-image.png"/>
          <p:cNvPicPr>
            <a:picLocks noChangeAspect="1"/>
          </p:cNvPicPr>
          <p:nvPr/>
        </p:nvPicPr>
        <p:blipFill>
          <a:blip r:embed="rId2"/>
          <a:stretch>
            <a:fillRect/>
          </a:stretch>
        </p:blipFill>
        <p:spPr>
          <a:xfrm>
            <a:off x="5989320" y="1691640"/>
            <a:ext cx="5852160" cy="329184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365760"/>
            <a:ext cx="10515600" cy="1097280"/>
          </a:xfrm>
        </p:spPr>
        <p:txBody>
          <a:bodyPr/>
          <a:lstStyle/>
          <a:p>
            <a:pPr algn="ctr"/>
            <a:r>
              <a:rPr lang="es-MX" sz="4000" b="1" noProof="0" dirty="0">
                <a:solidFill>
                  <a:srgbClr val="000000"/>
                </a:solidFill>
              </a:rPr>
              <a:t>Prueba 4 – Condición no booleana</a:t>
            </a:r>
          </a:p>
        </p:txBody>
      </p:sp>
      <p:sp>
        <p:nvSpPr>
          <p:cNvPr id="3" name="TextBox 2"/>
          <p:cNvSpPr txBox="1"/>
          <p:nvPr/>
        </p:nvSpPr>
        <p:spPr>
          <a:xfrm>
            <a:off x="713232" y="1691640"/>
            <a:ext cx="5120640" cy="1959511"/>
          </a:xfrm>
          <a:prstGeom prst="rect">
            <a:avLst/>
          </a:prstGeom>
          <a:noFill/>
        </p:spPr>
        <p:txBody>
          <a:bodyPr wrap="square" anchor="t">
            <a:spAutoFit/>
          </a:bodyPr>
          <a:lstStyle/>
          <a:p>
            <a:pPr algn="just">
              <a:spcAft>
                <a:spcPts val="800"/>
              </a:spcAft>
            </a:pPr>
            <a:r>
              <a:rPr lang="es-MX" sz="1800" b="1" noProof="0" dirty="0"/>
              <a:t>prueba: </a:t>
            </a:r>
            <a:r>
              <a:rPr lang="es-MX" sz="1600" b="0" noProof="0" dirty="0" err="1">
                <a:latin typeface="Consolas"/>
              </a:rPr>
              <a:t>int</a:t>
            </a:r>
            <a:r>
              <a:rPr lang="es-MX" sz="1600" b="0" noProof="0" dirty="0">
                <a:latin typeface="Consolas"/>
              </a:rPr>
              <a:t> x = 5;  </a:t>
            </a:r>
            <a:r>
              <a:rPr lang="es-MX" sz="1600" b="0" noProof="0" dirty="0" err="1">
                <a:latin typeface="Consolas"/>
              </a:rPr>
              <a:t>if</a:t>
            </a:r>
            <a:r>
              <a:rPr lang="es-MX" sz="1600" b="0" noProof="0" dirty="0">
                <a:latin typeface="Consolas"/>
              </a:rPr>
              <a:t> (x) { … }</a:t>
            </a:r>
          </a:p>
          <a:p>
            <a:pPr algn="just">
              <a:spcAft>
                <a:spcPts val="800"/>
              </a:spcAft>
            </a:pPr>
            <a:r>
              <a:rPr lang="es-MX" sz="1800" b="0" noProof="0" dirty="0"/>
              <a:t>Se usa una variable </a:t>
            </a:r>
            <a:r>
              <a:rPr lang="es-MX" sz="1800" b="0" noProof="0" dirty="0" err="1"/>
              <a:t>int</a:t>
            </a:r>
            <a:r>
              <a:rPr lang="es-MX" sz="1800" b="0" noProof="0" dirty="0"/>
              <a:t> como condición de un </a:t>
            </a:r>
            <a:r>
              <a:rPr lang="es-MX" sz="1800" b="0" noProof="0" dirty="0" err="1"/>
              <a:t>if</a:t>
            </a:r>
            <a:r>
              <a:rPr lang="es-MX" sz="1800" b="0" noProof="0" dirty="0"/>
              <a:t>. A diferencia de C, en este lenguaje, igual que en Java, la condición de </a:t>
            </a:r>
            <a:r>
              <a:rPr lang="es-MX" sz="1800" b="0" noProof="0" dirty="0" err="1"/>
              <a:t>if</a:t>
            </a:r>
            <a:r>
              <a:rPr lang="es-MX" sz="1800" b="0" noProof="0" dirty="0"/>
              <a:t> y </a:t>
            </a:r>
            <a:r>
              <a:rPr lang="es-MX" sz="1800" b="0" noProof="0" dirty="0" err="1"/>
              <a:t>while</a:t>
            </a:r>
            <a:r>
              <a:rPr lang="es-MX" sz="1800" b="0" noProof="0" dirty="0"/>
              <a:t> debe ser de tipo </a:t>
            </a:r>
            <a:r>
              <a:rPr lang="es-MX" sz="1800" b="0" noProof="0" dirty="0" err="1"/>
              <a:t>boolean</a:t>
            </a:r>
            <a:r>
              <a:rPr lang="es-MX" sz="1800" b="0" noProof="0" dirty="0"/>
              <a:t>.</a:t>
            </a:r>
          </a:p>
          <a:p>
            <a:pPr algn="just">
              <a:spcAft>
                <a:spcPts val="800"/>
              </a:spcAft>
            </a:pPr>
            <a:r>
              <a:rPr lang="es-MX" sz="1800" b="1" noProof="0" dirty="0"/>
              <a:t>Resultado: </a:t>
            </a:r>
            <a:r>
              <a:rPr lang="es-MX" sz="1800" b="0" noProof="0" dirty="0"/>
              <a:t>ERROR SEMÁNTICO, línea 4, columna 13: La condición debe ser </a:t>
            </a:r>
            <a:r>
              <a:rPr lang="es-MX" sz="1800" b="0" noProof="0" dirty="0" err="1"/>
              <a:t>boolean</a:t>
            </a:r>
            <a:r>
              <a:rPr lang="es-MX" sz="1800" b="0" noProof="0" dirty="0"/>
              <a:t>.</a:t>
            </a:r>
          </a:p>
        </p:txBody>
      </p:sp>
      <p:pic>
        <p:nvPicPr>
          <p:cNvPr id="4" name="Picture 3" descr="91dbc26a-image.png"/>
          <p:cNvPicPr>
            <a:picLocks noChangeAspect="1"/>
          </p:cNvPicPr>
          <p:nvPr/>
        </p:nvPicPr>
        <p:blipFill>
          <a:blip r:embed="rId2"/>
          <a:stretch>
            <a:fillRect/>
          </a:stretch>
        </p:blipFill>
        <p:spPr>
          <a:xfrm>
            <a:off x="5989320" y="1691640"/>
            <a:ext cx="5852160" cy="329184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365760"/>
            <a:ext cx="10515600" cy="1097280"/>
          </a:xfrm>
        </p:spPr>
        <p:txBody>
          <a:bodyPr/>
          <a:lstStyle/>
          <a:p>
            <a:pPr algn="ctr"/>
            <a:r>
              <a:rPr lang="es-MX" sz="4000" b="1" noProof="0" dirty="0">
                <a:solidFill>
                  <a:srgbClr val="000000"/>
                </a:solidFill>
              </a:rPr>
              <a:t>Prueba 5 – </a:t>
            </a:r>
            <a:r>
              <a:rPr lang="es-MX" sz="4000" b="1" noProof="0" dirty="0" err="1">
                <a:solidFill>
                  <a:srgbClr val="000000"/>
                </a:solidFill>
              </a:rPr>
              <a:t>Redeclaración</a:t>
            </a:r>
            <a:r>
              <a:rPr lang="es-MX" sz="4000" b="1" noProof="0" dirty="0">
                <a:solidFill>
                  <a:srgbClr val="000000"/>
                </a:solidFill>
              </a:rPr>
              <a:t> de variable</a:t>
            </a:r>
          </a:p>
        </p:txBody>
      </p:sp>
      <p:sp>
        <p:nvSpPr>
          <p:cNvPr id="3" name="TextBox 2"/>
          <p:cNvSpPr txBox="1"/>
          <p:nvPr/>
        </p:nvSpPr>
        <p:spPr>
          <a:xfrm>
            <a:off x="713232" y="1691640"/>
            <a:ext cx="5120640" cy="2236510"/>
          </a:xfrm>
          <a:prstGeom prst="rect">
            <a:avLst/>
          </a:prstGeom>
          <a:noFill/>
        </p:spPr>
        <p:txBody>
          <a:bodyPr wrap="square" anchor="t">
            <a:spAutoFit/>
          </a:bodyPr>
          <a:lstStyle/>
          <a:p>
            <a:pPr algn="just">
              <a:spcAft>
                <a:spcPts val="800"/>
              </a:spcAft>
            </a:pPr>
            <a:r>
              <a:rPr lang="es-MX" sz="1800" b="1" noProof="0" dirty="0"/>
              <a:t>prueba: </a:t>
            </a:r>
            <a:r>
              <a:rPr lang="es-MX" sz="1600" b="0" noProof="0" dirty="0" err="1">
                <a:latin typeface="Consolas"/>
              </a:rPr>
              <a:t>int</a:t>
            </a:r>
            <a:r>
              <a:rPr lang="es-MX" sz="1600" b="0" noProof="0" dirty="0">
                <a:latin typeface="Consolas"/>
              </a:rPr>
              <a:t> x = 1;  </a:t>
            </a:r>
            <a:r>
              <a:rPr lang="es-MX" sz="1600" b="0" noProof="0" dirty="0" err="1">
                <a:latin typeface="Consolas"/>
              </a:rPr>
              <a:t>double</a:t>
            </a:r>
            <a:r>
              <a:rPr lang="es-MX" sz="1600" b="0" noProof="0" dirty="0">
                <a:latin typeface="Consolas"/>
              </a:rPr>
              <a:t> x = 2.5;</a:t>
            </a:r>
          </a:p>
          <a:p>
            <a:pPr algn="just">
              <a:spcAft>
                <a:spcPts val="800"/>
              </a:spcAft>
            </a:pPr>
            <a:r>
              <a:rPr lang="es-MX" sz="1800" b="0" noProof="0" dirty="0"/>
              <a:t>Se declara dos veces la variable x en el mismo ámbito. Antes de crear el símbolo, el analizador busca el nombre en los ámbitos visibles y detecta que ya existe.</a:t>
            </a:r>
          </a:p>
          <a:p>
            <a:pPr algn="just">
              <a:spcAft>
                <a:spcPts val="800"/>
              </a:spcAft>
            </a:pPr>
            <a:r>
              <a:rPr lang="es-MX" sz="1800" b="1" noProof="0" dirty="0"/>
              <a:t>Resultado: </a:t>
            </a:r>
            <a:r>
              <a:rPr lang="es-MX" sz="1800" b="0" noProof="0" dirty="0"/>
              <a:t>ERROR SEMÁNTICO, línea 4, columna 16: La variable 'x' ya fue declarada en un ámbito visible.</a:t>
            </a:r>
          </a:p>
        </p:txBody>
      </p:sp>
      <p:pic>
        <p:nvPicPr>
          <p:cNvPr id="4" name="Picture 3" descr="2ac07ca0-image.png"/>
          <p:cNvPicPr>
            <a:picLocks noChangeAspect="1"/>
          </p:cNvPicPr>
          <p:nvPr/>
        </p:nvPicPr>
        <p:blipFill>
          <a:blip r:embed="rId2"/>
          <a:stretch>
            <a:fillRect/>
          </a:stretch>
        </p:blipFill>
        <p:spPr>
          <a:xfrm>
            <a:off x="5989320" y="1691640"/>
            <a:ext cx="5852160" cy="329184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365760"/>
            <a:ext cx="10515600" cy="1097280"/>
          </a:xfrm>
        </p:spPr>
        <p:txBody>
          <a:bodyPr/>
          <a:lstStyle/>
          <a:p>
            <a:pPr algn="ctr"/>
            <a:r>
              <a:rPr lang="es-MX" sz="4000" b="1" noProof="0" dirty="0">
                <a:solidFill>
                  <a:srgbClr val="000000"/>
                </a:solidFill>
              </a:rPr>
              <a:t>Prueba 6 – Operando no numérico</a:t>
            </a:r>
          </a:p>
        </p:txBody>
      </p:sp>
      <p:sp>
        <p:nvSpPr>
          <p:cNvPr id="3" name="TextBox 2"/>
          <p:cNvSpPr txBox="1"/>
          <p:nvPr/>
        </p:nvSpPr>
        <p:spPr>
          <a:xfrm>
            <a:off x="713232" y="1691640"/>
            <a:ext cx="5120640" cy="2513509"/>
          </a:xfrm>
          <a:prstGeom prst="rect">
            <a:avLst/>
          </a:prstGeom>
          <a:noFill/>
        </p:spPr>
        <p:txBody>
          <a:bodyPr wrap="square" anchor="t">
            <a:spAutoFit/>
          </a:bodyPr>
          <a:lstStyle/>
          <a:p>
            <a:pPr algn="just">
              <a:spcAft>
                <a:spcPts val="800"/>
              </a:spcAft>
            </a:pPr>
            <a:r>
              <a:rPr lang="es-MX" sz="1800" b="1" noProof="0" dirty="0"/>
              <a:t>prueba: </a:t>
            </a:r>
            <a:r>
              <a:rPr lang="es-MX" sz="1600" b="0" noProof="0" dirty="0" err="1">
                <a:latin typeface="Consolas"/>
              </a:rPr>
              <a:t>boolean</a:t>
            </a:r>
            <a:r>
              <a:rPr lang="es-MX" sz="1600" b="0" noProof="0" dirty="0">
                <a:latin typeface="Consolas"/>
              </a:rPr>
              <a:t> ok = true;  </a:t>
            </a:r>
            <a:r>
              <a:rPr lang="es-MX" sz="1600" b="0" noProof="0" dirty="0" err="1">
                <a:latin typeface="Consolas"/>
              </a:rPr>
              <a:t>int</a:t>
            </a:r>
            <a:r>
              <a:rPr lang="es-MX" sz="1600" b="0" noProof="0" dirty="0">
                <a:latin typeface="Consolas"/>
              </a:rPr>
              <a:t> r = ok + 1;</a:t>
            </a:r>
          </a:p>
          <a:p>
            <a:pPr algn="just">
              <a:spcAft>
                <a:spcPts val="800"/>
              </a:spcAft>
            </a:pPr>
            <a:r>
              <a:rPr lang="es-MX" sz="1800" b="0" noProof="0" dirty="0"/>
              <a:t>Se intenta sumar un valor </a:t>
            </a:r>
            <a:r>
              <a:rPr lang="es-MX" sz="1800" b="0" noProof="0" dirty="0" err="1"/>
              <a:t>boolean</a:t>
            </a:r>
            <a:r>
              <a:rPr lang="es-MX" sz="1800" b="0" noProof="0" dirty="0"/>
              <a:t> con un número. Al calcular el tipo de la expresión, el operador + exige que ambos operandos sean numéricos (</a:t>
            </a:r>
            <a:r>
              <a:rPr lang="es-MX" sz="1800" b="0" noProof="0" dirty="0" err="1"/>
              <a:t>int</a:t>
            </a:r>
            <a:r>
              <a:rPr lang="es-MX" sz="1800" b="0" noProof="0" dirty="0"/>
              <a:t> o </a:t>
            </a:r>
            <a:r>
              <a:rPr lang="es-MX" sz="1800" b="0" noProof="0" dirty="0" err="1"/>
              <a:t>double</a:t>
            </a:r>
            <a:r>
              <a:rPr lang="es-MX" sz="1800" b="0" noProof="0" dirty="0"/>
              <a:t>).</a:t>
            </a:r>
          </a:p>
          <a:p>
            <a:pPr algn="just">
              <a:spcAft>
                <a:spcPts val="800"/>
              </a:spcAft>
            </a:pPr>
            <a:r>
              <a:rPr lang="es-MX" sz="1800" b="1" noProof="0" dirty="0"/>
              <a:t>Resultado: </a:t>
            </a:r>
            <a:r>
              <a:rPr lang="es-MX" sz="1800" b="0" noProof="0" dirty="0"/>
              <a:t>ERROR SEMÁNTICO, línea 4, columna 20: '+' requiere operandos numéricos. El editor resalta el operador +.</a:t>
            </a:r>
          </a:p>
        </p:txBody>
      </p:sp>
      <p:pic>
        <p:nvPicPr>
          <p:cNvPr id="4" name="Picture 3" descr="605d23d6-image.png"/>
          <p:cNvPicPr>
            <a:picLocks noChangeAspect="1"/>
          </p:cNvPicPr>
          <p:nvPr/>
        </p:nvPicPr>
        <p:blipFill>
          <a:blip r:embed="rId2"/>
          <a:stretch>
            <a:fillRect/>
          </a:stretch>
        </p:blipFill>
        <p:spPr>
          <a:xfrm>
            <a:off x="5989320" y="1691640"/>
            <a:ext cx="5852160" cy="329184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365760"/>
            <a:ext cx="10515600" cy="1097280"/>
          </a:xfrm>
        </p:spPr>
        <p:txBody>
          <a:bodyPr/>
          <a:lstStyle/>
          <a:p>
            <a:pPr algn="ctr"/>
            <a:r>
              <a:rPr lang="es-MX" sz="4000" b="1" noProof="0" dirty="0">
                <a:solidFill>
                  <a:srgbClr val="000000"/>
                </a:solidFill>
              </a:rPr>
              <a:t>Prueba 7 – Promoción permitida</a:t>
            </a:r>
          </a:p>
        </p:txBody>
      </p:sp>
      <p:sp>
        <p:nvSpPr>
          <p:cNvPr id="3" name="TextBox 2"/>
          <p:cNvSpPr txBox="1"/>
          <p:nvPr/>
        </p:nvSpPr>
        <p:spPr>
          <a:xfrm>
            <a:off x="713232" y="1691640"/>
            <a:ext cx="5120640" cy="2790508"/>
          </a:xfrm>
          <a:prstGeom prst="rect">
            <a:avLst/>
          </a:prstGeom>
          <a:noFill/>
        </p:spPr>
        <p:txBody>
          <a:bodyPr wrap="square" anchor="t">
            <a:spAutoFit/>
          </a:bodyPr>
          <a:lstStyle/>
          <a:p>
            <a:pPr algn="just">
              <a:spcAft>
                <a:spcPts val="800"/>
              </a:spcAft>
            </a:pPr>
            <a:r>
              <a:rPr lang="es-MX" sz="1800" b="1" noProof="0" dirty="0"/>
              <a:t>prueba: </a:t>
            </a:r>
            <a:r>
              <a:rPr lang="es-MX" sz="1600" b="0" noProof="0" dirty="0" err="1">
                <a:latin typeface="Consolas"/>
              </a:rPr>
              <a:t>int</a:t>
            </a:r>
            <a:r>
              <a:rPr lang="es-MX" sz="1600" b="0" noProof="0" dirty="0">
                <a:latin typeface="Consolas"/>
              </a:rPr>
              <a:t> n = 3;  </a:t>
            </a:r>
            <a:r>
              <a:rPr lang="es-MX" sz="1600" b="0" noProof="0" dirty="0" err="1">
                <a:latin typeface="Consolas"/>
              </a:rPr>
              <a:t>double</a:t>
            </a:r>
            <a:r>
              <a:rPr lang="es-MX" sz="1600" b="0" noProof="0" dirty="0">
                <a:latin typeface="Consolas"/>
              </a:rPr>
              <a:t> d = n;</a:t>
            </a:r>
          </a:p>
          <a:p>
            <a:pPr algn="just">
              <a:spcAft>
                <a:spcPts val="800"/>
              </a:spcAft>
            </a:pPr>
            <a:r>
              <a:rPr lang="es-MX" sz="1800" b="0" noProof="0" dirty="0"/>
              <a:t>Se asigna una variable </a:t>
            </a:r>
            <a:r>
              <a:rPr lang="es-MX" sz="1800" b="0" noProof="0" dirty="0" err="1"/>
              <a:t>int</a:t>
            </a:r>
            <a:r>
              <a:rPr lang="es-MX" sz="1800" b="0" noProof="0" dirty="0"/>
              <a:t> a una </a:t>
            </a:r>
            <a:r>
              <a:rPr lang="es-MX" sz="1800" b="0" noProof="0" dirty="0" err="1"/>
              <a:t>double</a:t>
            </a:r>
            <a:r>
              <a:rPr lang="es-MX" sz="1800" b="0" noProof="0" dirty="0"/>
              <a:t>. </a:t>
            </a:r>
            <a:r>
              <a:rPr lang="es-MX" sz="1800" b="0" noProof="0" dirty="0" err="1"/>
              <a:t>ReglasTipos</a:t>
            </a:r>
            <a:r>
              <a:rPr lang="es-MX" sz="1800" b="0" noProof="0" dirty="0"/>
              <a:t> permite esta conversión porque no se pierde información, por lo que el programa es semánticamente válido.</a:t>
            </a:r>
          </a:p>
          <a:p>
            <a:pPr algn="just">
              <a:spcAft>
                <a:spcPts val="800"/>
              </a:spcAft>
            </a:pPr>
            <a:r>
              <a:rPr lang="es-MX" sz="1800" b="1" noProof="0" dirty="0"/>
              <a:t>Resultado: </a:t>
            </a:r>
            <a:r>
              <a:rPr lang="es-MX" sz="1800" b="0" noProof="0" dirty="0"/>
              <a:t>COMPILACIÓN CORRECTA: pasan las fases semántica, código de tres direcciones, optimización (2 cambios), ensamblador y objeto RAVM; el botón Ejecutar se habilita.</a:t>
            </a:r>
          </a:p>
        </p:txBody>
      </p:sp>
      <p:pic>
        <p:nvPicPr>
          <p:cNvPr id="4" name="Picture 3" descr="d289bd73-image.png"/>
          <p:cNvPicPr>
            <a:picLocks noChangeAspect="1"/>
          </p:cNvPicPr>
          <p:nvPr/>
        </p:nvPicPr>
        <p:blipFill>
          <a:blip r:embed="rId2"/>
          <a:stretch>
            <a:fillRect/>
          </a:stretch>
        </p:blipFill>
        <p:spPr>
          <a:xfrm>
            <a:off x="5989320" y="1691640"/>
            <a:ext cx="5852160" cy="329184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365760"/>
            <a:ext cx="10515600" cy="1097280"/>
          </a:xfrm>
        </p:spPr>
        <p:txBody>
          <a:bodyPr/>
          <a:lstStyle/>
          <a:p>
            <a:pPr algn="ctr"/>
            <a:r>
              <a:rPr lang="es-MX" sz="3600" b="1" noProof="0" dirty="0">
                <a:solidFill>
                  <a:srgbClr val="000000"/>
                </a:solidFill>
              </a:rPr>
              <a:t>Código intermedio – Traduccion.java</a:t>
            </a:r>
          </a:p>
        </p:txBody>
      </p:sp>
      <p:sp>
        <p:nvSpPr>
          <p:cNvPr id="3" name="TextBox 2"/>
          <p:cNvSpPr txBox="1"/>
          <p:nvPr/>
        </p:nvSpPr>
        <p:spPr>
          <a:xfrm>
            <a:off x="713232" y="1691640"/>
            <a:ext cx="5120640" cy="4846320"/>
          </a:xfrm>
          <a:prstGeom prst="rect">
            <a:avLst/>
          </a:prstGeom>
          <a:noFill/>
        </p:spPr>
        <p:txBody>
          <a:bodyPr wrap="square" anchor="t">
            <a:spAutoFit/>
          </a:bodyPr>
          <a:lstStyle/>
          <a:p>
            <a:pPr algn="just">
              <a:spcAft>
                <a:spcPts val="800"/>
              </a:spcAft>
            </a:pPr>
            <a:r>
              <a:rPr lang="es-MX" sz="1800" noProof="0" dirty="0"/>
              <a:t>Una vez validado el programa, la clase Traduccion.java recorre el AST y genera código de tres direcciones con instrucciones de asignación, impresión y saltos. Las expresiones aritméticas se convierten a notación postfija con el servicio del Tema 2.</a:t>
            </a:r>
          </a:p>
          <a:p>
            <a:pPr algn="just">
              <a:spcAft>
                <a:spcPts val="800"/>
              </a:spcAft>
            </a:pPr>
            <a:r>
              <a:rPr lang="es-MX" sz="1800" noProof="0" dirty="0"/>
              <a:t>En la pestaña Intermedio se observan las variables con sus ranuras y los temporales generados: T1 = v0_invitados / v1_mesas y T2 = v0_invitados * v3_precio.</a:t>
            </a:r>
          </a:p>
        </p:txBody>
      </p:sp>
      <p:pic>
        <p:nvPicPr>
          <p:cNvPr id="4" name="Picture 3" descr="c4.png"/>
          <p:cNvPicPr>
            <a:picLocks noChangeAspect="1"/>
          </p:cNvPicPr>
          <p:nvPr/>
        </p:nvPicPr>
        <p:blipFill>
          <a:blip r:embed="rId2"/>
          <a:stretch>
            <a:fillRect/>
          </a:stretch>
        </p:blipFill>
        <p:spPr>
          <a:xfrm>
            <a:off x="5989320" y="1691640"/>
            <a:ext cx="5852160" cy="329184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365760"/>
            <a:ext cx="10515600" cy="1097280"/>
          </a:xfrm>
        </p:spPr>
        <p:txBody>
          <a:bodyPr/>
          <a:lstStyle/>
          <a:p>
            <a:pPr algn="ctr"/>
            <a:r>
              <a:rPr lang="es-MX" sz="4000" b="1" noProof="0" dirty="0">
                <a:solidFill>
                  <a:srgbClr val="000000"/>
                </a:solidFill>
              </a:rPr>
              <a:t>Optimización – Mejora.java</a:t>
            </a:r>
          </a:p>
        </p:txBody>
      </p:sp>
      <p:sp>
        <p:nvSpPr>
          <p:cNvPr id="3" name="TextBox 2"/>
          <p:cNvSpPr txBox="1"/>
          <p:nvPr/>
        </p:nvSpPr>
        <p:spPr>
          <a:xfrm>
            <a:off x="713232" y="1691640"/>
            <a:ext cx="5120640" cy="4846320"/>
          </a:xfrm>
          <a:prstGeom prst="rect">
            <a:avLst/>
          </a:prstGeom>
          <a:noFill/>
        </p:spPr>
        <p:txBody>
          <a:bodyPr wrap="square" anchor="t">
            <a:spAutoFit/>
          </a:bodyPr>
          <a:lstStyle/>
          <a:p>
            <a:pPr algn="just">
              <a:spcAft>
                <a:spcPts val="800"/>
              </a:spcAft>
            </a:pPr>
            <a:r>
              <a:rPr lang="es-MX" sz="1800" noProof="0" dirty="0"/>
              <a:t>La clase Mejora.java aplica optimización local por propagación y plegado de constantes, sin cruzar etiquetas ni saltos para no alterar el flujo del programa.</a:t>
            </a:r>
          </a:p>
          <a:p>
            <a:pPr algn="just">
              <a:spcAft>
                <a:spcPts val="800"/>
              </a:spcAft>
            </a:pPr>
            <a:r>
              <a:rPr lang="es-MX" sz="1800" noProof="0" dirty="0"/>
              <a:t>Para el programa de ejemplo se realizaron 7 cambios: los temporales se calculan en tiempo de compilación (T1 = 4 y T2 = 300.0) y las instrucciones </a:t>
            </a:r>
            <a:r>
              <a:rPr lang="es-MX" sz="1800" noProof="0" dirty="0" err="1"/>
              <a:t>print</a:t>
            </a:r>
            <a:r>
              <a:rPr lang="es-MX" sz="1800" noProof="0" dirty="0"/>
              <a:t> reciben directamente los valores constantes.</a:t>
            </a:r>
          </a:p>
        </p:txBody>
      </p:sp>
      <p:pic>
        <p:nvPicPr>
          <p:cNvPr id="4" name="Picture 3" descr="c3.png"/>
          <p:cNvPicPr>
            <a:picLocks noChangeAspect="1"/>
          </p:cNvPicPr>
          <p:nvPr/>
        </p:nvPicPr>
        <p:blipFill>
          <a:blip r:embed="rId2"/>
          <a:stretch>
            <a:fillRect/>
          </a:stretch>
        </p:blipFill>
        <p:spPr>
          <a:xfrm>
            <a:off x="5989320" y="1691640"/>
            <a:ext cx="5852160" cy="329184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365760"/>
            <a:ext cx="10515600" cy="1097280"/>
          </a:xfrm>
        </p:spPr>
        <p:txBody>
          <a:bodyPr/>
          <a:lstStyle/>
          <a:p>
            <a:pPr algn="ctr"/>
            <a:r>
              <a:rPr lang="es-MX" sz="4000" b="1" noProof="0" dirty="0">
                <a:solidFill>
                  <a:srgbClr val="000000"/>
                </a:solidFill>
              </a:rPr>
              <a:t>Ensamblador RAVM</a:t>
            </a:r>
          </a:p>
        </p:txBody>
      </p:sp>
      <p:sp>
        <p:nvSpPr>
          <p:cNvPr id="3" name="TextBox 2"/>
          <p:cNvSpPr txBox="1"/>
          <p:nvPr/>
        </p:nvSpPr>
        <p:spPr>
          <a:xfrm>
            <a:off x="713232" y="1691640"/>
            <a:ext cx="5120640" cy="4846320"/>
          </a:xfrm>
          <a:prstGeom prst="rect">
            <a:avLst/>
          </a:prstGeom>
          <a:noFill/>
        </p:spPr>
        <p:txBody>
          <a:bodyPr wrap="square" anchor="t">
            <a:spAutoFit/>
          </a:bodyPr>
          <a:lstStyle/>
          <a:p>
            <a:pPr algn="just">
              <a:spcAft>
                <a:spcPts val="800"/>
              </a:spcAft>
            </a:pPr>
            <a:r>
              <a:rPr lang="es-MX" sz="1800" noProof="0" dirty="0"/>
              <a:t>A partir del código optimizado, ServicioEnsamblado.java genera el ensamblador para RAVM v1, una máquina virtual de registros diseñada para el proyecto.</a:t>
            </a:r>
          </a:p>
          <a:p>
            <a:pPr algn="just">
              <a:spcAft>
                <a:spcPts val="800"/>
              </a:spcAft>
            </a:pPr>
            <a:r>
              <a:rPr lang="es-MX" sz="1800" noProof="0" dirty="0"/>
              <a:t>En la sección .CONSTANTES se listan los valores del programa (C0 = 24 hasta C5 = "Entradas confirmadas") y en .REGISTROS se asignan R0 y R1 como operandos de trabajo y de R2 en adelante a las variables y temporales.</a:t>
            </a:r>
          </a:p>
        </p:txBody>
      </p:sp>
      <p:pic>
        <p:nvPicPr>
          <p:cNvPr id="4" name="Picture 3" descr="c2.png"/>
          <p:cNvPicPr>
            <a:picLocks noChangeAspect="1"/>
          </p:cNvPicPr>
          <p:nvPr/>
        </p:nvPicPr>
        <p:blipFill>
          <a:blip r:embed="rId2"/>
          <a:stretch>
            <a:fillRect/>
          </a:stretch>
        </p:blipFill>
        <p:spPr>
          <a:xfrm>
            <a:off x="5989320" y="1691640"/>
            <a:ext cx="5852160" cy="329184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365760"/>
            <a:ext cx="10515600" cy="1097280"/>
          </a:xfrm>
        </p:spPr>
        <p:txBody>
          <a:bodyPr/>
          <a:lstStyle/>
          <a:p>
            <a:pPr algn="ctr"/>
            <a:r>
              <a:rPr lang="es-MX" sz="4000" b="1" noProof="0" dirty="0">
                <a:solidFill>
                  <a:srgbClr val="000000"/>
                </a:solidFill>
              </a:rPr>
              <a:t>Código objeto RAVM</a:t>
            </a:r>
          </a:p>
        </p:txBody>
      </p:sp>
      <p:sp>
        <p:nvSpPr>
          <p:cNvPr id="3" name="TextBox 2"/>
          <p:cNvSpPr txBox="1"/>
          <p:nvPr/>
        </p:nvSpPr>
        <p:spPr>
          <a:xfrm>
            <a:off x="713232" y="1691640"/>
            <a:ext cx="5120640" cy="4846320"/>
          </a:xfrm>
          <a:prstGeom prst="rect">
            <a:avLst/>
          </a:prstGeom>
          <a:noFill/>
        </p:spPr>
        <p:txBody>
          <a:bodyPr wrap="square" anchor="t">
            <a:spAutoFit/>
          </a:bodyPr>
          <a:lstStyle/>
          <a:p>
            <a:pPr algn="just">
              <a:spcAft>
                <a:spcPts val="800"/>
              </a:spcAft>
            </a:pPr>
            <a:r>
              <a:rPr lang="es-MX" sz="1800" noProof="0" dirty="0"/>
              <a:t>La clase Objeto.java convierte el ensamblador en un archivo binario de 959 bytes, mostrado en la pestaña Objeto como volcado hexadecimal. Los primeros bytes, 52 41 56 4D, corresponden a la firma RAVM.</a:t>
            </a:r>
          </a:p>
          <a:p>
            <a:pPr algn="just">
              <a:spcAft>
                <a:spcPts val="800"/>
              </a:spcAft>
            </a:pPr>
            <a:r>
              <a:rPr lang="es-MX" sz="1800" noProof="0" dirty="0"/>
              <a:t>El binario incluye la tabla de constantes y los nombres de las variables, y se vuelve a leer para verificar que es válido. La barra de estado indica Compilación correcta · objeto RAVM listo.</a:t>
            </a:r>
          </a:p>
        </p:txBody>
      </p:sp>
      <p:pic>
        <p:nvPicPr>
          <p:cNvPr id="4" name="Picture 3" descr="c1.png"/>
          <p:cNvPicPr>
            <a:picLocks noChangeAspect="1"/>
          </p:cNvPicPr>
          <p:nvPr/>
        </p:nvPicPr>
        <p:blipFill>
          <a:blip r:embed="rId2"/>
          <a:stretch>
            <a:fillRect/>
          </a:stretch>
        </p:blipFill>
        <p:spPr>
          <a:xfrm>
            <a:off x="5989320" y="1691640"/>
            <a:ext cx="5852160" cy="329184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365760"/>
            <a:ext cx="10515600" cy="1097280"/>
          </a:xfrm>
        </p:spPr>
        <p:txBody>
          <a:bodyPr/>
          <a:lstStyle/>
          <a:p>
            <a:pPr algn="ctr"/>
            <a:r>
              <a:rPr lang="es-MX" sz="4000" b="1" noProof="0" dirty="0">
                <a:solidFill>
                  <a:srgbClr val="000000"/>
                </a:solidFill>
              </a:rPr>
              <a:t>Ejecución del programa</a:t>
            </a:r>
          </a:p>
        </p:txBody>
      </p:sp>
      <p:sp>
        <p:nvSpPr>
          <p:cNvPr id="3" name="TextBox 2"/>
          <p:cNvSpPr txBox="1"/>
          <p:nvPr/>
        </p:nvSpPr>
        <p:spPr>
          <a:xfrm>
            <a:off x="713232" y="1691640"/>
            <a:ext cx="5120640" cy="4846320"/>
          </a:xfrm>
          <a:prstGeom prst="rect">
            <a:avLst/>
          </a:prstGeom>
          <a:noFill/>
        </p:spPr>
        <p:txBody>
          <a:bodyPr wrap="square" anchor="t">
            <a:spAutoFit/>
          </a:bodyPr>
          <a:lstStyle/>
          <a:p>
            <a:pPr algn="just">
              <a:spcAft>
                <a:spcPts val="800"/>
              </a:spcAft>
            </a:pPr>
            <a:r>
              <a:rPr lang="es-MX" sz="1800" noProof="0" dirty="0"/>
              <a:t>Al pulsar Ejecutar, la máquina virtual interpreta el código objeto y muestra la salida en la pestaña Ejecución:</a:t>
            </a:r>
          </a:p>
          <a:p>
            <a:pPr algn="just">
              <a:spcAft>
                <a:spcPts val="800"/>
              </a:spcAft>
            </a:pPr>
            <a:r>
              <a:rPr lang="es-MX" sz="1800" noProof="0" dirty="0"/>
              <a:t>Entradas confirmadas, 4 (resultado de 24 / 6 como división entera) y 300.0 (24 × 12.5, promovido a </a:t>
            </a:r>
            <a:r>
              <a:rPr lang="es-MX" sz="1800" noProof="0" dirty="0" err="1"/>
              <a:t>double</a:t>
            </a:r>
            <a:r>
              <a:rPr lang="es-MX" sz="1800" noProof="0" dirty="0"/>
              <a:t>). La consola reporta EJECUCIÓN FINALIZADA · 26 instrucciones, lo que confirma que el programa se compiló y ejecutó correctamente.</a:t>
            </a:r>
          </a:p>
        </p:txBody>
      </p:sp>
      <p:pic>
        <p:nvPicPr>
          <p:cNvPr id="4" name="Picture 3" descr="c11.png"/>
          <p:cNvPicPr>
            <a:picLocks noChangeAspect="1"/>
          </p:cNvPicPr>
          <p:nvPr/>
        </p:nvPicPr>
        <p:blipFill>
          <a:blip r:embed="rId2"/>
          <a:stretch>
            <a:fillRect/>
          </a:stretch>
        </p:blipFill>
        <p:spPr>
          <a:xfrm>
            <a:off x="5989320" y="1691640"/>
            <a:ext cx="5852160" cy="329184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365760"/>
            <a:ext cx="10515600" cy="1097280"/>
          </a:xfrm>
        </p:spPr>
        <p:txBody>
          <a:bodyPr/>
          <a:lstStyle/>
          <a:p>
            <a:pPr algn="ctr"/>
            <a:r>
              <a:rPr lang="es-MX" sz="4000" b="1" noProof="0" dirty="0">
                <a:solidFill>
                  <a:srgbClr val="000000"/>
                </a:solidFill>
              </a:rPr>
              <a:t>Guardado de programas</a:t>
            </a:r>
          </a:p>
        </p:txBody>
      </p:sp>
      <p:sp>
        <p:nvSpPr>
          <p:cNvPr id="3" name="TextBox 2"/>
          <p:cNvSpPr txBox="1"/>
          <p:nvPr/>
        </p:nvSpPr>
        <p:spPr>
          <a:xfrm>
            <a:off x="713232" y="1691640"/>
            <a:ext cx="5120640" cy="4846320"/>
          </a:xfrm>
          <a:prstGeom prst="rect">
            <a:avLst/>
          </a:prstGeom>
          <a:noFill/>
        </p:spPr>
        <p:txBody>
          <a:bodyPr wrap="square" anchor="t">
            <a:spAutoFit/>
          </a:bodyPr>
          <a:lstStyle/>
          <a:p>
            <a:pPr algn="just">
              <a:spcAft>
                <a:spcPts val="800"/>
              </a:spcAft>
            </a:pPr>
            <a:r>
              <a:rPr lang="es-MX" sz="1800" noProof="0" dirty="0"/>
              <a:t>Con el botón Guardar se abre el diálogo Guardar programa, que almacena el código fuente con la extensión .</a:t>
            </a:r>
            <a:r>
              <a:rPr lang="es-MX" sz="1800" noProof="0" dirty="0" err="1"/>
              <a:t>rav</a:t>
            </a:r>
            <a:r>
              <a:rPr lang="es-MX" sz="1800" noProof="0" dirty="0"/>
              <a:t>, identificada como Fuente RAV-J (*.</a:t>
            </a:r>
            <a:r>
              <a:rPr lang="es-MX" sz="1800" noProof="0" dirty="0" err="1"/>
              <a:t>rav</a:t>
            </a:r>
            <a:r>
              <a:rPr lang="es-MX" sz="1800" noProof="0" dirty="0"/>
              <a:t>).</a:t>
            </a:r>
          </a:p>
          <a:p>
            <a:pPr algn="just">
              <a:spcAft>
                <a:spcPts val="800"/>
              </a:spcAft>
            </a:pPr>
            <a:r>
              <a:rPr lang="es-MX" sz="1800" noProof="0" dirty="0"/>
              <a:t>El nombre del archivo activo aparece en la parte superior derecha de la ventana, y el botón Abrir permite cargar de nuevo cualquier programa guardado para compilarlo.</a:t>
            </a:r>
          </a:p>
        </p:txBody>
      </p:sp>
      <p:pic>
        <p:nvPicPr>
          <p:cNvPr id="4" name="Picture 3" descr="c10.png"/>
          <p:cNvPicPr>
            <a:picLocks noChangeAspect="1"/>
          </p:cNvPicPr>
          <p:nvPr/>
        </p:nvPicPr>
        <p:blipFill>
          <a:blip r:embed="rId2"/>
          <a:stretch>
            <a:fillRect/>
          </a:stretch>
        </p:blipFill>
        <p:spPr>
          <a:xfrm>
            <a:off x="5989320" y="1691640"/>
            <a:ext cx="5852160" cy="329184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365760"/>
            <a:ext cx="10515600" cy="1097280"/>
          </a:xfrm>
        </p:spPr>
        <p:txBody>
          <a:bodyPr/>
          <a:lstStyle/>
          <a:p>
            <a:pPr algn="ctr"/>
            <a:r>
              <a:rPr lang="es-MX" sz="4400" b="1" noProof="0" dirty="0">
                <a:solidFill>
                  <a:srgbClr val="000000"/>
                </a:solidFill>
              </a:rPr>
              <a:t>Resultado</a:t>
            </a:r>
          </a:p>
        </p:txBody>
      </p:sp>
      <p:sp>
        <p:nvSpPr>
          <p:cNvPr id="3" name="TextBox 2"/>
          <p:cNvSpPr txBox="1"/>
          <p:nvPr/>
        </p:nvSpPr>
        <p:spPr>
          <a:xfrm>
            <a:off x="841248" y="1737360"/>
            <a:ext cx="10515600" cy="2759730"/>
          </a:xfrm>
          <a:prstGeom prst="rect">
            <a:avLst/>
          </a:prstGeom>
          <a:noFill/>
        </p:spPr>
        <p:txBody>
          <a:bodyPr wrap="square" anchor="t">
            <a:spAutoFit/>
          </a:bodyPr>
          <a:lstStyle/>
          <a:p>
            <a:pPr algn="just">
              <a:spcAft>
                <a:spcPts val="800"/>
              </a:spcAft>
            </a:pPr>
            <a:r>
              <a:rPr lang="es-MX" sz="2000" noProof="0" dirty="0"/>
              <a:t>Como resultado se obtuvo  Compilador, una aplicación funcional desarrollada con Java y </a:t>
            </a:r>
            <a:r>
              <a:rPr lang="es-MX" sz="2000" noProof="0" dirty="0" err="1"/>
              <a:t>JavaFX</a:t>
            </a:r>
            <a:r>
              <a:rPr lang="es-MX" sz="2000" noProof="0" dirty="0"/>
              <a:t> que compila un programa en Java simplificado desde el código fuente hasta su ejecución.</a:t>
            </a:r>
          </a:p>
          <a:p>
            <a:pPr algn="just">
              <a:spcAft>
                <a:spcPts val="800"/>
              </a:spcAft>
            </a:pPr>
            <a:r>
              <a:rPr lang="es-MX" sz="2000" noProof="0" dirty="0"/>
              <a:t>El analizador semántico construye la tabla de símbolos, controla los ámbitos, comprueba los tipos y detecta errores como variables no declaradas, uso antes de asignar, condiciones no booleanas y tipos incompatibles, indicando la línea y la columna del problema.</a:t>
            </a:r>
          </a:p>
          <a:p>
            <a:pPr algn="just">
              <a:spcAft>
                <a:spcPts val="800"/>
              </a:spcAft>
            </a:pPr>
            <a:r>
              <a:rPr lang="es-MX" sz="2000" noProof="0" dirty="0"/>
              <a:t>Durante las pruebas, el programa de ejemplo compiló sin errores en todas las fases y su ejecución produjo la salida esperada, mientras que cada caso con error se detuvo con el diagnóstico semántico correcto.</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365760"/>
            <a:ext cx="10515600" cy="1097280"/>
          </a:xfrm>
        </p:spPr>
        <p:txBody>
          <a:bodyPr/>
          <a:lstStyle/>
          <a:p>
            <a:pPr algn="ctr"/>
            <a:r>
              <a:rPr lang="es-MX" sz="4400" b="1" noProof="0" dirty="0">
                <a:solidFill>
                  <a:srgbClr val="000000"/>
                </a:solidFill>
              </a:rPr>
              <a:t>Conclusión</a:t>
            </a:r>
          </a:p>
        </p:txBody>
      </p:sp>
      <p:sp>
        <p:nvSpPr>
          <p:cNvPr id="3" name="TextBox 2"/>
          <p:cNvSpPr txBox="1"/>
          <p:nvPr/>
        </p:nvSpPr>
        <p:spPr>
          <a:xfrm>
            <a:off x="841248" y="1737360"/>
            <a:ext cx="10515600" cy="4572000"/>
          </a:xfrm>
          <a:prstGeom prst="rect">
            <a:avLst/>
          </a:prstGeom>
          <a:noFill/>
        </p:spPr>
        <p:txBody>
          <a:bodyPr wrap="square" anchor="t">
            <a:spAutoFit/>
          </a:bodyPr>
          <a:lstStyle/>
          <a:p>
            <a:pPr algn="just">
              <a:spcAft>
                <a:spcPts val="800"/>
              </a:spcAft>
            </a:pPr>
            <a:r>
              <a:rPr lang="es-MX" sz="2000" noProof="0" dirty="0"/>
              <a:t>Se comprendió que el análisis semántico es la etapa que da significado al programa: un código puede ser sintácticamente correcto y aun así ser inválido.</a:t>
            </a:r>
          </a:p>
          <a:p>
            <a:pPr algn="just">
              <a:spcAft>
                <a:spcPts val="800"/>
              </a:spcAft>
            </a:pPr>
            <a:r>
              <a:rPr lang="es-MX" sz="2000" noProof="0" dirty="0"/>
              <a:t>Al implementar RevisionSemantica.java se observó que la tabla de símbolos y los tipos que se calculan en esta fase son la base del código intermedio, la optimización, el ensamblador y el código objeto.</a:t>
            </a:r>
          </a:p>
          <a:p>
            <a:pPr algn="just">
              <a:spcAft>
                <a:spcPts val="800"/>
              </a:spcAft>
            </a:pPr>
            <a:r>
              <a:rPr lang="es-MX" sz="2000" noProof="0" dirty="0"/>
              <a:t>Los diagnósticos con fase, línea y columna facilitan la corrección de errores, igual que en un compilador real.</a:t>
            </a:r>
          </a:p>
          <a:p>
            <a:pPr algn="just">
              <a:spcAft>
                <a:spcPts val="800"/>
              </a:spcAft>
            </a:pPr>
            <a:r>
              <a:rPr lang="es-MX" sz="2000" noProof="0" dirty="0"/>
              <a:t>Integrar los temas del curso en un solo compilador reforzó la relación entre la teoría de la materia y su implementación práctica.</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1248" y="365760"/>
            <a:ext cx="10515600" cy="1097280"/>
          </a:xfrm>
        </p:spPr>
        <p:txBody>
          <a:bodyPr/>
          <a:lstStyle/>
          <a:p>
            <a:pPr algn="ctr"/>
            <a:r>
              <a:rPr lang="es-MX" sz="4000" b="1" noProof="0" dirty="0">
                <a:solidFill>
                  <a:srgbClr val="000000"/>
                </a:solidFill>
              </a:rPr>
              <a:t>FUENTES DE INFORMACIÓN</a:t>
            </a:r>
          </a:p>
        </p:txBody>
      </p:sp>
      <p:sp>
        <p:nvSpPr>
          <p:cNvPr id="3" name="TextBox 2"/>
          <p:cNvSpPr txBox="1"/>
          <p:nvPr/>
        </p:nvSpPr>
        <p:spPr>
          <a:xfrm>
            <a:off x="841248" y="1737360"/>
            <a:ext cx="10515600" cy="2821285"/>
          </a:xfrm>
          <a:prstGeom prst="rect">
            <a:avLst/>
          </a:prstGeom>
          <a:noFill/>
        </p:spPr>
        <p:txBody>
          <a:bodyPr wrap="square">
            <a:spAutoFit/>
          </a:bodyPr>
          <a:lstStyle/>
          <a:p>
            <a:pPr>
              <a:spcAft>
                <a:spcPts val="1000"/>
              </a:spcAft>
            </a:pPr>
            <a:r>
              <a:rPr lang="es-MX" noProof="0" dirty="0"/>
              <a:t>Aquino Villanueva, R. (2026). LYAII [Código fuente]. GitHub. </a:t>
            </a:r>
            <a:r>
              <a:rPr lang="es-MX" noProof="0" dirty="0">
                <a:hlinkClick r:id="rId2"/>
              </a:rPr>
              <a:t>https://github.com/rafaelrav8770/LYAll.git</a:t>
            </a:r>
          </a:p>
          <a:p>
            <a:pPr algn="l">
              <a:spcAft>
                <a:spcPts val="1000"/>
              </a:spcAft>
            </a:pPr>
            <a:r>
              <a:rPr lang="es-MX" sz="1800" noProof="0" dirty="0"/>
              <a:t>Benítez Quecha, C. (2023). Apuntes para la materia de Lenguajes y Autómatas II. Tecnológico Nacional de México, Campus Oaxaca.</a:t>
            </a:r>
          </a:p>
          <a:p>
            <a:pPr algn="l">
              <a:spcAft>
                <a:spcPts val="1000"/>
              </a:spcAft>
            </a:pPr>
            <a:r>
              <a:rPr lang="es-MX" sz="1800" noProof="0" dirty="0" err="1"/>
              <a:t>OpenJFX</a:t>
            </a:r>
            <a:r>
              <a:rPr lang="es-MX" sz="1800" noProof="0" dirty="0"/>
              <a:t>. (s. f.). </a:t>
            </a:r>
            <a:r>
              <a:rPr lang="es-MX" sz="1800" noProof="0" dirty="0" err="1"/>
              <a:t>JavaFX</a:t>
            </a:r>
            <a:r>
              <a:rPr lang="es-MX" sz="1800" noProof="0" dirty="0"/>
              <a:t> </a:t>
            </a:r>
            <a:r>
              <a:rPr lang="es-MX" sz="1800" noProof="0" dirty="0" err="1"/>
              <a:t>documentation</a:t>
            </a:r>
            <a:r>
              <a:rPr lang="es-MX" sz="1800" noProof="0" dirty="0"/>
              <a:t>. Gluon. </a:t>
            </a:r>
            <a:r>
              <a:rPr lang="es-MX" sz="1800" noProof="0" dirty="0">
                <a:hlinkClick r:id="rId3"/>
              </a:rPr>
              <a:t>https://openjfx.io/</a:t>
            </a:r>
          </a:p>
          <a:p>
            <a:pPr algn="l">
              <a:spcAft>
                <a:spcPts val="1000"/>
              </a:spcAft>
            </a:pPr>
            <a:r>
              <a:rPr lang="es-MX" sz="1800" noProof="0" dirty="0"/>
              <a:t>Oracle. (2021). Java </a:t>
            </a:r>
            <a:r>
              <a:rPr lang="es-MX" sz="1800" noProof="0" dirty="0" err="1"/>
              <a:t>Platform</a:t>
            </a:r>
            <a:r>
              <a:rPr lang="es-MX" sz="1800" noProof="0" dirty="0"/>
              <a:t>, Standard </a:t>
            </a:r>
            <a:r>
              <a:rPr lang="es-MX" sz="1800" noProof="0" dirty="0" err="1"/>
              <a:t>Edition</a:t>
            </a:r>
            <a:r>
              <a:rPr lang="es-MX" sz="1800" noProof="0" dirty="0"/>
              <a:t> 17 API </a:t>
            </a:r>
            <a:r>
              <a:rPr lang="es-MX" sz="1800" noProof="0" dirty="0" err="1"/>
              <a:t>Specification</a:t>
            </a:r>
            <a:r>
              <a:rPr lang="es-MX" sz="1800" noProof="0" dirty="0"/>
              <a:t>. </a:t>
            </a:r>
            <a:r>
              <a:rPr lang="es-MX" sz="1800" noProof="0" dirty="0">
                <a:hlinkClick r:id="rId4"/>
              </a:rPr>
              <a:t>https://docs.oracle.com/en/java/javase/17/docs/api/</a:t>
            </a:r>
          </a:p>
          <a:p>
            <a:pPr>
              <a:spcAft>
                <a:spcPts val="1000"/>
              </a:spcAft>
            </a:pPr>
            <a:r>
              <a:rPr lang="es-MX" noProof="0" dirty="0"/>
              <a:t>ianmadariaga07. (2026). </a:t>
            </a:r>
            <a:r>
              <a:rPr lang="es-MX" i="1" noProof="0" dirty="0"/>
              <a:t>Sistema-Compilador-Multifase-Java</a:t>
            </a:r>
            <a:r>
              <a:rPr lang="es-MX" noProof="0" dirty="0"/>
              <a:t> [Código fuente]. GitHub. </a:t>
            </a:r>
            <a:r>
              <a:rPr lang="es-MX" noProof="0" dirty="0">
                <a:hlinkClick r:id="rId5"/>
              </a:rPr>
              <a:t>https://github.com/ianmadariaga07/Sistema-Compilador-Multifase-Java</a:t>
            </a:r>
            <a:endParaRPr lang="es-MX" sz="1800" noProof="0" dirty="0">
              <a:hlinkClick r:id="rId4"/>
            </a:endParaRPr>
          </a:p>
        </p:txBody>
      </p:sp>
    </p:spTree>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4">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F94E8AEC-1632-4BB5-A902-BAB09372099E}">
  <we:reference id="wa200010001" version="1.0.0.1" store="es-ES" storeType="OMEX"/>
  <we:alternateReferences>
    <we:reference id="WA200010001" version="1.0.0.1" store="" storeType="OMEX"/>
  </we:alternateReferences>
  <we:properties>
    <we:property name="claude.fileId" value="&quot;085314bc-749b-4cee-8854-1300dda75e5c&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3198</TotalTime>
  <Words>2551</Words>
  <Application>Microsoft Office PowerPoint</Application>
  <PresentationFormat>Panorámica</PresentationFormat>
  <Paragraphs>134</Paragraphs>
  <Slides>28</Slides>
  <Notes>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28</vt:i4>
      </vt:variant>
    </vt:vector>
  </HeadingPairs>
  <TitlesOfParts>
    <vt:vector size="33" baseType="lpstr">
      <vt:lpstr>Arial</vt:lpstr>
      <vt:lpstr>Calibri</vt:lpstr>
      <vt:lpstr>Calibri Light</vt:lpstr>
      <vt:lpstr>Consolas</vt:lpstr>
      <vt:lpstr>Tema de Office</vt:lpstr>
      <vt:lpstr>Presentación de PowerPoint</vt:lpstr>
      <vt:lpstr>Introducción</vt:lpstr>
      <vt:lpstr>Objetivo</vt:lpstr>
      <vt:lpstr>Justificación</vt:lpstr>
      <vt:lpstr>Desarrollo del compilador</vt:lpstr>
      <vt:lpstr>Estructura del proyecto</vt:lpstr>
      <vt:lpstr>Análisis léxico – LectorLexico.java</vt:lpstr>
      <vt:lpstr>Análisis sintáctico – LectorSintactico.java</vt:lpstr>
      <vt:lpstr>Analizador semántico – RevisionSemantica.java</vt:lpstr>
      <vt:lpstr>Tabla de símbolos</vt:lpstr>
      <vt:lpstr>Detección de errores semánticos</vt:lpstr>
      <vt:lpstr>Pruebas del analizador semántico</vt:lpstr>
      <vt:lpstr>Prueba 1 – Tipos incompatibles</vt:lpstr>
      <vt:lpstr>Prueba 2 – Variable no declarada</vt:lpstr>
      <vt:lpstr>Prueba 3 – Uso antes de asignar</vt:lpstr>
      <vt:lpstr>Prueba 4 – Condición no booleana</vt:lpstr>
      <vt:lpstr>Prueba 5 – Redeclaración de variable</vt:lpstr>
      <vt:lpstr>Prueba 6 – Operando no numérico</vt:lpstr>
      <vt:lpstr>Prueba 7 – Promoción permitida</vt:lpstr>
      <vt:lpstr>Código intermedio – Traduccion.java</vt:lpstr>
      <vt:lpstr>Optimización – Mejora.java</vt:lpstr>
      <vt:lpstr>Ensamblador RAVM</vt:lpstr>
      <vt:lpstr>Código objeto RAVM</vt:lpstr>
      <vt:lpstr>Ejecución del programa</vt:lpstr>
      <vt:lpstr>Guardado de programas</vt:lpstr>
      <vt:lpstr>Resultado</vt:lpstr>
      <vt:lpstr>Conclusión</vt:lpstr>
      <vt:lpstr>FUENTES DE INFORMACIÓN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rafael aquino villanueva</dc:creator>
  <cp:lastModifiedBy>rafael aquino villanueva</cp:lastModifiedBy>
  <cp:revision>71</cp:revision>
  <dcterms:created xsi:type="dcterms:W3CDTF">2026-02-14T13:39:49Z</dcterms:created>
  <dcterms:modified xsi:type="dcterms:W3CDTF">2026-10-04T17:20:10Z</dcterms:modified>
</cp:coreProperties>
</file>