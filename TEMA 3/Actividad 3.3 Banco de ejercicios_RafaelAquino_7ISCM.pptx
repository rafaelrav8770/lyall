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390" r:id="rId3"/>
    <p:sldId id="391" r:id="rId4"/>
    <p:sldId id="392" r:id="rId5"/>
    <p:sldId id="277" r:id="rId6"/>
    <p:sldId id="338" r:id="rId7"/>
    <p:sldId id="339" r:id="rId8"/>
    <p:sldId id="340" r:id="rId9"/>
    <p:sldId id="341" r:id="rId10"/>
    <p:sldId id="342" r:id="rId11"/>
    <p:sldId id="343" r:id="rId12"/>
    <p:sldId id="344" r:id="rId13"/>
    <p:sldId id="345" r:id="rId14"/>
    <p:sldId id="346" r:id="rId15"/>
    <p:sldId id="347" r:id="rId16"/>
    <p:sldId id="348" r:id="rId17"/>
    <p:sldId id="349" r:id="rId18"/>
    <p:sldId id="350" r:id="rId19"/>
    <p:sldId id="351" r:id="rId20"/>
    <p:sldId id="352" r:id="rId21"/>
    <p:sldId id="353" r:id="rId22"/>
    <p:sldId id="354" r:id="rId23"/>
    <p:sldId id="355" r:id="rId24"/>
    <p:sldId id="356" r:id="rId25"/>
    <p:sldId id="357" r:id="rId26"/>
    <p:sldId id="358" r:id="rId27"/>
    <p:sldId id="359" r:id="rId28"/>
    <p:sldId id="360" r:id="rId29"/>
    <p:sldId id="361" r:id="rId30"/>
    <p:sldId id="362" r:id="rId31"/>
    <p:sldId id="363" r:id="rId32"/>
    <p:sldId id="364" r:id="rId33"/>
    <p:sldId id="365" r:id="rId34"/>
    <p:sldId id="366" r:id="rId35"/>
    <p:sldId id="367" r:id="rId36"/>
    <p:sldId id="368" r:id="rId37"/>
    <p:sldId id="369" r:id="rId38"/>
    <p:sldId id="370" r:id="rId39"/>
    <p:sldId id="371" r:id="rId40"/>
    <p:sldId id="372" r:id="rId41"/>
    <p:sldId id="393" r:id="rId42"/>
    <p:sldId id="374" r:id="rId43"/>
    <p:sldId id="384" r:id="rId44"/>
    <p:sldId id="385" r:id="rId45"/>
    <p:sldId id="386" r:id="rId46"/>
    <p:sldId id="387" r:id="rId47"/>
    <p:sldId id="394" r:id="rId48"/>
    <p:sldId id="389" r:id="rId49"/>
    <p:sldId id="337" r:id="rId5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20/09/2026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20/09/2026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opendsa-server.cs.vt.edu/ODSA/StandaloneModules/20260113122745/html/Compiler.html?utm_source=chatgpt.com" TargetMode="External"/><Relationship Id="rId2" Type="http://schemas.openxmlformats.org/officeDocument/2006/relationships/hyperlink" Target="https://github.com/rafaelrav8770/LYAll.git" TargetMode="External"/><Relationship Id="rId1" Type="http://schemas.openxmlformats.org/officeDocument/2006/relationships/slideLayout" Target="../slideLayouts/slideLayout2.xml"/><Relationship Id="rId5" Type="http://schemas.openxmlformats.org/officeDocument/2006/relationships/hyperlink" Target="https://jflex.de/manual.html?utm_source=chatgpt.com" TargetMode="External"/><Relationship Id="rId4" Type="http://schemas.openxmlformats.org/officeDocument/2006/relationships/hyperlink" Target="https://www.itescam.edu.mx/portal/asignatura.php?clave_asig=SCD-1016&amp;carrera=ISIC-2010-224&amp;id_d=16&amp;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56920"/>
          </a:xfrm>
          <a:prstGeom prst="rect">
            <a:avLst/>
          </a:prstGeom>
          <a:noFill/>
        </p:spPr>
        <p:txBody>
          <a:bodyPr wrap="square">
            <a:spAutoFit/>
          </a:bodyPr>
          <a:lstStyle/>
          <a:p>
            <a:pPr algn="ctr">
              <a:lnSpc>
                <a:spcPct val="100000"/>
              </a:lnSpc>
              <a:spcAft>
                <a:spcPts val="800"/>
              </a:spcAft>
              <a:buNone/>
            </a:pPr>
            <a:r>
              <a:rPr lang="es-MX" dirty="0"/>
              <a:t>Lenguajes y Autómatas II</a:t>
            </a:r>
          </a:p>
          <a:p>
            <a:pPr algn="ctr">
              <a:lnSpc>
                <a:spcPct val="100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3.3 –</a:t>
            </a:r>
            <a:r>
              <a:rPr lang="es-MX" sz="2000" b="1" kern="0" dirty="0">
                <a:latin typeface="Arial" panose="020B0604020202020204" pitchFamily="34" charset="0"/>
                <a:ea typeface="Arial" panose="020B0604020202020204" pitchFamily="34" charset="0"/>
                <a:cs typeface="Arial" panose="020B0604020202020204" pitchFamily="34" charset="0"/>
              </a:rPr>
              <a:t>BANCO DE EJERCICIOS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294834501"/>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800"/>
                        </a:spcAft>
                        <a:buNone/>
                      </a:pPr>
                      <a:r>
                        <a:rPr lang="en-US" sz="1200" b="1" kern="0" dirty="0">
                          <a:solidFill>
                            <a:schemeClr val="tx1"/>
                          </a:solidFill>
                          <a:effectLst/>
                          <a:latin typeface="+mn-lt"/>
                          <a:ea typeface="+mn-ea"/>
                          <a:cs typeface="+mn-cs"/>
                        </a:rPr>
                        <a:t>S</a:t>
                      </a:r>
                      <a:r>
                        <a:rPr lang="es-MX" sz="1200" dirty="0">
                          <a:solidFill>
                            <a:schemeClr val="tx1"/>
                          </a:solidFill>
                        </a:rPr>
                        <a:t>É</a:t>
                      </a:r>
                      <a:r>
                        <a:rPr lang="en-US" sz="1200" b="1" kern="0" dirty="0">
                          <a:solidFill>
                            <a:schemeClr val="tx1"/>
                          </a:solidFill>
                          <a:effectLst/>
                          <a:latin typeface="+mn-lt"/>
                          <a:ea typeface="+mn-ea"/>
                          <a:cs typeface="+mn-cs"/>
                        </a:rPr>
                        <a:t>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106777" y="3063918"/>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a:latin typeface="Arial" panose="020B0604020202020204" pitchFamily="34" charset="0"/>
                <a:ea typeface="Times New Roman" panose="02020603050405020304" pitchFamily="18" charset="0"/>
                <a:cs typeface="Arial" panose="020B0604020202020204" pitchFamily="34" charset="0"/>
              </a:rPr>
              <a:t>2</a:t>
            </a:r>
            <a:r>
              <a:rPr lang="es-MX" sz="2000" b="1" kern="0" dirty="0">
                <a:latin typeface="Arial" panose="020B0604020202020204" pitchFamily="34" charset="0"/>
                <a:ea typeface="Times New Roman" panose="02020603050405020304" pitchFamily="18" charset="0"/>
                <a:cs typeface="Arial" panose="020B0604020202020204" pitchFamily="34" charset="0"/>
              </a:rPr>
              <a:t>2</a:t>
            </a:r>
            <a:r>
              <a:rPr lang="es-MX" sz="2000" b="1" kern="0">
                <a:effectLst/>
                <a:latin typeface="Arial" panose="020B0604020202020204" pitchFamily="34" charset="0"/>
                <a:ea typeface="Times New Roman" panose="02020603050405020304" pitchFamily="18" charset="0"/>
                <a:cs typeface="Arial" panose="020B0604020202020204" pitchFamily="34" charset="0"/>
              </a:rPr>
              <a:t> DE</a:t>
            </a:r>
            <a:r>
              <a:rPr lang="es-MX" sz="2000" b="1" kern="0">
                <a:latin typeface="Arial" panose="020B0604020202020204" pitchFamily="34" charset="0"/>
                <a:ea typeface="Times New Roman" panose="02020603050405020304" pitchFamily="18" charset="0"/>
                <a:cs typeface="Arial" panose="020B0604020202020204" pitchFamily="34" charset="0"/>
              </a:rPr>
              <a:t> SEPTIEMBRE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lgn="just">
              <a:buNone/>
            </a:pPr>
            <a:r>
              <a:rPr lang="es-MX" sz="4400" b="1" kern="0" dirty="0">
                <a:solidFill>
                  <a:schemeClr val="accent1"/>
                </a:solidFill>
                <a:latin typeface="+mj-lt"/>
                <a:cs typeface="Arial" panose="020B0604020202020204" pitchFamily="34" charset="0"/>
              </a:rPr>
              <a:t>Introducción</a:t>
            </a:r>
          </a:p>
          <a:p>
            <a:pPr marL="0" indent="0" algn="just">
              <a:spcBef>
                <a:spcPts val="1200"/>
              </a:spcBef>
              <a:spcAft>
                <a:spcPts val="800"/>
              </a:spcAft>
              <a:buNone/>
            </a:pPr>
            <a:r>
              <a:rPr lang="es-MX" sz="2000" dirty="0"/>
              <a:t>La optimización es la etapa del proceso de compilación en la que el código generado se mejora sin alterar el resultado del programa. Su propósito es reducir el número de operaciones y el uso de recursos para obtener un código más eficiente.</a:t>
            </a:r>
          </a:p>
          <a:p>
            <a:pPr marL="0" indent="0" algn="just">
              <a:spcAft>
                <a:spcPts val="800"/>
              </a:spcAft>
              <a:buNone/>
            </a:pPr>
            <a:r>
              <a:rPr lang="es-MX" sz="2000" dirty="0"/>
              <a:t>Este trabajo reúne el banco de ejercicios elaborado para probar los módulos de optimización del compilador desarrollado en Lenguajes y Autómatas II: optimización local, de ciclos, global y de mirilla, análisis de costos, criterios para mejorar el código y análisis del flujo de datos.</a:t>
            </a:r>
          </a:p>
          <a:p>
            <a:pPr marL="0" indent="0" algn="just">
              <a:buNone/>
            </a:pPr>
            <a:r>
              <a:rPr lang="es-MX" sz="2000" dirty="0"/>
              <a:t>Cada ejercicio incluye el código de prueba, la explicación del criterio evaluado y la evidencia de la ejecución del módulo correspondiente.</a:t>
            </a:r>
          </a:p>
        </p:txBody>
      </p:sp>
    </p:spTree>
    <p:extLst>
      <p:ext uri="{BB962C8B-B14F-4D97-AF65-F5344CB8AC3E}">
        <p14:creationId xmlns:p14="http://schemas.microsoft.com/office/powerpoint/2010/main" val="2269409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lstStyle/>
          <a:p>
            <a:pPr marL="0" indent="0">
              <a:buNone/>
            </a:pPr>
            <a:r>
              <a:rPr lang="es-MX" sz="4400" b="1" kern="0" dirty="0">
                <a:solidFill>
                  <a:schemeClr val="accent1"/>
                </a:solidFill>
                <a:latin typeface="+mj-lt"/>
                <a:cs typeface="Arial" panose="020B0604020202020204" pitchFamily="34" charset="0"/>
              </a:rPr>
              <a:t>Objetivo</a:t>
            </a:r>
          </a:p>
          <a:p>
            <a:pPr marL="0" indent="0" algn="just">
              <a:spcBef>
                <a:spcPts val="1200"/>
              </a:spcBef>
              <a:spcAft>
                <a:spcPts val="800"/>
              </a:spcAft>
              <a:buNone/>
            </a:pPr>
            <a:r>
              <a:rPr lang="es-MX" sz="2000" dirty="0"/>
              <a:t>Comprobar el funcionamiento de los módulos de optimización del compilador desarrollado en Lenguajes y Autómatas II, mediante un banco de ejercicios que evalúa cada criterio por separado.</a:t>
            </a:r>
          </a:p>
          <a:p>
            <a:pPr marL="0" indent="0" algn="just">
              <a:spcAft>
                <a:spcPts val="800"/>
              </a:spcAft>
              <a:buNone/>
            </a:pPr>
            <a:r>
              <a:rPr lang="es-MX" sz="2000" dirty="0"/>
              <a:t>Para cada módulo se verifica que el código de prueba se transforme conforme al criterio correspondiente, sin alterar el resultado del programa, y que el compilador no realice cambios cuando el código ya está optimizado.</a:t>
            </a:r>
          </a:p>
          <a:p>
            <a:pPr marL="0" indent="0" algn="just">
              <a:buNone/>
            </a:pPr>
            <a:r>
              <a:rPr lang="es-MX" sz="2000" dirty="0"/>
              <a:t>Cada prueba se documenta con su explicación y la evidencia de ejecución del módulo.</a:t>
            </a:r>
          </a:p>
        </p:txBody>
      </p:sp>
    </p:spTree>
    <p:extLst>
      <p:ext uri="{BB962C8B-B14F-4D97-AF65-F5344CB8AC3E}">
        <p14:creationId xmlns:p14="http://schemas.microsoft.com/office/powerpoint/2010/main" val="288277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lgn="just">
              <a:spcAft>
                <a:spcPts val="800"/>
              </a:spcAft>
              <a:buNone/>
            </a:pPr>
            <a:r>
              <a:rPr lang="es-MX" sz="2000" dirty="0"/>
              <a:t>Probar cada criterio de optimización por separado permite identificar con precisión qué parte del compilador funciona y cuál requiere corrección; un solo caso general no muestra el origen de un error.</a:t>
            </a:r>
          </a:p>
          <a:p>
            <a:pPr marL="0" indent="0" algn="just">
              <a:spcAft>
                <a:spcPts val="800"/>
              </a:spcAft>
              <a:buNone/>
            </a:pPr>
            <a:r>
              <a:rPr lang="es-MX" sz="2000" dirty="0"/>
              <a:t>El banco reúne código optimizable y código ya optimizado, de modo que se comprueba tanto la aplicación del criterio como la ausencia de cambios cuando no procede. Así se delimita el alcance real de cada módulo.</a:t>
            </a:r>
          </a:p>
          <a:p>
            <a:pPr marL="0" indent="0" algn="just">
              <a:buNone/>
            </a:pPr>
            <a:r>
              <a:rPr lang="es-MX" sz="2000" dirty="0"/>
              <a:t>Documentar cada prueba con su explicación y su evidencia facilita reproducir los resultados y reforzar la comprensión práctica de la etapa de optimización.</a:t>
            </a:r>
          </a:p>
        </p:txBody>
      </p:sp>
    </p:spTree>
    <p:extLst>
      <p:ext uri="{BB962C8B-B14F-4D97-AF65-F5344CB8AC3E}">
        <p14:creationId xmlns:p14="http://schemas.microsoft.com/office/powerpoint/2010/main" val="2165416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DE5D6-4298-34BA-DF41-540FC843FD09}"/>
              </a:ext>
            </a:extLst>
          </p:cNvPr>
          <p:cNvSpPr>
            <a:spLocks noGrp="1"/>
          </p:cNvSpPr>
          <p:nvPr>
            <p:ph type="title"/>
          </p:nvPr>
        </p:nvSpPr>
        <p:spPr/>
        <p:txBody>
          <a:bodyPr/>
          <a:lstStyle/>
          <a:p>
            <a:pPr>
              <a:spcBef>
                <a:spcPts val="1000"/>
              </a:spcBef>
            </a:pPr>
            <a:r>
              <a:rPr lang="es-MX" b="1" kern="0" dirty="0">
                <a:solidFill>
                  <a:schemeClr val="accent1"/>
                </a:solidFill>
                <a:ea typeface="+mn-ea"/>
                <a:cs typeface="Arial" panose="020B0604020202020204" pitchFamily="34" charset="0"/>
              </a:rPr>
              <a:t>Tema 3 Optimización</a:t>
            </a:r>
          </a:p>
        </p:txBody>
      </p:sp>
      <p:pic>
        <p:nvPicPr>
          <p:cNvPr id="4" name="Imagen 3">
            <a:extLst>
              <a:ext uri="{FF2B5EF4-FFF2-40B4-BE49-F238E27FC236}">
                <a16:creationId xmlns:a16="http://schemas.microsoft.com/office/drawing/2014/main" id="{D7492894-D0FE-8AAF-E6E5-AE04E1178532}"/>
              </a:ext>
            </a:extLst>
          </p:cNvPr>
          <p:cNvPicPr>
            <a:picLocks noChangeAspect="1"/>
          </p:cNvPicPr>
          <p:nvPr/>
        </p:nvPicPr>
        <p:blipFill>
          <a:blip r:embed="rId2"/>
          <a:stretch>
            <a:fillRect/>
          </a:stretch>
        </p:blipFill>
        <p:spPr>
          <a:xfrm>
            <a:off x="4605866" y="1752600"/>
            <a:ext cx="5960533" cy="3352800"/>
          </a:xfrm>
          <a:prstGeom prst="rect">
            <a:avLst/>
          </a:prstGeom>
        </p:spPr>
      </p:pic>
    </p:spTree>
    <p:extLst>
      <p:ext uri="{BB962C8B-B14F-4D97-AF65-F5344CB8AC3E}">
        <p14:creationId xmlns:p14="http://schemas.microsoft.com/office/powerpoint/2010/main" val="213364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F26027D-D1D6-D3FB-C4B0-23DA8485E66E}"/>
              </a:ext>
            </a:extLst>
          </p:cNvPr>
          <p:cNvSpPr txBox="1"/>
          <p:nvPr/>
        </p:nvSpPr>
        <p:spPr>
          <a:xfrm>
            <a:off x="838200" y="304800"/>
            <a:ext cx="10515600" cy="1524000"/>
          </a:xfrm>
          <a:prstGeom prst="rect">
            <a:avLst/>
          </a:prstGeom>
          <a:noFill/>
        </p:spPr>
        <p:txBody>
          <a:bodyPr wrap="square">
            <a:spAutoFit/>
          </a:bodyPr>
          <a:lstStyle/>
          <a:p>
            <a:r>
              <a:rPr lang="es-MX" sz="4400" b="1" dirty="0">
                <a:solidFill>
                  <a:srgbClr val="4472C4"/>
                </a:solidFill>
                <a:latin typeface="Calibri Light"/>
                <a:ea typeface="Calibri Light"/>
                <a:cs typeface="Calibri Light"/>
              </a:rPr>
              <a:t>Optimización local</a:t>
            </a:r>
          </a:p>
        </p:txBody>
      </p:sp>
      <p:pic>
        <p:nvPicPr>
          <p:cNvPr id="9" name="Imagen 8">
            <a:extLst>
              <a:ext uri="{FF2B5EF4-FFF2-40B4-BE49-F238E27FC236}">
                <a16:creationId xmlns:a16="http://schemas.microsoft.com/office/drawing/2014/main" id="{BA60207A-85AC-D4A1-B3C2-987A2365505D}"/>
              </a:ext>
            </a:extLst>
          </p:cNvPr>
          <p:cNvPicPr>
            <a:picLocks noChangeAspect="1"/>
          </p:cNvPicPr>
          <p:nvPr/>
        </p:nvPicPr>
        <p:blipFill>
          <a:blip r:embed="rId2"/>
          <a:stretch>
            <a:fillRect/>
          </a:stretch>
        </p:blipFill>
        <p:spPr>
          <a:xfrm>
            <a:off x="5207564" y="2082800"/>
            <a:ext cx="6123094" cy="3444240"/>
          </a:xfrm>
          <a:prstGeom prst="rect">
            <a:avLst/>
          </a:prstGeom>
        </p:spPr>
      </p:pic>
    </p:spTree>
    <p:extLst>
      <p:ext uri="{BB962C8B-B14F-4D97-AF65-F5344CB8AC3E}">
        <p14:creationId xmlns:p14="http://schemas.microsoft.com/office/powerpoint/2010/main" val="144439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86BF08-A34C-575A-D818-1094A7C2C9F8}"/>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1. Optimización local: eliminación de operaciones innecesarias</a:t>
            </a:r>
          </a:p>
        </p:txBody>
      </p:sp>
      <p:pic>
        <p:nvPicPr>
          <p:cNvPr id="7" name="Marcador de contenido 6">
            <a:extLst>
              <a:ext uri="{FF2B5EF4-FFF2-40B4-BE49-F238E27FC236}">
                <a16:creationId xmlns:a16="http://schemas.microsoft.com/office/drawing/2014/main" id="{06E6C32F-F0B8-7459-99BE-EBC08288F5A7}"/>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A7F4E4A7-BD53-4366-BB42-9607DAB6E931}"/>
              </a:ext>
            </a:extLst>
          </p:cNvPr>
          <p:cNvSpPr txBox="1"/>
          <p:nvPr/>
        </p:nvSpPr>
        <p:spPr>
          <a:xfrm>
            <a:off x="838200" y="2032000"/>
            <a:ext cx="4445000" cy="4521200"/>
          </a:xfrm>
          <a:prstGeom prst="rect">
            <a:avLst/>
          </a:prstGeom>
          <a:noFill/>
        </p:spPr>
        <p:txBody>
          <a:bodyPr vertOverflow="overflow" vert="horz" wrap="square" rtlCol="0" anchor="t">
            <a:noAutofit/>
          </a:bodyPr>
          <a:lstStyle/>
          <a:p>
            <a:r>
              <a:rPr lang="es-MX" sz="2400" dirty="0"/>
              <a:t>Prueba: </a:t>
            </a:r>
          </a:p>
          <a:p>
            <a:r>
              <a:rPr lang="es-MX" sz="2400" dirty="0"/>
              <a:t>x = 8 + 0</a:t>
            </a:r>
          </a:p>
          <a:p>
            <a:r>
              <a:rPr lang="es-MX" sz="2400" dirty="0"/>
              <a:t>y = x * 1
Explicación:</a:t>
            </a:r>
          </a:p>
          <a:p>
            <a:r>
              <a:rPr lang="es-MX" sz="2400" dirty="0"/>
              <a:t>El programa detectó operaciones que no modifican el resultado y las simplificó, reduciendo instrucciones innecesarias.</a:t>
            </a:r>
          </a:p>
          <a:p>
            <a:r>
              <a:rPr lang="es-MX" sz="2400" dirty="0"/>
              <a:t> </a:t>
            </a:r>
          </a:p>
        </p:txBody>
      </p:sp>
    </p:spTree>
    <p:extLst>
      <p:ext uri="{BB962C8B-B14F-4D97-AF65-F5344CB8AC3E}">
        <p14:creationId xmlns:p14="http://schemas.microsoft.com/office/powerpoint/2010/main" val="2872846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ADEF90-FE9C-E21B-BEDD-74ACCE994E58}"/>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2. Optimización local: plegado de constantes</a:t>
            </a:r>
          </a:p>
        </p:txBody>
      </p:sp>
      <p:pic>
        <p:nvPicPr>
          <p:cNvPr id="7" name="Marcador de contenido 6">
            <a:extLst>
              <a:ext uri="{FF2B5EF4-FFF2-40B4-BE49-F238E27FC236}">
                <a16:creationId xmlns:a16="http://schemas.microsoft.com/office/drawing/2014/main" id="{6C7AF7A7-5EBB-6C9F-5015-C397211C9928}"/>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593E31D6-B442-4A8F-B37C-F8C7C642C6A1}"/>
              </a:ext>
            </a:extLst>
          </p:cNvPr>
          <p:cNvSpPr txBox="1"/>
          <p:nvPr/>
        </p:nvSpPr>
        <p:spPr>
          <a:xfrm>
            <a:off x="838200" y="2032000"/>
            <a:ext cx="4445000" cy="3683000"/>
          </a:xfrm>
          <a:prstGeom prst="rect">
            <a:avLst/>
          </a:prstGeom>
          <a:noFill/>
        </p:spPr>
        <p:txBody>
          <a:bodyPr vertOverflow="overflow" vert="horz" wrap="square" rtlCol="0" anchor="t">
            <a:noAutofit/>
          </a:bodyPr>
          <a:lstStyle/>
          <a:p>
            <a:pPr algn="l"/>
            <a:r>
              <a:rPr lang="es-MX" sz="2400" dirty="0"/>
              <a:t>Prueba: </a:t>
            </a:r>
          </a:p>
          <a:p>
            <a:r>
              <a:rPr lang="pt-BR" sz="2400" dirty="0"/>
              <a:t>a = 5 + 3</a:t>
            </a:r>
          </a:p>
          <a:p>
            <a:r>
              <a:rPr lang="pt-BR" sz="2400" dirty="0"/>
              <a:t>b = 6 * 2</a:t>
            </a:r>
          </a:p>
          <a:p>
            <a:r>
              <a:rPr lang="pt-BR" sz="2400" dirty="0"/>
              <a:t>c = 10 - 4</a:t>
            </a:r>
            <a:r>
              <a:rPr lang="es-MX" sz="2400" dirty="0"/>
              <a:t>
Explicación:</a:t>
            </a:r>
          </a:p>
          <a:p>
            <a:pPr algn="just"/>
            <a:r>
              <a:rPr lang="es-MX" sz="2400" dirty="0"/>
              <a:t>El programa detecta operaciones formadas únicamente por constantes y calcula directamente sus resultados. </a:t>
            </a:r>
          </a:p>
        </p:txBody>
      </p:sp>
    </p:spTree>
    <p:extLst>
      <p:ext uri="{BB962C8B-B14F-4D97-AF65-F5344CB8AC3E}">
        <p14:creationId xmlns:p14="http://schemas.microsoft.com/office/powerpoint/2010/main" val="1498598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CC74F2-A0AD-9128-770F-F398BAA045B1}"/>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3. Optimización local: operaciones con cero</a:t>
            </a:r>
          </a:p>
        </p:txBody>
      </p:sp>
      <p:pic>
        <p:nvPicPr>
          <p:cNvPr id="7" name="Marcador de contenido 6">
            <a:extLst>
              <a:ext uri="{FF2B5EF4-FFF2-40B4-BE49-F238E27FC236}">
                <a16:creationId xmlns:a16="http://schemas.microsoft.com/office/drawing/2014/main" id="{6D68932E-8970-51CE-FD12-702D72C3097A}"/>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8FC0C2E1-CCF0-47A3-87B6-43E262224082}"/>
              </a:ext>
            </a:extLst>
          </p:cNvPr>
          <p:cNvSpPr txBox="1"/>
          <p:nvPr/>
        </p:nvSpPr>
        <p:spPr>
          <a:xfrm>
            <a:off x="838200" y="2032000"/>
            <a:ext cx="4445000" cy="3683000"/>
          </a:xfrm>
          <a:prstGeom prst="rect">
            <a:avLst/>
          </a:prstGeom>
          <a:noFill/>
        </p:spPr>
        <p:txBody>
          <a:bodyPr vertOverflow="overflow" vert="horz" wrap="square" rtlCol="0" anchor="t">
            <a:noAutofit/>
          </a:bodyPr>
          <a:lstStyle/>
          <a:p>
            <a:pPr algn="l"/>
            <a:r>
              <a:rPr lang="es-MX" sz="2400" dirty="0"/>
              <a:t>Prueba: </a:t>
            </a:r>
          </a:p>
          <a:p>
            <a:r>
              <a:rPr lang="pt-BR" sz="2400" dirty="0"/>
              <a:t>a = 15 * 0</a:t>
            </a:r>
          </a:p>
          <a:p>
            <a:r>
              <a:rPr lang="pt-BR" sz="2400" dirty="0"/>
              <a:t>b = 0 * 8</a:t>
            </a:r>
          </a:p>
          <a:p>
            <a:r>
              <a:rPr lang="pt-BR" sz="2400" dirty="0"/>
              <a:t>c = 20 + 0</a:t>
            </a:r>
            <a:r>
              <a:rPr lang="es-MX" sz="2400" dirty="0"/>
              <a:t>
Explicación:</a:t>
            </a:r>
          </a:p>
          <a:p>
            <a:r>
              <a:rPr lang="es-MX" sz="2400" dirty="0"/>
              <a:t>El programa aplica identidades algebraicas para simplificar multiplicaciones por cero y sumas con cero. </a:t>
            </a:r>
          </a:p>
        </p:txBody>
      </p:sp>
    </p:spTree>
    <p:extLst>
      <p:ext uri="{BB962C8B-B14F-4D97-AF65-F5344CB8AC3E}">
        <p14:creationId xmlns:p14="http://schemas.microsoft.com/office/powerpoint/2010/main" val="3699918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7F78E5-5A69-2A03-07ED-2DF3C6217718}"/>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4. Optimización local: combinación de optimizaciones</a:t>
            </a:r>
          </a:p>
        </p:txBody>
      </p:sp>
      <p:pic>
        <p:nvPicPr>
          <p:cNvPr id="7" name="Marcador de contenido 6">
            <a:extLst>
              <a:ext uri="{FF2B5EF4-FFF2-40B4-BE49-F238E27FC236}">
                <a16:creationId xmlns:a16="http://schemas.microsoft.com/office/drawing/2014/main" id="{E94D6B5A-97D4-5A93-2440-88DBE4B2A676}"/>
              </a:ext>
            </a:extLst>
          </p:cNvPr>
          <p:cNvPicPr>
            <a:picLocks noGrp="1" noChangeAspect="1"/>
          </p:cNvPicPr>
          <p:nvPr>
            <p:ph sz="half" idx="2"/>
          </p:nvPr>
        </p:nvPicPr>
        <p:blipFill>
          <a:blip r:embed="rId2"/>
          <a:stretch>
            <a:fillRect/>
          </a:stretch>
        </p:blipFill>
        <p:spPr>
          <a:xfrm>
            <a:off x="6229208" y="2326640"/>
            <a:ext cx="5454791" cy="3068320"/>
          </a:xfrm>
          <a:prstGeom prst="rect">
            <a:avLst/>
          </a:prstGeom>
        </p:spPr>
      </p:pic>
      <p:sp>
        <p:nvSpPr>
          <p:cNvPr id="5" name="CuadroTexto 4">
            <a:extLst>
              <a:ext uri="{FF2B5EF4-FFF2-40B4-BE49-F238E27FC236}">
                <a16:creationId xmlns:a16="http://schemas.microsoft.com/office/drawing/2014/main" id="{B14AB4BC-627C-49C8-B40F-FF13A55433F5}"/>
              </a:ext>
            </a:extLst>
          </p:cNvPr>
          <p:cNvSpPr txBox="1"/>
          <p:nvPr/>
        </p:nvSpPr>
        <p:spPr>
          <a:xfrm>
            <a:off x="838200" y="2032000"/>
            <a:ext cx="5166360" cy="3683000"/>
          </a:xfrm>
          <a:prstGeom prst="rect">
            <a:avLst/>
          </a:prstGeom>
          <a:noFill/>
        </p:spPr>
        <p:txBody>
          <a:bodyPr vertOverflow="overflow" vert="horz" wrap="square" rtlCol="0" anchor="t">
            <a:noAutofit/>
          </a:bodyPr>
          <a:lstStyle/>
          <a:p>
            <a:pPr algn="l"/>
            <a:r>
              <a:rPr lang="es-MX" sz="2400" dirty="0"/>
              <a:t>Prueba: </a:t>
            </a:r>
          </a:p>
          <a:p>
            <a:r>
              <a:rPr lang="pt-BR" sz="2400" dirty="0"/>
              <a:t>a = 4 * 5</a:t>
            </a:r>
          </a:p>
          <a:p>
            <a:r>
              <a:rPr lang="pt-BR" sz="2400" dirty="0"/>
              <a:t>b = 12 + 0</a:t>
            </a:r>
          </a:p>
          <a:p>
            <a:r>
              <a:rPr lang="pt-BR" sz="2400" dirty="0"/>
              <a:t>c = 9 * 1</a:t>
            </a:r>
          </a:p>
          <a:p>
            <a:r>
              <a:rPr lang="pt-BR" sz="2400" dirty="0"/>
              <a:t>d = 20 / 1</a:t>
            </a:r>
            <a:r>
              <a:rPr lang="es-MX" sz="2400" dirty="0"/>
              <a:t>
Explicación: </a:t>
            </a:r>
          </a:p>
          <a:p>
            <a:pPr algn="just"/>
            <a:r>
              <a:rPr lang="es-MX" sz="2400" dirty="0"/>
              <a:t>En una misma prueba se comprueban diferentes optimizaciones locales: plegado de constantes, eliminación de suma con cero, multiplicación por uno y división entre uno.</a:t>
            </a:r>
          </a:p>
        </p:txBody>
      </p:sp>
    </p:spTree>
    <p:extLst>
      <p:ext uri="{BB962C8B-B14F-4D97-AF65-F5344CB8AC3E}">
        <p14:creationId xmlns:p14="http://schemas.microsoft.com/office/powerpoint/2010/main" val="2919981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9ABA56-6D42-281F-99ED-1EDD2DF9518B}"/>
              </a:ext>
            </a:extLst>
          </p:cNvPr>
          <p:cNvSpPr>
            <a:spLocks noGrp="1"/>
          </p:cNvSpPr>
          <p:nvPr>
            <p:ph type="title"/>
          </p:nvPr>
        </p:nvSpPr>
        <p:spPr>
          <a:xfrm>
            <a:off x="838200" y="304800"/>
            <a:ext cx="10515600" cy="1524000"/>
          </a:xfrm>
        </p:spPr>
        <p:txBody>
          <a:bodyPr>
            <a:noAutofit/>
          </a:bodyPr>
          <a:lstStyle/>
          <a:p>
            <a:r>
              <a:rPr lang="es-MX" b="1" dirty="0">
                <a:solidFill>
                  <a:srgbClr val="4472C4"/>
                </a:solidFill>
                <a:latin typeface="Calibri Light"/>
                <a:ea typeface="Calibri Light"/>
                <a:cs typeface="Calibri Light"/>
              </a:rPr>
              <a:t>Explicación de las pruebas de Optimización local</a:t>
            </a:r>
          </a:p>
        </p:txBody>
      </p:sp>
      <p:sp>
        <p:nvSpPr>
          <p:cNvPr id="3" name="Marcador de contenido 2">
            <a:extLst>
              <a:ext uri="{FF2B5EF4-FFF2-40B4-BE49-F238E27FC236}">
                <a16:creationId xmlns:a16="http://schemas.microsoft.com/office/drawing/2014/main" id="{0893AF0D-50FD-A203-5021-53F6629CF775}"/>
              </a:ext>
            </a:extLst>
          </p:cNvPr>
          <p:cNvSpPr>
            <a:spLocks noGrp="1"/>
          </p:cNvSpPr>
          <p:nvPr>
            <p:ph idx="1"/>
          </p:nvPr>
        </p:nvSpPr>
        <p:spPr>
          <a:xfrm>
            <a:off x="838200" y="2032000"/>
            <a:ext cx="10515600" cy="4508500"/>
          </a:xfrm>
        </p:spPr>
        <p:txBody>
          <a:bodyPr>
            <a:normAutofit fontScale="85000" lnSpcReduction="20000"/>
          </a:bodyPr>
          <a:lstStyle/>
          <a:p>
            <a:pPr marL="0" indent="0" algn="just">
              <a:buNone/>
            </a:pPr>
            <a:r>
              <a:rPr lang="es-MX" dirty="0"/>
              <a:t>Las pruebas realizadas permitieron comprobar el funcionamiento del módulo de optimización local mediante diferentes tipos de expresiones. En el primer ejercicio se verificó la eliminación de operaciones neutras, como sumar cero o multiplicar por uno. En el segundo se comprobó el plegado de constantes, resolviendo directamente operaciones formadas únicamente por valores numéricos. En el tercer ejercicio se evaluaron simplificaciones relacionadas con el uso del cero, como la multiplicación por cero y la suma con cero. Finalmente, en el cuarto ejercicio se combinaron varias técnicas de optimización local dentro de un mismo bloque de código.</a:t>
            </a:r>
          </a:p>
          <a:p>
            <a:pPr marL="0" indent="0" algn="just">
              <a:buNone/>
            </a:pPr>
            <a:r>
              <a:rPr lang="es-MX" dirty="0"/>
              <a:t>Los resultados obtenidos muestran que el módulo puede reducir operaciones innecesarias y simplificar expresiones sin modificar el resultado final del programa. Además, las pruebas permitieron observar cómo estas transformaciones disminuyen la cantidad de cálculos requeridos y generan un código más sencillo. De esta manera, se comprobó de forma práctica la utilidad de la optimización local dentro del proceso de optimización de un compilador.</a:t>
            </a:r>
          </a:p>
          <a:p>
            <a:pPr algn="just"/>
            <a:endParaRPr lang="es-MX" dirty="0"/>
          </a:p>
        </p:txBody>
      </p:sp>
    </p:spTree>
    <p:extLst>
      <p:ext uri="{BB962C8B-B14F-4D97-AF65-F5344CB8AC3E}">
        <p14:creationId xmlns:p14="http://schemas.microsoft.com/office/powerpoint/2010/main" val="4118007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85E02C-E8A1-4D59-9B4E-C7F60B08B72A}"/>
              </a:ext>
            </a:extLst>
          </p:cNvPr>
          <p:cNvSpPr>
            <a:spLocks noGrp="1"/>
          </p:cNvSpPr>
          <p:nvPr>
            <p:ph type="title"/>
          </p:nvPr>
        </p:nvSpPr>
        <p:spPr>
          <a:xfrm>
            <a:off x="838200" y="304800"/>
            <a:ext cx="10515600" cy="1524000"/>
          </a:xfrm>
        </p:spPr>
        <p:txBody>
          <a:bodyPr>
            <a:normAutofit/>
          </a:bodyPr>
          <a:lstStyle/>
          <a:p>
            <a:r>
              <a:rPr lang="es-MX" sz="4400" b="1">
                <a:solidFill>
                  <a:srgbClr val="4472C4"/>
                </a:solidFill>
                <a:latin typeface="Calibri Light"/>
                <a:ea typeface="Calibri Light"/>
                <a:cs typeface="Calibri Light"/>
              </a:rPr>
              <a:t>Optimización de ciclos</a:t>
            </a:r>
          </a:p>
        </p:txBody>
      </p:sp>
      <p:pic>
        <p:nvPicPr>
          <p:cNvPr id="5" name="Imagen 4">
            <a:extLst>
              <a:ext uri="{FF2B5EF4-FFF2-40B4-BE49-F238E27FC236}">
                <a16:creationId xmlns:a16="http://schemas.microsoft.com/office/drawing/2014/main" id="{E3E4CEBD-62DA-8F21-A9C8-DA438684AC6F}"/>
              </a:ext>
            </a:extLst>
          </p:cNvPr>
          <p:cNvPicPr>
            <a:picLocks noChangeAspect="1"/>
          </p:cNvPicPr>
          <p:nvPr/>
        </p:nvPicPr>
        <p:blipFill>
          <a:blip r:embed="rId2"/>
          <a:stretch>
            <a:fillRect/>
          </a:stretch>
        </p:blipFill>
        <p:spPr>
          <a:xfrm>
            <a:off x="5207564" y="2082800"/>
            <a:ext cx="6123094" cy="3444240"/>
          </a:xfrm>
          <a:prstGeom prst="rect">
            <a:avLst/>
          </a:prstGeom>
        </p:spPr>
      </p:pic>
    </p:spTree>
    <p:extLst>
      <p:ext uri="{BB962C8B-B14F-4D97-AF65-F5344CB8AC3E}">
        <p14:creationId xmlns:p14="http://schemas.microsoft.com/office/powerpoint/2010/main" val="3717697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AD6B6E-2DC4-0894-1BEA-1573CF09789E}"/>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1. Optimización de ciclos: movimiento de una expresión invariante</a:t>
            </a:r>
          </a:p>
        </p:txBody>
      </p:sp>
      <p:sp>
        <p:nvSpPr>
          <p:cNvPr id="5" name="CuadroTexto 4">
            <a:extLst>
              <a:ext uri="{FF2B5EF4-FFF2-40B4-BE49-F238E27FC236}">
                <a16:creationId xmlns:a16="http://schemas.microsoft.com/office/drawing/2014/main" id="{7124EC3D-572F-41A0-A7AD-01416E4DE611}"/>
              </a:ext>
            </a:extLst>
          </p:cNvPr>
          <p:cNvSpPr txBox="1"/>
          <p:nvPr/>
        </p:nvSpPr>
        <p:spPr>
          <a:xfrm>
            <a:off x="838200" y="2052320"/>
            <a:ext cx="5003800" cy="3683000"/>
          </a:xfrm>
          <a:prstGeom prst="rect">
            <a:avLst/>
          </a:prstGeom>
          <a:noFill/>
        </p:spPr>
        <p:txBody>
          <a:bodyPr vertOverflow="overflow" vert="horz" wrap="square" rtlCol="0" anchor="t">
            <a:noAutofit/>
          </a:bodyPr>
          <a:lstStyle/>
          <a:p>
            <a:pPr algn="l"/>
            <a:r>
              <a:rPr lang="es-MX" sz="2400" dirty="0"/>
              <a:t>Prueba: </a:t>
            </a:r>
          </a:p>
          <a:p>
            <a:r>
              <a:rPr lang="nn-NO" sz="2400" dirty="0"/>
              <a:t>for(i=0;i&lt;10;i++){</a:t>
            </a:r>
          </a:p>
          <a:p>
            <a:r>
              <a:rPr lang="nn-NO" sz="2400" dirty="0"/>
              <a:t>    x = 5 * 2;</a:t>
            </a:r>
          </a:p>
          <a:p>
            <a:r>
              <a:rPr lang="nn-NO" sz="2400" dirty="0"/>
              <a:t>    y = x + i;</a:t>
            </a:r>
          </a:p>
          <a:p>
            <a:r>
              <a:rPr lang="nn-NO" sz="2400" dirty="0"/>
              <a:t>}</a:t>
            </a:r>
            <a:r>
              <a:rPr lang="es-MX" sz="2400" dirty="0"/>
              <a:t>
Explicación: </a:t>
            </a:r>
          </a:p>
          <a:p>
            <a:r>
              <a:rPr lang="es-MX" sz="2400" dirty="0"/>
              <a:t>El programa detecta que x = 5 * 2 no depende de la variable de control i, por lo que calcula su valor una sola vez y mueve la instrucción fuera del ciclo.</a:t>
            </a:r>
          </a:p>
          <a:p>
            <a:endParaRPr lang="es-MX" sz="2400" dirty="0"/>
          </a:p>
        </p:txBody>
      </p:sp>
      <p:pic>
        <p:nvPicPr>
          <p:cNvPr id="13" name="Marcador de contenido 12">
            <a:extLst>
              <a:ext uri="{FF2B5EF4-FFF2-40B4-BE49-F238E27FC236}">
                <a16:creationId xmlns:a16="http://schemas.microsoft.com/office/drawing/2014/main" id="{AC8C3BF7-42DB-4805-BB82-EAE4DE08E6CA}"/>
              </a:ext>
            </a:extLst>
          </p:cNvPr>
          <p:cNvPicPr>
            <a:picLocks noGrp="1" noChangeAspect="1"/>
          </p:cNvPicPr>
          <p:nvPr>
            <p:ph sz="half" idx="2"/>
          </p:nvPr>
        </p:nvPicPr>
        <p:blipFill>
          <a:blip r:embed="rId2"/>
          <a:stretch>
            <a:fillRect/>
          </a:stretch>
        </p:blipFill>
        <p:spPr>
          <a:xfrm>
            <a:off x="6172200" y="2543969"/>
            <a:ext cx="5181600" cy="2914649"/>
          </a:xfrm>
          <a:prstGeom prst="rect">
            <a:avLst/>
          </a:prstGeom>
        </p:spPr>
      </p:pic>
    </p:spTree>
    <p:extLst>
      <p:ext uri="{BB962C8B-B14F-4D97-AF65-F5344CB8AC3E}">
        <p14:creationId xmlns:p14="http://schemas.microsoft.com/office/powerpoint/2010/main" val="401983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CD5A2C-CDE2-C8A7-07F8-AF289A3FE224}"/>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2. Optimización de ciclos: dos expresiones invariantes</a:t>
            </a:r>
          </a:p>
        </p:txBody>
      </p:sp>
      <p:pic>
        <p:nvPicPr>
          <p:cNvPr id="7" name="Marcador de contenido 6">
            <a:extLst>
              <a:ext uri="{FF2B5EF4-FFF2-40B4-BE49-F238E27FC236}">
                <a16:creationId xmlns:a16="http://schemas.microsoft.com/office/drawing/2014/main" id="{41E85D85-8EBC-32F5-31B2-8112159982DD}"/>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8F7863F6-32AD-49D5-B3CA-60EEA3465954}"/>
              </a:ext>
            </a:extLst>
          </p:cNvPr>
          <p:cNvSpPr txBox="1"/>
          <p:nvPr/>
        </p:nvSpPr>
        <p:spPr>
          <a:xfrm>
            <a:off x="838200" y="2032000"/>
            <a:ext cx="4597400" cy="3683000"/>
          </a:xfrm>
          <a:prstGeom prst="rect">
            <a:avLst/>
          </a:prstGeom>
          <a:noFill/>
        </p:spPr>
        <p:txBody>
          <a:bodyPr vertOverflow="overflow" vert="horz" wrap="square" rtlCol="0" anchor="t">
            <a:noAutofit/>
          </a:bodyPr>
          <a:lstStyle/>
          <a:p>
            <a:pPr algn="l"/>
            <a:r>
              <a:rPr lang="es-MX" sz="2400" dirty="0"/>
              <a:t>Prueba: </a:t>
            </a:r>
          </a:p>
          <a:p>
            <a:r>
              <a:rPr lang="es-MX" sz="2400" dirty="0" err="1"/>
              <a:t>for</a:t>
            </a:r>
            <a:r>
              <a:rPr lang="es-MX" sz="2400" dirty="0"/>
              <a:t>(i=0;i&lt;5;i++){</a:t>
            </a:r>
          </a:p>
          <a:p>
            <a:r>
              <a:rPr lang="es-MX" sz="2400" dirty="0"/>
              <a:t>    a = 4 + 6;</a:t>
            </a:r>
          </a:p>
          <a:p>
            <a:r>
              <a:rPr lang="es-MX" sz="2400" dirty="0"/>
              <a:t>    b = 3 * 2;</a:t>
            </a:r>
          </a:p>
          <a:p>
            <a:r>
              <a:rPr lang="es-MX" sz="2400" dirty="0"/>
              <a:t>    c = a + i;</a:t>
            </a:r>
          </a:p>
          <a:p>
            <a:r>
              <a:rPr lang="es-MX" sz="2400" dirty="0"/>
              <a:t>}
Explicación:</a:t>
            </a:r>
          </a:p>
          <a:p>
            <a:pPr algn="just"/>
            <a:r>
              <a:rPr lang="es-MX" sz="2400" dirty="0"/>
              <a:t>Las expresiones a = 4 + 6 y b = 3 * 2 no cambian durante las iteraciones, por lo que son movidas fuera del ciclo y calculadas previamente. </a:t>
            </a:r>
          </a:p>
        </p:txBody>
      </p:sp>
    </p:spTree>
    <p:extLst>
      <p:ext uri="{BB962C8B-B14F-4D97-AF65-F5344CB8AC3E}">
        <p14:creationId xmlns:p14="http://schemas.microsoft.com/office/powerpoint/2010/main" val="2429172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521C84-7E4B-02F7-CD15-CC80856EC5B0}"/>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3. Optimización de ciclos: dependencia de la variable de control</a:t>
            </a:r>
          </a:p>
        </p:txBody>
      </p:sp>
      <p:pic>
        <p:nvPicPr>
          <p:cNvPr id="7" name="Marcador de contenido 6">
            <a:extLst>
              <a:ext uri="{FF2B5EF4-FFF2-40B4-BE49-F238E27FC236}">
                <a16:creationId xmlns:a16="http://schemas.microsoft.com/office/drawing/2014/main" id="{DF820337-B739-C873-07F5-F4A0EA53C2B0}"/>
              </a:ext>
            </a:extLst>
          </p:cNvPr>
          <p:cNvPicPr>
            <a:picLocks noGrp="1" noChangeAspect="1"/>
          </p:cNvPicPr>
          <p:nvPr>
            <p:ph sz="half" idx="2"/>
          </p:nvPr>
        </p:nvPicPr>
        <p:blipFill>
          <a:blip r:embed="rId2"/>
          <a:stretch>
            <a:fillRect/>
          </a:stretch>
        </p:blipFill>
        <p:spPr>
          <a:xfrm>
            <a:off x="6024880" y="2341244"/>
            <a:ext cx="5659120" cy="3183255"/>
          </a:xfrm>
          <a:prstGeom prst="rect">
            <a:avLst/>
          </a:prstGeom>
        </p:spPr>
      </p:pic>
      <p:sp>
        <p:nvSpPr>
          <p:cNvPr id="5" name="CuadroTexto 4">
            <a:extLst>
              <a:ext uri="{FF2B5EF4-FFF2-40B4-BE49-F238E27FC236}">
                <a16:creationId xmlns:a16="http://schemas.microsoft.com/office/drawing/2014/main" id="{D94C7C8E-1F7C-42B4-85AA-31B22B1247F1}"/>
              </a:ext>
            </a:extLst>
          </p:cNvPr>
          <p:cNvSpPr txBox="1"/>
          <p:nvPr/>
        </p:nvSpPr>
        <p:spPr>
          <a:xfrm>
            <a:off x="838200" y="1940560"/>
            <a:ext cx="4820920" cy="3683000"/>
          </a:xfrm>
          <a:prstGeom prst="rect">
            <a:avLst/>
          </a:prstGeom>
          <a:noFill/>
        </p:spPr>
        <p:txBody>
          <a:bodyPr vertOverflow="overflow" vert="horz" wrap="square" rtlCol="0" anchor="t">
            <a:noAutofit/>
          </a:bodyPr>
          <a:lstStyle/>
          <a:p>
            <a:pPr algn="l"/>
            <a:r>
              <a:rPr lang="es-MX" sz="2400" dirty="0"/>
              <a:t>Prueba: </a:t>
            </a:r>
          </a:p>
          <a:p>
            <a:r>
              <a:rPr lang="nn-NO" sz="2400" dirty="0"/>
              <a:t>for(i=0;i&lt;8;i++){</a:t>
            </a:r>
          </a:p>
          <a:p>
            <a:r>
              <a:rPr lang="nn-NO" sz="2400" dirty="0"/>
              <a:t>    x = i + 2;</a:t>
            </a:r>
          </a:p>
          <a:p>
            <a:r>
              <a:rPr lang="nn-NO" sz="2400" dirty="0"/>
              <a:t>    y = x * 3;</a:t>
            </a:r>
          </a:p>
          <a:p>
            <a:r>
              <a:rPr lang="nn-NO" sz="2400" dirty="0"/>
              <a:t>}</a:t>
            </a:r>
            <a:r>
              <a:rPr lang="es-MX" sz="2400" dirty="0"/>
              <a:t>
Explicación:</a:t>
            </a:r>
          </a:p>
          <a:p>
            <a:pPr algn="just"/>
            <a:r>
              <a:rPr lang="es-MX" sz="2400" dirty="0"/>
              <a:t>En este caso, x depende directamente de i y </a:t>
            </a:r>
            <a:r>
              <a:rPr lang="es-MX" sz="2400" dirty="0" err="1"/>
              <a:t>y</a:t>
            </a:r>
            <a:r>
              <a:rPr lang="es-MX" sz="2400" dirty="0"/>
              <a:t> depende de x, por lo que ambas instrucciones cambian en cada iteración. El programa no las mueve fuera del ciclo. </a:t>
            </a:r>
          </a:p>
        </p:txBody>
      </p:sp>
    </p:spTree>
    <p:extLst>
      <p:ext uri="{BB962C8B-B14F-4D97-AF65-F5344CB8AC3E}">
        <p14:creationId xmlns:p14="http://schemas.microsoft.com/office/powerpoint/2010/main" val="26941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156BF-4514-9251-B4EA-165347E1993B}"/>
              </a:ext>
            </a:extLst>
          </p:cNvPr>
          <p:cNvSpPr>
            <a:spLocks noGrp="1"/>
          </p:cNvSpPr>
          <p:nvPr>
            <p:ph type="title"/>
          </p:nvPr>
        </p:nvSpPr>
        <p:spPr>
          <a:xfrm>
            <a:off x="838200" y="304800"/>
            <a:ext cx="10515600" cy="1524000"/>
          </a:xfrm>
        </p:spPr>
        <p:txBody>
          <a:bodyPr>
            <a:normAutofit fontScale="90000"/>
          </a:bodyPr>
          <a:lstStyle/>
          <a:p>
            <a:r>
              <a:rPr lang="es-MX" b="1" dirty="0">
                <a:solidFill>
                  <a:srgbClr val="4472C4"/>
                </a:solidFill>
                <a:latin typeface="Calibri Light"/>
                <a:ea typeface="Calibri Light"/>
                <a:cs typeface="Calibri Light"/>
              </a:rPr>
              <a:t>Ejercicio 4. Optimización de ciclos: combinación de instrucciones variantes e invariantes</a:t>
            </a:r>
          </a:p>
        </p:txBody>
      </p:sp>
      <p:pic>
        <p:nvPicPr>
          <p:cNvPr id="7" name="Marcador de contenido 6">
            <a:extLst>
              <a:ext uri="{FF2B5EF4-FFF2-40B4-BE49-F238E27FC236}">
                <a16:creationId xmlns:a16="http://schemas.microsoft.com/office/drawing/2014/main" id="{C2FB9EE4-4462-1F7C-7A00-5DBDD8FE6FEC}"/>
              </a:ext>
            </a:extLst>
          </p:cNvPr>
          <p:cNvPicPr>
            <a:picLocks noGrp="1" noChangeAspect="1"/>
          </p:cNvPicPr>
          <p:nvPr>
            <p:ph sz="half" idx="2"/>
          </p:nvPr>
        </p:nvPicPr>
        <p:blipFill>
          <a:blip r:embed="rId2"/>
          <a:stretch>
            <a:fillRect/>
          </a:stretch>
        </p:blipFill>
        <p:spPr>
          <a:xfrm>
            <a:off x="5962790" y="2095500"/>
            <a:ext cx="5721209" cy="3218180"/>
          </a:xfrm>
          <a:prstGeom prst="rect">
            <a:avLst/>
          </a:prstGeom>
        </p:spPr>
      </p:pic>
      <p:sp>
        <p:nvSpPr>
          <p:cNvPr id="5" name="CuadroTexto 4">
            <a:extLst>
              <a:ext uri="{FF2B5EF4-FFF2-40B4-BE49-F238E27FC236}">
                <a16:creationId xmlns:a16="http://schemas.microsoft.com/office/drawing/2014/main" id="{849F20F6-56FA-4507-947B-B3FD71B107CD}"/>
              </a:ext>
            </a:extLst>
          </p:cNvPr>
          <p:cNvSpPr txBox="1"/>
          <p:nvPr/>
        </p:nvSpPr>
        <p:spPr>
          <a:xfrm>
            <a:off x="838200" y="1828800"/>
            <a:ext cx="4993640" cy="3683000"/>
          </a:xfrm>
          <a:prstGeom prst="rect">
            <a:avLst/>
          </a:prstGeom>
          <a:noFill/>
        </p:spPr>
        <p:txBody>
          <a:bodyPr vertOverflow="overflow" vert="horz" wrap="square" rtlCol="0" anchor="t">
            <a:noAutofit/>
          </a:bodyPr>
          <a:lstStyle/>
          <a:p>
            <a:pPr algn="l"/>
            <a:r>
              <a:rPr lang="es-MX" sz="2400" dirty="0"/>
              <a:t>Prueba: </a:t>
            </a:r>
          </a:p>
          <a:p>
            <a:r>
              <a:rPr lang="es-MX" sz="2400" dirty="0" err="1"/>
              <a:t>for</a:t>
            </a:r>
            <a:r>
              <a:rPr lang="es-MX" sz="2400" dirty="0"/>
              <a:t>(i=0;i&lt;6;i++){</a:t>
            </a:r>
          </a:p>
          <a:p>
            <a:r>
              <a:rPr lang="es-MX" sz="2400" dirty="0"/>
              <a:t>    a = 10 * 2;</a:t>
            </a:r>
          </a:p>
          <a:p>
            <a:r>
              <a:rPr lang="es-MX" sz="2400" dirty="0"/>
              <a:t>    b = i + 1;</a:t>
            </a:r>
          </a:p>
          <a:p>
            <a:r>
              <a:rPr lang="es-MX" sz="2400" dirty="0"/>
              <a:t>    c = a + b;</a:t>
            </a:r>
          </a:p>
          <a:p>
            <a:r>
              <a:rPr lang="es-MX" sz="2400" dirty="0"/>
              <a:t>}
Explicación: </a:t>
            </a:r>
          </a:p>
          <a:p>
            <a:pPr algn="just"/>
            <a:r>
              <a:rPr lang="es-MX" sz="2400" dirty="0"/>
              <a:t>El programa identifica que a = 10 * 2 es una expresión invariante y la mueve fuera del ciclo. En cambio, b depende de i y c depende de b, por lo que permanecen dentro del ciclo.</a:t>
            </a:r>
          </a:p>
        </p:txBody>
      </p:sp>
    </p:spTree>
    <p:extLst>
      <p:ext uri="{BB962C8B-B14F-4D97-AF65-F5344CB8AC3E}">
        <p14:creationId xmlns:p14="http://schemas.microsoft.com/office/powerpoint/2010/main" val="1328208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E898A-FF30-16B5-011E-23C76476ED68}"/>
              </a:ext>
            </a:extLst>
          </p:cNvPr>
          <p:cNvSpPr>
            <a:spLocks noGrp="1"/>
          </p:cNvSpPr>
          <p:nvPr>
            <p:ph type="title"/>
          </p:nvPr>
        </p:nvSpPr>
        <p:spPr>
          <a:xfrm>
            <a:off x="838200" y="304800"/>
            <a:ext cx="10515600" cy="1524000"/>
          </a:xfrm>
        </p:spPr>
        <p:txBody>
          <a:bodyPr>
            <a:noAutofit/>
          </a:bodyPr>
          <a:lstStyle/>
          <a:p>
            <a:r>
              <a:rPr lang="es-MX" b="1" dirty="0">
                <a:solidFill>
                  <a:srgbClr val="4472C4"/>
                </a:solidFill>
                <a:latin typeface="Calibri Light"/>
                <a:ea typeface="Calibri Light"/>
                <a:cs typeface="Calibri Light"/>
              </a:rPr>
              <a:t>Explicación de las pruebas de Optimización de ciclos</a:t>
            </a:r>
          </a:p>
        </p:txBody>
      </p:sp>
      <p:sp>
        <p:nvSpPr>
          <p:cNvPr id="3" name="Marcador de contenido 2">
            <a:extLst>
              <a:ext uri="{FF2B5EF4-FFF2-40B4-BE49-F238E27FC236}">
                <a16:creationId xmlns:a16="http://schemas.microsoft.com/office/drawing/2014/main" id="{5C1189B1-6B39-39FD-A0D5-0FC159137BEA}"/>
              </a:ext>
            </a:extLst>
          </p:cNvPr>
          <p:cNvSpPr>
            <a:spLocks noGrp="1"/>
          </p:cNvSpPr>
          <p:nvPr>
            <p:ph idx="1"/>
          </p:nvPr>
        </p:nvSpPr>
        <p:spPr>
          <a:xfrm>
            <a:off x="838200" y="2032000"/>
            <a:ext cx="10515600" cy="4508500"/>
          </a:xfrm>
        </p:spPr>
        <p:txBody>
          <a:bodyPr>
            <a:normAutofit fontScale="85000" lnSpcReduction="20000"/>
          </a:bodyPr>
          <a:lstStyle/>
          <a:p>
            <a:pPr marL="0" indent="0" algn="just">
              <a:buNone/>
            </a:pPr>
            <a:r>
              <a:rPr lang="es-MX" dirty="0"/>
              <a:t>Las pruebas realizadas permitieron comprobar el funcionamiento del módulo de optimización de ciclos mediante diferentes situaciones. En el primer ejercicio se verificó el movimiento de una expresión invariante fuera del ciclo, evitando que se repita un cálculo que produce siempre el mismo resultado. En el segundo se comprobó que el programa puede identificar varias expresiones invariantes y calcularlas antes de iniciar las iteraciones.</a:t>
            </a:r>
          </a:p>
          <a:p>
            <a:pPr marL="0" indent="0" algn="just">
              <a:buNone/>
            </a:pPr>
            <a:r>
              <a:rPr lang="es-MX" dirty="0"/>
              <a:t>En el tercer ejercicio se evaluó un caso en el que las instrucciones dependen de la variable de control, por lo que deben permanecer dentro del ciclo. Finalmente, en el cuarto ejercicio se combinaron instrucciones invariantes y variantes, permitiendo comprobar que solo las expresiones que no cambian durante las iteraciones son movidas fuera del ciclo.</a:t>
            </a:r>
          </a:p>
          <a:p>
            <a:pPr marL="0" indent="0" algn="just">
              <a:buNone/>
            </a:pPr>
            <a:r>
              <a:rPr lang="es-MX" dirty="0"/>
              <a:t>Los resultados muestran que el módulo distingue correctamente entre cálculos que pueden ejecutarse una sola vez y aquellos que deben repetirse en cada iteración. Esto permite reducir operaciones innecesarias dentro de los ciclos, mejorar la eficiencia del código y conservar el mismo resultado del programa.</a:t>
            </a:r>
          </a:p>
          <a:p>
            <a:pPr algn="just"/>
            <a:endParaRPr lang="es-MX" dirty="0"/>
          </a:p>
        </p:txBody>
      </p:sp>
    </p:spTree>
    <p:extLst>
      <p:ext uri="{BB962C8B-B14F-4D97-AF65-F5344CB8AC3E}">
        <p14:creationId xmlns:p14="http://schemas.microsoft.com/office/powerpoint/2010/main" val="3048994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AF5AC3-82D3-0777-C0D8-9EF2D8C8A431}"/>
              </a:ext>
            </a:extLst>
          </p:cNvPr>
          <p:cNvSpPr>
            <a:spLocks noGrp="1"/>
          </p:cNvSpPr>
          <p:nvPr>
            <p:ph type="title"/>
          </p:nvPr>
        </p:nvSpPr>
        <p:spPr>
          <a:xfrm>
            <a:off x="838200" y="304800"/>
            <a:ext cx="10515600" cy="944880"/>
          </a:xfrm>
        </p:spPr>
        <p:txBody>
          <a:bodyPr>
            <a:normAutofit/>
          </a:bodyPr>
          <a:lstStyle/>
          <a:p>
            <a:r>
              <a:rPr lang="es-MX" sz="4400" b="1" dirty="0">
                <a:solidFill>
                  <a:srgbClr val="4472C4"/>
                </a:solidFill>
                <a:latin typeface="Calibri Light"/>
                <a:ea typeface="Calibri Light"/>
                <a:cs typeface="Calibri Light"/>
              </a:rPr>
              <a:t>Optimización global</a:t>
            </a:r>
          </a:p>
        </p:txBody>
      </p:sp>
      <p:pic>
        <p:nvPicPr>
          <p:cNvPr id="5" name="Imagen 4">
            <a:extLst>
              <a:ext uri="{FF2B5EF4-FFF2-40B4-BE49-F238E27FC236}">
                <a16:creationId xmlns:a16="http://schemas.microsoft.com/office/drawing/2014/main" id="{C32EE4DC-E8FB-10D7-0B3E-EB5875ABD553}"/>
              </a:ext>
            </a:extLst>
          </p:cNvPr>
          <p:cNvPicPr>
            <a:picLocks noChangeAspect="1"/>
          </p:cNvPicPr>
          <p:nvPr/>
        </p:nvPicPr>
        <p:blipFill>
          <a:blip r:embed="rId2"/>
          <a:stretch>
            <a:fillRect/>
          </a:stretch>
        </p:blipFill>
        <p:spPr>
          <a:xfrm>
            <a:off x="5207564" y="2082800"/>
            <a:ext cx="6123094" cy="3444240"/>
          </a:xfrm>
          <a:prstGeom prst="rect">
            <a:avLst/>
          </a:prstGeom>
        </p:spPr>
      </p:pic>
    </p:spTree>
    <p:extLst>
      <p:ext uri="{BB962C8B-B14F-4D97-AF65-F5344CB8AC3E}">
        <p14:creationId xmlns:p14="http://schemas.microsoft.com/office/powerpoint/2010/main" val="1339883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1E002-1459-8FD8-6779-E9F0FC99F640}"/>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1. Optimización global: propagación de constantes</a:t>
            </a:r>
          </a:p>
        </p:txBody>
      </p:sp>
      <p:pic>
        <p:nvPicPr>
          <p:cNvPr id="7" name="Marcador de contenido 6">
            <a:extLst>
              <a:ext uri="{FF2B5EF4-FFF2-40B4-BE49-F238E27FC236}">
                <a16:creationId xmlns:a16="http://schemas.microsoft.com/office/drawing/2014/main" id="{1BC43354-E4A8-BD19-71D9-E88DE7A25C90}"/>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832D4701-5D00-4BAA-8B6E-0DBABD828259}"/>
              </a:ext>
            </a:extLst>
          </p:cNvPr>
          <p:cNvSpPr txBox="1"/>
          <p:nvPr/>
        </p:nvSpPr>
        <p:spPr>
          <a:xfrm>
            <a:off x="838200" y="2032000"/>
            <a:ext cx="4445000" cy="3683000"/>
          </a:xfrm>
          <a:prstGeom prst="rect">
            <a:avLst/>
          </a:prstGeom>
          <a:noFill/>
        </p:spPr>
        <p:txBody>
          <a:bodyPr vertOverflow="overflow" vert="horz" wrap="square" rtlCol="0" anchor="t">
            <a:noAutofit/>
          </a:bodyPr>
          <a:lstStyle/>
          <a:p>
            <a:pPr algn="l"/>
            <a:r>
              <a:rPr lang="es-MX" sz="2400" dirty="0"/>
              <a:t>Prueba: </a:t>
            </a:r>
          </a:p>
          <a:p>
            <a:r>
              <a:rPr lang="pt-BR" sz="2400" dirty="0"/>
              <a:t>a = 10</a:t>
            </a:r>
          </a:p>
          <a:p>
            <a:r>
              <a:rPr lang="pt-BR" sz="2400" dirty="0"/>
              <a:t>b = a</a:t>
            </a:r>
          </a:p>
          <a:p>
            <a:r>
              <a:rPr lang="pt-BR" sz="2400" dirty="0"/>
              <a:t>c = b + 5</a:t>
            </a:r>
            <a:r>
              <a:rPr lang="es-MX" sz="2400" dirty="0"/>
              <a:t>
Explicación:</a:t>
            </a:r>
          </a:p>
          <a:p>
            <a:r>
              <a:rPr lang="es-MX" sz="2400" dirty="0"/>
              <a:t>El programa propaga el valor constante de a hacia b y posteriormente utiliza ese valor para calcular la expresión de c, obteniendo directamente 15. </a:t>
            </a:r>
          </a:p>
        </p:txBody>
      </p:sp>
    </p:spTree>
    <p:extLst>
      <p:ext uri="{BB962C8B-B14F-4D97-AF65-F5344CB8AC3E}">
        <p14:creationId xmlns:p14="http://schemas.microsoft.com/office/powerpoint/2010/main" val="3647539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C4554D-D0C2-2874-4CD3-C5A59DD33A2F}"/>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2. Optimización global: simplificación algebraica</a:t>
            </a:r>
          </a:p>
        </p:txBody>
      </p:sp>
      <p:pic>
        <p:nvPicPr>
          <p:cNvPr id="7" name="Marcador de contenido 6">
            <a:extLst>
              <a:ext uri="{FF2B5EF4-FFF2-40B4-BE49-F238E27FC236}">
                <a16:creationId xmlns:a16="http://schemas.microsoft.com/office/drawing/2014/main" id="{6F6E71B8-D2F9-A69C-A458-8A2C66B5FF68}"/>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3A27390F-0283-448C-935A-530C2D57E2F2}"/>
              </a:ext>
            </a:extLst>
          </p:cNvPr>
          <p:cNvSpPr txBox="1"/>
          <p:nvPr/>
        </p:nvSpPr>
        <p:spPr>
          <a:xfrm>
            <a:off x="838200" y="2032000"/>
            <a:ext cx="4445000" cy="3683000"/>
          </a:xfrm>
          <a:prstGeom prst="rect">
            <a:avLst/>
          </a:prstGeom>
          <a:noFill/>
        </p:spPr>
        <p:txBody>
          <a:bodyPr vertOverflow="overflow" vert="horz" wrap="square" rtlCol="0" anchor="t">
            <a:noAutofit/>
          </a:bodyPr>
          <a:lstStyle/>
          <a:p>
            <a:pPr algn="l"/>
            <a:r>
              <a:rPr lang="es-MX" sz="2400" dirty="0"/>
              <a:t>Prueba: </a:t>
            </a:r>
          </a:p>
          <a:p>
            <a:r>
              <a:rPr lang="es-MX" sz="2400" dirty="0"/>
              <a:t>x = p + 0</a:t>
            </a:r>
          </a:p>
          <a:p>
            <a:r>
              <a:rPr lang="es-MX" sz="2400" dirty="0"/>
              <a:t>y = x * 1</a:t>
            </a:r>
          </a:p>
          <a:p>
            <a:r>
              <a:rPr lang="es-MX" sz="2400" dirty="0"/>
              <a:t>z = y
Explicación:</a:t>
            </a:r>
          </a:p>
          <a:p>
            <a:r>
              <a:rPr lang="es-MX" sz="2400" dirty="0"/>
              <a:t>El programa elimina operaciones que no modifican el resultado y propaga el valor obtenido hacia las siguientes instrucciones, simplificando el código analizado. </a:t>
            </a:r>
          </a:p>
        </p:txBody>
      </p:sp>
    </p:spTree>
    <p:extLst>
      <p:ext uri="{BB962C8B-B14F-4D97-AF65-F5344CB8AC3E}">
        <p14:creationId xmlns:p14="http://schemas.microsoft.com/office/powerpoint/2010/main" val="2118208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62DF83-417E-929A-E59E-4FF685F3E11D}"/>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3. Optimización global: eliminación de subexpresiones comunes</a:t>
            </a:r>
          </a:p>
        </p:txBody>
      </p:sp>
      <p:pic>
        <p:nvPicPr>
          <p:cNvPr id="7" name="Marcador de contenido 6">
            <a:extLst>
              <a:ext uri="{FF2B5EF4-FFF2-40B4-BE49-F238E27FC236}">
                <a16:creationId xmlns:a16="http://schemas.microsoft.com/office/drawing/2014/main" id="{A2269F45-6B0D-322C-4315-B7C4563A9949}"/>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EEC76B6D-754F-4ADE-857D-1BC26776C904}"/>
              </a:ext>
            </a:extLst>
          </p:cNvPr>
          <p:cNvSpPr txBox="1"/>
          <p:nvPr/>
        </p:nvSpPr>
        <p:spPr>
          <a:xfrm>
            <a:off x="838200" y="2032000"/>
            <a:ext cx="4445000" cy="3683000"/>
          </a:xfrm>
          <a:prstGeom prst="rect">
            <a:avLst/>
          </a:prstGeom>
          <a:noFill/>
        </p:spPr>
        <p:txBody>
          <a:bodyPr vertOverflow="overflow" vert="horz" wrap="square" rtlCol="0" anchor="t">
            <a:noAutofit/>
          </a:bodyPr>
          <a:lstStyle/>
          <a:p>
            <a:pPr algn="l"/>
            <a:r>
              <a:rPr lang="es-MX" sz="2400" dirty="0"/>
              <a:t>Prueba: </a:t>
            </a:r>
          </a:p>
          <a:p>
            <a:r>
              <a:rPr lang="fr-FR" sz="2400" dirty="0"/>
              <a:t>t1 = a + b</a:t>
            </a:r>
          </a:p>
          <a:p>
            <a:r>
              <a:rPr lang="fr-FR" sz="2400" dirty="0"/>
              <a:t>t2 = a + b</a:t>
            </a:r>
          </a:p>
          <a:p>
            <a:r>
              <a:rPr lang="fr-FR" sz="2400" dirty="0"/>
              <a:t>x = t2 * 2</a:t>
            </a:r>
            <a:r>
              <a:rPr lang="es-MX" sz="2400" dirty="0"/>
              <a:t>
Explicación:</a:t>
            </a:r>
          </a:p>
          <a:p>
            <a:pPr algn="just"/>
            <a:r>
              <a:rPr lang="es-MX" sz="2400" dirty="0"/>
              <a:t>La expresión a + b aparece más de una vez. El programa detecta que ya fue calculada en t1 y reutiliza ese resultado en las instrucciones posteriores, evitando repetir la misma operación. </a:t>
            </a:r>
          </a:p>
        </p:txBody>
      </p:sp>
    </p:spTree>
    <p:extLst>
      <p:ext uri="{BB962C8B-B14F-4D97-AF65-F5344CB8AC3E}">
        <p14:creationId xmlns:p14="http://schemas.microsoft.com/office/powerpoint/2010/main" val="4068806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19C8E4-BB52-7892-2C1E-5890E45956D2}"/>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4. Optimización global: combinación de optimizaciones</a:t>
            </a:r>
          </a:p>
        </p:txBody>
      </p:sp>
      <p:pic>
        <p:nvPicPr>
          <p:cNvPr id="7" name="Marcador de contenido 6">
            <a:extLst>
              <a:ext uri="{FF2B5EF4-FFF2-40B4-BE49-F238E27FC236}">
                <a16:creationId xmlns:a16="http://schemas.microsoft.com/office/drawing/2014/main" id="{D8675802-E60E-BE3D-73D1-3E550926AB9D}"/>
              </a:ext>
            </a:extLst>
          </p:cNvPr>
          <p:cNvPicPr>
            <a:picLocks noGrp="1" noChangeAspect="1"/>
          </p:cNvPicPr>
          <p:nvPr>
            <p:ph sz="half" idx="2"/>
          </p:nvPr>
        </p:nvPicPr>
        <p:blipFill>
          <a:blip r:embed="rId2"/>
          <a:stretch>
            <a:fillRect/>
          </a:stretch>
        </p:blipFill>
        <p:spPr>
          <a:xfrm>
            <a:off x="5908604" y="2275840"/>
            <a:ext cx="5775396" cy="3248660"/>
          </a:xfrm>
          <a:prstGeom prst="rect">
            <a:avLst/>
          </a:prstGeom>
        </p:spPr>
      </p:pic>
      <p:sp>
        <p:nvSpPr>
          <p:cNvPr id="5" name="CuadroTexto 4">
            <a:extLst>
              <a:ext uri="{FF2B5EF4-FFF2-40B4-BE49-F238E27FC236}">
                <a16:creationId xmlns:a16="http://schemas.microsoft.com/office/drawing/2014/main" id="{72E45211-8DBA-4C12-AF6E-3F119F7DF42A}"/>
              </a:ext>
            </a:extLst>
          </p:cNvPr>
          <p:cNvSpPr txBox="1"/>
          <p:nvPr/>
        </p:nvSpPr>
        <p:spPr>
          <a:xfrm>
            <a:off x="838200" y="2032000"/>
            <a:ext cx="4993640" cy="3683000"/>
          </a:xfrm>
          <a:prstGeom prst="rect">
            <a:avLst/>
          </a:prstGeom>
          <a:noFill/>
        </p:spPr>
        <p:txBody>
          <a:bodyPr vertOverflow="overflow" vert="horz" wrap="square" rtlCol="0" anchor="t">
            <a:noAutofit/>
          </a:bodyPr>
          <a:lstStyle/>
          <a:p>
            <a:pPr algn="l"/>
            <a:r>
              <a:rPr lang="es-MX" sz="2400" dirty="0"/>
              <a:t>Prueba: </a:t>
            </a:r>
          </a:p>
          <a:p>
            <a:r>
              <a:rPr lang="pt-BR" sz="2400" dirty="0"/>
              <a:t>m = a * b</a:t>
            </a:r>
          </a:p>
          <a:p>
            <a:r>
              <a:rPr lang="pt-BR" sz="2400" dirty="0"/>
              <a:t>n = b * a</a:t>
            </a:r>
          </a:p>
          <a:p>
            <a:r>
              <a:rPr lang="pt-BR" sz="2400" dirty="0"/>
              <a:t>r = n + 0</a:t>
            </a:r>
            <a:r>
              <a:rPr lang="es-MX" sz="2400" dirty="0"/>
              <a:t>
Explicación:</a:t>
            </a:r>
          </a:p>
          <a:p>
            <a:pPr algn="just"/>
            <a:r>
              <a:rPr lang="es-MX" sz="2400" dirty="0"/>
              <a:t>El programa reconoce que a * b y b * a representan la misma operación por la propiedad conmutativa. Después reutiliza el resultado almacenado en m y elimina la suma con cero de la última instrucción. </a:t>
            </a:r>
          </a:p>
        </p:txBody>
      </p:sp>
    </p:spTree>
    <p:extLst>
      <p:ext uri="{BB962C8B-B14F-4D97-AF65-F5344CB8AC3E}">
        <p14:creationId xmlns:p14="http://schemas.microsoft.com/office/powerpoint/2010/main" val="691809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77A433-6084-6DD3-A87E-00A2DAD34BDC}"/>
              </a:ext>
            </a:extLst>
          </p:cNvPr>
          <p:cNvSpPr>
            <a:spLocks noGrp="1"/>
          </p:cNvSpPr>
          <p:nvPr>
            <p:ph type="title"/>
          </p:nvPr>
        </p:nvSpPr>
        <p:spPr>
          <a:xfrm>
            <a:off x="838200" y="304800"/>
            <a:ext cx="10515600" cy="1524000"/>
          </a:xfrm>
        </p:spPr>
        <p:txBody>
          <a:bodyPr>
            <a:noAutofit/>
          </a:bodyPr>
          <a:lstStyle/>
          <a:p>
            <a:r>
              <a:rPr lang="es-MX" b="1" dirty="0">
                <a:solidFill>
                  <a:srgbClr val="4472C4"/>
                </a:solidFill>
                <a:latin typeface="Calibri Light"/>
                <a:ea typeface="Calibri Light"/>
                <a:cs typeface="Calibri Light"/>
              </a:rPr>
              <a:t>Explicación de las pruebas de Optimización global</a:t>
            </a:r>
          </a:p>
        </p:txBody>
      </p:sp>
      <p:sp>
        <p:nvSpPr>
          <p:cNvPr id="3" name="Marcador de contenido 2">
            <a:extLst>
              <a:ext uri="{FF2B5EF4-FFF2-40B4-BE49-F238E27FC236}">
                <a16:creationId xmlns:a16="http://schemas.microsoft.com/office/drawing/2014/main" id="{D087B93B-99AB-FFDA-5E53-69C02B587D64}"/>
              </a:ext>
            </a:extLst>
          </p:cNvPr>
          <p:cNvSpPr>
            <a:spLocks noGrp="1"/>
          </p:cNvSpPr>
          <p:nvPr>
            <p:ph idx="1"/>
          </p:nvPr>
        </p:nvSpPr>
        <p:spPr>
          <a:xfrm>
            <a:off x="838200" y="2032000"/>
            <a:ext cx="10515600" cy="4508500"/>
          </a:xfrm>
        </p:spPr>
        <p:txBody>
          <a:bodyPr>
            <a:normAutofit fontScale="85000" lnSpcReduction="20000"/>
          </a:bodyPr>
          <a:lstStyle/>
          <a:p>
            <a:pPr algn="just"/>
            <a:r>
              <a:rPr lang="es-MX" dirty="0"/>
              <a:t>Las pruebas realizadas permitieron comprobar el funcionamiento del módulo de optimización global mediante diferentes transformaciones aplicadas al código. En el primer ejercicio se verificó la propagación de constantes, utilizando valores previamente conocidos para simplificar instrucciones posteriores. En el segundo se comprobó la simplificación algebraica, eliminando operaciones que no modifican el resultado de las expresiones.</a:t>
            </a:r>
          </a:p>
          <a:p>
            <a:pPr algn="just"/>
            <a:r>
              <a:rPr lang="es-MX" dirty="0"/>
              <a:t>En el tercer ejercicio se evaluó la eliminación de subexpresiones comunes, reutilizando resultados que ya habían sido calculados anteriormente y evitando repetir la misma operación. Finalmente, en el cuarto ejercicio se combinaron distintas optimizaciones, como la detección de expresiones equivalentes y la eliminación de operaciones innecesarias.</a:t>
            </a:r>
          </a:p>
          <a:p>
            <a:pPr algn="just"/>
            <a:r>
              <a:rPr lang="es-MX" dirty="0"/>
              <a:t>Los resultados muestran que el módulo puede analizar varias instrucciones de manera conjunta y aprovechar la información obtenida en líneas anteriores para simplificar el código. De esta forma, se reducen cálculos repetidos, se aprovechan mejor los valores ya disponibles y se genera un código más eficiente sin alterar el resultado final del programa.</a:t>
            </a:r>
          </a:p>
          <a:p>
            <a:pPr algn="just"/>
            <a:endParaRPr lang="es-MX" dirty="0"/>
          </a:p>
        </p:txBody>
      </p:sp>
    </p:spTree>
    <p:extLst>
      <p:ext uri="{BB962C8B-B14F-4D97-AF65-F5344CB8AC3E}">
        <p14:creationId xmlns:p14="http://schemas.microsoft.com/office/powerpoint/2010/main" val="4181232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3711E9-3B6A-6967-6476-C2547880F2BB}"/>
              </a:ext>
            </a:extLst>
          </p:cNvPr>
          <p:cNvSpPr>
            <a:spLocks noGrp="1"/>
          </p:cNvSpPr>
          <p:nvPr>
            <p:ph type="title"/>
          </p:nvPr>
        </p:nvSpPr>
        <p:spPr>
          <a:xfrm>
            <a:off x="838200" y="304800"/>
            <a:ext cx="10515600" cy="1026160"/>
          </a:xfrm>
        </p:spPr>
        <p:txBody>
          <a:bodyPr>
            <a:normAutofit/>
          </a:bodyPr>
          <a:lstStyle/>
          <a:p>
            <a:r>
              <a:rPr lang="es-MX" sz="4400" b="1" dirty="0">
                <a:solidFill>
                  <a:srgbClr val="4472C4"/>
                </a:solidFill>
                <a:latin typeface="Calibri Light"/>
                <a:ea typeface="Calibri Light"/>
                <a:cs typeface="Calibri Light"/>
              </a:rPr>
              <a:t>Optimización de mirilla</a:t>
            </a:r>
          </a:p>
        </p:txBody>
      </p:sp>
      <p:pic>
        <p:nvPicPr>
          <p:cNvPr id="5" name="Imagen 4">
            <a:extLst>
              <a:ext uri="{FF2B5EF4-FFF2-40B4-BE49-F238E27FC236}">
                <a16:creationId xmlns:a16="http://schemas.microsoft.com/office/drawing/2014/main" id="{C0D851BE-2D25-0C8B-F644-52914CF8C183}"/>
              </a:ext>
            </a:extLst>
          </p:cNvPr>
          <p:cNvPicPr>
            <a:picLocks noChangeAspect="1"/>
          </p:cNvPicPr>
          <p:nvPr/>
        </p:nvPicPr>
        <p:blipFill>
          <a:blip r:embed="rId2"/>
          <a:stretch>
            <a:fillRect/>
          </a:stretch>
        </p:blipFill>
        <p:spPr>
          <a:xfrm>
            <a:off x="5207564" y="2082800"/>
            <a:ext cx="6123094" cy="3444240"/>
          </a:xfrm>
          <a:prstGeom prst="rect">
            <a:avLst/>
          </a:prstGeom>
        </p:spPr>
      </p:pic>
    </p:spTree>
    <p:extLst>
      <p:ext uri="{BB962C8B-B14F-4D97-AF65-F5344CB8AC3E}">
        <p14:creationId xmlns:p14="http://schemas.microsoft.com/office/powerpoint/2010/main" val="931136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18997E-C98B-3025-4F5E-587EAAEC32E0}"/>
              </a:ext>
            </a:extLst>
          </p:cNvPr>
          <p:cNvSpPr>
            <a:spLocks noGrp="1"/>
          </p:cNvSpPr>
          <p:nvPr>
            <p:ph type="title"/>
          </p:nvPr>
        </p:nvSpPr>
        <p:spPr>
          <a:xfrm>
            <a:off x="838200" y="304800"/>
            <a:ext cx="10515600" cy="1524000"/>
          </a:xfrm>
        </p:spPr>
        <p:txBody>
          <a:bodyPr vert="horz" lIns="91440" tIns="45720" rIns="91440" bIns="45720" rtlCol="0" anchor="b">
            <a:normAutofit/>
          </a:bodyPr>
          <a:lstStyle/>
          <a:p>
            <a:r>
              <a:rPr lang="es-MX" b="1" dirty="0">
                <a:solidFill>
                  <a:srgbClr val="4472C4"/>
                </a:solidFill>
                <a:latin typeface="Calibri Light"/>
                <a:ea typeface="Calibri Light"/>
                <a:cs typeface="Calibri Light"/>
              </a:rPr>
              <a:t>Ejercicio 1. Optimización de mirilla: eliminación de suma con cero</a:t>
            </a:r>
          </a:p>
        </p:txBody>
      </p:sp>
      <p:pic>
        <p:nvPicPr>
          <p:cNvPr id="7" name="Marcador de contenido 6">
            <a:extLst>
              <a:ext uri="{FF2B5EF4-FFF2-40B4-BE49-F238E27FC236}">
                <a16:creationId xmlns:a16="http://schemas.microsoft.com/office/drawing/2014/main" id="{9F9122CE-A923-A7BA-1EDE-6F8D26F644A0}"/>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A0C5EC41-2E5C-44EF-9F3C-A7B5FC8A2E86}"/>
              </a:ext>
            </a:extLst>
          </p:cNvPr>
          <p:cNvSpPr txBox="1"/>
          <p:nvPr/>
        </p:nvSpPr>
        <p:spPr>
          <a:xfrm>
            <a:off x="838200" y="2032000"/>
            <a:ext cx="4552950" cy="3683000"/>
          </a:xfrm>
          <a:prstGeom prst="rect">
            <a:avLst/>
          </a:prstGeom>
          <a:noFill/>
        </p:spPr>
        <p:txBody>
          <a:bodyPr vertOverflow="overflow" vert="horz" wrap="square" rtlCol="0" anchor="t">
            <a:noAutofit/>
          </a:bodyPr>
          <a:lstStyle/>
          <a:p>
            <a:pPr algn="l"/>
            <a:r>
              <a:rPr lang="es-MX" sz="2400" dirty="0"/>
              <a:t>Prueba:</a:t>
            </a:r>
          </a:p>
          <a:p>
            <a:r>
              <a:rPr lang="pt-BR" sz="2400" dirty="0"/>
              <a:t>LOAD R1, A</a:t>
            </a:r>
          </a:p>
          <a:p>
            <a:r>
              <a:rPr lang="pt-BR" sz="2400" dirty="0"/>
              <a:t>ADD R1, 0</a:t>
            </a:r>
          </a:p>
          <a:p>
            <a:r>
              <a:rPr lang="pt-BR" sz="2400" dirty="0"/>
              <a:t>STORE R1, B</a:t>
            </a:r>
            <a:r>
              <a:rPr lang="es-MX" sz="2400" dirty="0"/>
              <a:t> 
Explicación:</a:t>
            </a:r>
          </a:p>
          <a:p>
            <a:pPr algn="just"/>
            <a:r>
              <a:rPr lang="es-MX" sz="2400" dirty="0"/>
              <a:t>La instrucción ADD R1, 0 no modifica el valor almacenado en el registro, por lo que puede eliminarse sin afectar el resultado final. </a:t>
            </a:r>
          </a:p>
        </p:txBody>
      </p:sp>
    </p:spTree>
    <p:extLst>
      <p:ext uri="{BB962C8B-B14F-4D97-AF65-F5344CB8AC3E}">
        <p14:creationId xmlns:p14="http://schemas.microsoft.com/office/powerpoint/2010/main" val="1021711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73F700-D4C9-F189-F517-49E5033A59B7}"/>
              </a:ext>
            </a:extLst>
          </p:cNvPr>
          <p:cNvSpPr>
            <a:spLocks noGrp="1"/>
          </p:cNvSpPr>
          <p:nvPr>
            <p:ph type="title"/>
          </p:nvPr>
        </p:nvSpPr>
        <p:spPr>
          <a:xfrm>
            <a:off x="838200" y="304800"/>
            <a:ext cx="10515600" cy="1524000"/>
          </a:xfrm>
        </p:spPr>
        <p:txBody>
          <a:bodyPr vert="horz" lIns="91440" tIns="45720" rIns="91440" bIns="45720" rtlCol="0" anchor="b">
            <a:normAutofit/>
          </a:bodyPr>
          <a:lstStyle/>
          <a:p>
            <a:r>
              <a:rPr lang="es-MX" b="1" dirty="0">
                <a:solidFill>
                  <a:srgbClr val="4472C4"/>
                </a:solidFill>
                <a:latin typeface="Calibri Light"/>
                <a:ea typeface="Calibri Light"/>
                <a:cs typeface="Calibri Light"/>
              </a:rPr>
              <a:t>Ejercicio 2. Optimización de mirilla: eliminación de multiplicación por uno</a:t>
            </a:r>
          </a:p>
        </p:txBody>
      </p:sp>
      <p:pic>
        <p:nvPicPr>
          <p:cNvPr id="7" name="Marcador de contenido 6">
            <a:extLst>
              <a:ext uri="{FF2B5EF4-FFF2-40B4-BE49-F238E27FC236}">
                <a16:creationId xmlns:a16="http://schemas.microsoft.com/office/drawing/2014/main" id="{AB35C44D-8B88-4244-DEA6-77F15D846877}"/>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9753DFB3-63FB-4185-BC80-47BFFB00DB66}"/>
              </a:ext>
            </a:extLst>
          </p:cNvPr>
          <p:cNvSpPr txBox="1"/>
          <p:nvPr/>
        </p:nvSpPr>
        <p:spPr>
          <a:xfrm>
            <a:off x="838200" y="2032000"/>
            <a:ext cx="4445000" cy="3683000"/>
          </a:xfrm>
          <a:prstGeom prst="rect">
            <a:avLst/>
          </a:prstGeom>
          <a:noFill/>
        </p:spPr>
        <p:txBody>
          <a:bodyPr vertOverflow="overflow" vert="horz" wrap="square" rtlCol="0" anchor="t">
            <a:noAutofit/>
          </a:bodyPr>
          <a:lstStyle/>
          <a:p>
            <a:pPr algn="l"/>
            <a:r>
              <a:rPr lang="es-MX" sz="2400" dirty="0"/>
              <a:t>Prueba: </a:t>
            </a:r>
          </a:p>
          <a:p>
            <a:r>
              <a:rPr lang="pt-BR" sz="2400" dirty="0"/>
              <a:t>LOAD R1, X</a:t>
            </a:r>
          </a:p>
          <a:p>
            <a:r>
              <a:rPr lang="pt-BR" sz="2400" dirty="0"/>
              <a:t>MUL R1, 1</a:t>
            </a:r>
          </a:p>
          <a:p>
            <a:r>
              <a:rPr lang="pt-BR" sz="2400" dirty="0"/>
              <a:t>STORE R1, Y</a:t>
            </a:r>
            <a:r>
              <a:rPr lang="es-MX" sz="2400" dirty="0"/>
              <a:t>
Explicación:</a:t>
            </a:r>
          </a:p>
          <a:p>
            <a:r>
              <a:rPr lang="es-MX" sz="2400" dirty="0"/>
              <a:t>La multiplicación por uno mantiene el mismo valor, por lo que la instrucción MUL R1, 1 es innecesaria y puede eliminarse.</a:t>
            </a:r>
          </a:p>
          <a:p>
            <a:r>
              <a:rPr lang="es-MX" sz="2400" dirty="0"/>
              <a:t> </a:t>
            </a:r>
          </a:p>
        </p:txBody>
      </p:sp>
    </p:spTree>
    <p:extLst>
      <p:ext uri="{BB962C8B-B14F-4D97-AF65-F5344CB8AC3E}">
        <p14:creationId xmlns:p14="http://schemas.microsoft.com/office/powerpoint/2010/main" val="3600814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BE0A94-9668-6735-D3D3-95370ECC7EE0}"/>
              </a:ext>
            </a:extLst>
          </p:cNvPr>
          <p:cNvSpPr>
            <a:spLocks noGrp="1"/>
          </p:cNvSpPr>
          <p:nvPr>
            <p:ph type="title"/>
          </p:nvPr>
        </p:nvSpPr>
        <p:spPr>
          <a:xfrm>
            <a:off x="838200" y="304800"/>
            <a:ext cx="10515600" cy="1524000"/>
          </a:xfrm>
        </p:spPr>
        <p:txBody>
          <a:bodyPr vert="horz" lIns="91440" tIns="45720" rIns="91440" bIns="45720" rtlCol="0" anchor="b">
            <a:normAutofit fontScale="90000"/>
          </a:bodyPr>
          <a:lstStyle/>
          <a:p>
            <a:r>
              <a:rPr lang="es-MX" b="1" dirty="0">
                <a:solidFill>
                  <a:srgbClr val="4472C4"/>
                </a:solidFill>
                <a:latin typeface="Calibri Light"/>
                <a:ea typeface="Calibri Light"/>
                <a:cs typeface="Calibri Light"/>
              </a:rPr>
              <a:t>Ejercicio 3. Optimización de mirilla: eliminación de varias instrucciones redundantes</a:t>
            </a:r>
          </a:p>
        </p:txBody>
      </p:sp>
      <p:pic>
        <p:nvPicPr>
          <p:cNvPr id="7" name="Marcador de contenido 6">
            <a:extLst>
              <a:ext uri="{FF2B5EF4-FFF2-40B4-BE49-F238E27FC236}">
                <a16:creationId xmlns:a16="http://schemas.microsoft.com/office/drawing/2014/main" id="{A1876736-683B-6D29-A842-317F601F4961}"/>
              </a:ext>
            </a:extLst>
          </p:cNvPr>
          <p:cNvPicPr>
            <a:picLocks noGrp="1" noChangeAspect="1"/>
          </p:cNvPicPr>
          <p:nvPr>
            <p:ph sz="half" idx="2"/>
          </p:nvPr>
        </p:nvPicPr>
        <p:blipFill>
          <a:blip r:embed="rId2"/>
          <a:stretch>
            <a:fillRect/>
          </a:stretch>
        </p:blipFill>
        <p:spPr>
          <a:xfrm>
            <a:off x="6524625" y="2111276"/>
            <a:ext cx="5159375" cy="2902148"/>
          </a:xfrm>
          <a:prstGeom prst="rect">
            <a:avLst/>
          </a:prstGeom>
        </p:spPr>
      </p:pic>
      <p:sp>
        <p:nvSpPr>
          <p:cNvPr id="5" name="CuadroTexto 4">
            <a:extLst>
              <a:ext uri="{FF2B5EF4-FFF2-40B4-BE49-F238E27FC236}">
                <a16:creationId xmlns:a16="http://schemas.microsoft.com/office/drawing/2014/main" id="{9A38BED3-673B-4362-A812-0E28A579C375}"/>
              </a:ext>
            </a:extLst>
          </p:cNvPr>
          <p:cNvSpPr txBox="1"/>
          <p:nvPr/>
        </p:nvSpPr>
        <p:spPr>
          <a:xfrm>
            <a:off x="838199" y="2032000"/>
            <a:ext cx="4981576" cy="3683000"/>
          </a:xfrm>
          <a:prstGeom prst="rect">
            <a:avLst/>
          </a:prstGeom>
          <a:noFill/>
        </p:spPr>
        <p:txBody>
          <a:bodyPr vertOverflow="overflow" vert="horz" wrap="square" rtlCol="0" anchor="t">
            <a:noAutofit/>
          </a:bodyPr>
          <a:lstStyle/>
          <a:p>
            <a:pPr algn="l"/>
            <a:r>
              <a:rPr lang="es-MX" sz="2400" dirty="0"/>
              <a:t>Prueba: </a:t>
            </a:r>
          </a:p>
          <a:p>
            <a:r>
              <a:rPr lang="pt-BR" sz="2400" dirty="0"/>
              <a:t>LOAD R1, A</a:t>
            </a:r>
          </a:p>
          <a:p>
            <a:r>
              <a:rPr lang="pt-BR" sz="2400" dirty="0"/>
              <a:t>ADD R1, 0</a:t>
            </a:r>
          </a:p>
          <a:p>
            <a:r>
              <a:rPr lang="pt-BR" sz="2400" dirty="0"/>
              <a:t>MUL R1, 1</a:t>
            </a:r>
          </a:p>
          <a:p>
            <a:r>
              <a:rPr lang="pt-BR" sz="2400" dirty="0"/>
              <a:t>STORE R1, B</a:t>
            </a:r>
            <a:r>
              <a:rPr lang="es-MX" sz="2400" dirty="0"/>
              <a:t>
Explicación:</a:t>
            </a:r>
          </a:p>
          <a:p>
            <a:pPr algn="just"/>
            <a:r>
              <a:rPr lang="es-MX" sz="2400" dirty="0"/>
              <a:t>El programa analiza un pequeño grupo de instrucciones y elimina tanto la suma con cero como la multiplicación por uno, ya que ninguna modifica el valor del registro.</a:t>
            </a:r>
          </a:p>
          <a:p>
            <a:r>
              <a:rPr lang="es-MX" sz="2400" dirty="0"/>
              <a:t> </a:t>
            </a:r>
          </a:p>
        </p:txBody>
      </p:sp>
    </p:spTree>
    <p:extLst>
      <p:ext uri="{BB962C8B-B14F-4D97-AF65-F5344CB8AC3E}">
        <p14:creationId xmlns:p14="http://schemas.microsoft.com/office/powerpoint/2010/main" val="2128996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57171B-BF9E-3208-7551-5A286123D26B}"/>
              </a:ext>
            </a:extLst>
          </p:cNvPr>
          <p:cNvSpPr>
            <a:spLocks noGrp="1"/>
          </p:cNvSpPr>
          <p:nvPr>
            <p:ph type="title"/>
          </p:nvPr>
        </p:nvSpPr>
        <p:spPr>
          <a:xfrm>
            <a:off x="838200" y="304800"/>
            <a:ext cx="10515600" cy="1524000"/>
          </a:xfrm>
        </p:spPr>
        <p:txBody>
          <a:bodyPr vert="horz" lIns="91440" tIns="45720" rIns="91440" bIns="45720" rtlCol="0" anchor="b">
            <a:noAutofit/>
          </a:bodyPr>
          <a:lstStyle/>
          <a:p>
            <a:r>
              <a:rPr lang="es-MX" b="1" dirty="0">
                <a:solidFill>
                  <a:srgbClr val="4472C4"/>
                </a:solidFill>
                <a:latin typeface="Calibri Light"/>
                <a:ea typeface="Calibri Light"/>
                <a:cs typeface="Calibri Light"/>
              </a:rPr>
              <a:t>Ejercicio 4. Optimización de mirilla: combinación de operaciones innecesarias</a:t>
            </a:r>
          </a:p>
        </p:txBody>
      </p:sp>
      <p:pic>
        <p:nvPicPr>
          <p:cNvPr id="7" name="Marcador de contenido 6">
            <a:extLst>
              <a:ext uri="{FF2B5EF4-FFF2-40B4-BE49-F238E27FC236}">
                <a16:creationId xmlns:a16="http://schemas.microsoft.com/office/drawing/2014/main" id="{3B2A5891-AD6F-6A70-1A27-43282B8FFD63}"/>
              </a:ext>
            </a:extLst>
          </p:cNvPr>
          <p:cNvPicPr>
            <a:picLocks noGrp="1" noChangeAspect="1"/>
          </p:cNvPicPr>
          <p:nvPr>
            <p:ph sz="half" idx="2"/>
          </p:nvPr>
        </p:nvPicPr>
        <p:blipFill>
          <a:blip r:embed="rId2"/>
          <a:stretch>
            <a:fillRect/>
          </a:stretch>
        </p:blipFill>
        <p:spPr>
          <a:xfrm>
            <a:off x="6244167" y="2095500"/>
            <a:ext cx="5215466" cy="2933700"/>
          </a:xfrm>
          <a:prstGeom prst="rect">
            <a:avLst/>
          </a:prstGeom>
        </p:spPr>
      </p:pic>
      <p:sp>
        <p:nvSpPr>
          <p:cNvPr id="5" name="CuadroTexto 4">
            <a:extLst>
              <a:ext uri="{FF2B5EF4-FFF2-40B4-BE49-F238E27FC236}">
                <a16:creationId xmlns:a16="http://schemas.microsoft.com/office/drawing/2014/main" id="{77DAAEEA-5172-466F-AB8E-4EAFAC4C2A25}"/>
              </a:ext>
            </a:extLst>
          </p:cNvPr>
          <p:cNvSpPr txBox="1"/>
          <p:nvPr/>
        </p:nvSpPr>
        <p:spPr>
          <a:xfrm>
            <a:off x="838199" y="1828800"/>
            <a:ext cx="5109635" cy="4514850"/>
          </a:xfrm>
          <a:prstGeom prst="rect">
            <a:avLst/>
          </a:prstGeom>
          <a:noFill/>
        </p:spPr>
        <p:txBody>
          <a:bodyPr vertOverflow="overflow" vert="horz" wrap="square" rtlCol="0" anchor="t">
            <a:noAutofit/>
          </a:bodyPr>
          <a:lstStyle/>
          <a:p>
            <a:pPr algn="l"/>
            <a:r>
              <a:rPr lang="es-MX" sz="2400" dirty="0"/>
              <a:t>Prueba: </a:t>
            </a:r>
          </a:p>
          <a:p>
            <a:r>
              <a:rPr lang="pt-BR" sz="2400" dirty="0"/>
              <a:t>LOAD R1, P</a:t>
            </a:r>
          </a:p>
          <a:p>
            <a:r>
              <a:rPr lang="pt-BR" sz="2400" dirty="0"/>
              <a:t>ADD R1, 0</a:t>
            </a:r>
          </a:p>
          <a:p>
            <a:r>
              <a:rPr lang="pt-BR" sz="2400" dirty="0"/>
              <a:t>MUL R1, 1</a:t>
            </a:r>
          </a:p>
          <a:p>
            <a:r>
              <a:rPr lang="pt-BR" sz="2400" dirty="0"/>
              <a:t>ADD R1, 0</a:t>
            </a:r>
          </a:p>
          <a:p>
            <a:r>
              <a:rPr lang="pt-BR" sz="2400" dirty="0"/>
              <a:t>STORE R1, Q</a:t>
            </a:r>
            <a:r>
              <a:rPr lang="es-MX" sz="2400" dirty="0"/>
              <a:t>
Explicación: </a:t>
            </a:r>
          </a:p>
          <a:p>
            <a:pPr algn="just"/>
            <a:r>
              <a:rPr lang="es-MX" sz="2400" dirty="0"/>
              <a:t>El módulo detecta varias instrucciones consecutivas que no producen cambios en el valor de </a:t>
            </a:r>
            <a:r>
              <a:rPr lang="es-MX" dirty="0"/>
              <a:t>R1</a:t>
            </a:r>
            <a:r>
              <a:rPr lang="es-MX" sz="2400" dirty="0"/>
              <a:t> y las elimina, dejando únicamente las instrucciones necesarias para cargar y almacenar el dato.</a:t>
            </a:r>
          </a:p>
        </p:txBody>
      </p:sp>
    </p:spTree>
    <p:extLst>
      <p:ext uri="{BB962C8B-B14F-4D97-AF65-F5344CB8AC3E}">
        <p14:creationId xmlns:p14="http://schemas.microsoft.com/office/powerpoint/2010/main" val="21617478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BAB3B-50E8-DB0E-BA92-EF4FD16475D1}"/>
              </a:ext>
            </a:extLst>
          </p:cNvPr>
          <p:cNvSpPr>
            <a:spLocks noGrp="1"/>
          </p:cNvSpPr>
          <p:nvPr>
            <p:ph type="title"/>
          </p:nvPr>
        </p:nvSpPr>
        <p:spPr>
          <a:xfrm>
            <a:off x="838200" y="304800"/>
            <a:ext cx="10515600" cy="1524000"/>
          </a:xfrm>
        </p:spPr>
        <p:txBody>
          <a:bodyPr>
            <a:noAutofit/>
          </a:bodyPr>
          <a:lstStyle/>
          <a:p>
            <a:r>
              <a:rPr lang="es-MX" b="1" dirty="0">
                <a:solidFill>
                  <a:srgbClr val="4472C4"/>
                </a:solidFill>
                <a:latin typeface="Calibri Light"/>
                <a:ea typeface="Calibri Light"/>
                <a:cs typeface="Calibri Light"/>
              </a:rPr>
              <a:t>Explicación de las pruebas de Optimización de mirilla</a:t>
            </a:r>
          </a:p>
        </p:txBody>
      </p:sp>
      <p:sp>
        <p:nvSpPr>
          <p:cNvPr id="3" name="Marcador de contenido 2">
            <a:extLst>
              <a:ext uri="{FF2B5EF4-FFF2-40B4-BE49-F238E27FC236}">
                <a16:creationId xmlns:a16="http://schemas.microsoft.com/office/drawing/2014/main" id="{75E7C554-3661-3A0C-76E4-5C770924029B}"/>
              </a:ext>
            </a:extLst>
          </p:cNvPr>
          <p:cNvSpPr>
            <a:spLocks noGrp="1"/>
          </p:cNvSpPr>
          <p:nvPr>
            <p:ph idx="1"/>
          </p:nvPr>
        </p:nvSpPr>
        <p:spPr>
          <a:xfrm>
            <a:off x="838200" y="2032000"/>
            <a:ext cx="10515600" cy="4508500"/>
          </a:xfrm>
        </p:spPr>
        <p:txBody>
          <a:bodyPr>
            <a:normAutofit fontScale="85000" lnSpcReduction="20000"/>
          </a:bodyPr>
          <a:lstStyle/>
          <a:p>
            <a:r>
              <a:rPr lang="es-MX" dirty="0"/>
              <a:t>Las pruebas realizadas permitieron comprobar el funcionamiento del módulo de optimización de mirilla mediante el análisis de pequeños grupos de instrucciones. En el primer ejercicio se verificó la eliminación de una suma con cero, ya que esta operación no modifica el contenido del registro. En el segundo se comprobó la eliminación de una multiplicación por uno, debido a que el valor almacenado permanece sin cambios.</a:t>
            </a:r>
          </a:p>
          <a:p>
            <a:r>
              <a:rPr lang="es-MX" dirty="0"/>
              <a:t>En el tercer ejercicio se evaluó la eliminación de varias instrucciones redundantes dentro de una misma secuencia, comprobando que el programa conserva únicamente las instrucciones necesarias. Finalmente, en el cuarto ejercicio se probaron varias operaciones consecutivas sin efecto, las cuales fueron detectadas y eliminadas correctamente por el módulo.</a:t>
            </a:r>
          </a:p>
          <a:p>
            <a:r>
              <a:rPr lang="es-MX" dirty="0"/>
              <a:t>Los resultados muestran que la optimización de mirilla permite simplificar secuencias cortas de instrucciones y reducir operaciones innecesarias. De esta manera, el código resultante contiene menos instrucciones, mantiene el mismo comportamiento y puede ejecutarse de forma más eficiente.</a:t>
            </a:r>
          </a:p>
        </p:txBody>
      </p:sp>
    </p:spTree>
    <p:extLst>
      <p:ext uri="{BB962C8B-B14F-4D97-AF65-F5344CB8AC3E}">
        <p14:creationId xmlns:p14="http://schemas.microsoft.com/office/powerpoint/2010/main" val="212248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DCC992-4021-C7C3-02B1-07A01768CE9B}"/>
              </a:ext>
            </a:extLst>
          </p:cNvPr>
          <p:cNvSpPr>
            <a:spLocks noGrp="1"/>
          </p:cNvSpPr>
          <p:nvPr>
            <p:ph type="title"/>
          </p:nvPr>
        </p:nvSpPr>
        <p:spPr>
          <a:xfrm>
            <a:off x="838200" y="304800"/>
            <a:ext cx="10515600" cy="1524000"/>
          </a:xfrm>
        </p:spPr>
        <p:txBody>
          <a:bodyPr>
            <a:normAutofit/>
          </a:bodyPr>
          <a:lstStyle/>
          <a:p>
            <a:r>
              <a:rPr lang="es-MX" sz="4400" b="1">
                <a:solidFill>
                  <a:srgbClr val="4472C4"/>
                </a:solidFill>
                <a:latin typeface="Calibri Light"/>
                <a:ea typeface="Calibri Light"/>
                <a:cs typeface="Calibri Light"/>
              </a:rPr>
              <a:t>Análisis de costos</a:t>
            </a:r>
          </a:p>
        </p:txBody>
      </p:sp>
      <p:pic>
        <p:nvPicPr>
          <p:cNvPr id="5" name="Imagen 4">
            <a:extLst>
              <a:ext uri="{FF2B5EF4-FFF2-40B4-BE49-F238E27FC236}">
                <a16:creationId xmlns:a16="http://schemas.microsoft.com/office/drawing/2014/main" id="{896E2C5B-2EA4-F302-1FC1-4ACDB2EB0FD4}"/>
              </a:ext>
            </a:extLst>
          </p:cNvPr>
          <p:cNvPicPr>
            <a:picLocks noChangeAspect="1"/>
          </p:cNvPicPr>
          <p:nvPr/>
        </p:nvPicPr>
        <p:blipFill>
          <a:blip r:embed="rId2"/>
          <a:stretch>
            <a:fillRect/>
          </a:stretch>
        </p:blipFill>
        <p:spPr>
          <a:xfrm>
            <a:off x="5207564" y="2082800"/>
            <a:ext cx="6123094" cy="3444240"/>
          </a:xfrm>
          <a:prstGeom prst="rect">
            <a:avLst/>
          </a:prstGeom>
        </p:spPr>
      </p:pic>
    </p:spTree>
    <p:extLst>
      <p:ext uri="{BB962C8B-B14F-4D97-AF65-F5344CB8AC3E}">
        <p14:creationId xmlns:p14="http://schemas.microsoft.com/office/powerpoint/2010/main" val="1879522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12CAA2-FF7A-5299-196D-2950EBEC2FDA}"/>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1. Análisis de costos:</a:t>
            </a:r>
            <a:r>
              <a:rPr lang="es-MX" dirty="0"/>
              <a:t> </a:t>
            </a:r>
            <a:r>
              <a:rPr lang="es-MX" b="1" dirty="0">
                <a:solidFill>
                  <a:srgbClr val="4472C4"/>
                </a:solidFill>
                <a:latin typeface="Calibri Light"/>
                <a:ea typeface="Calibri Light"/>
                <a:cs typeface="Calibri Light"/>
              </a:rPr>
              <a:t>operaciones básicas</a:t>
            </a:r>
          </a:p>
        </p:txBody>
      </p:sp>
      <p:pic>
        <p:nvPicPr>
          <p:cNvPr id="7" name="Marcador de contenido 6">
            <a:extLst>
              <a:ext uri="{FF2B5EF4-FFF2-40B4-BE49-F238E27FC236}">
                <a16:creationId xmlns:a16="http://schemas.microsoft.com/office/drawing/2014/main" id="{86567303-AB1A-FDB8-C534-7D37A1575B0A}"/>
              </a:ext>
            </a:extLst>
          </p:cNvPr>
          <p:cNvPicPr>
            <a:picLocks noGrp="1" noChangeAspect="1"/>
          </p:cNvPicPr>
          <p:nvPr>
            <p:ph sz="half" idx="2"/>
          </p:nvPr>
        </p:nvPicPr>
        <p:blipFill>
          <a:blip r:embed="rId2"/>
          <a:stretch>
            <a:fillRect/>
          </a:stretch>
        </p:blipFill>
        <p:spPr>
          <a:xfrm>
            <a:off x="6400800" y="2409032"/>
            <a:ext cx="5283200" cy="2971799"/>
          </a:xfrm>
          <a:prstGeom prst="rect">
            <a:avLst/>
          </a:prstGeom>
        </p:spPr>
      </p:pic>
      <p:sp>
        <p:nvSpPr>
          <p:cNvPr id="5" name="CuadroTexto 4">
            <a:extLst>
              <a:ext uri="{FF2B5EF4-FFF2-40B4-BE49-F238E27FC236}">
                <a16:creationId xmlns:a16="http://schemas.microsoft.com/office/drawing/2014/main" id="{1565FECB-96DE-4648-9B27-3072B34AAC5B}"/>
              </a:ext>
            </a:extLst>
          </p:cNvPr>
          <p:cNvSpPr txBox="1"/>
          <p:nvPr/>
        </p:nvSpPr>
        <p:spPr>
          <a:xfrm>
            <a:off x="838199" y="2032000"/>
            <a:ext cx="5059017" cy="3683000"/>
          </a:xfrm>
          <a:prstGeom prst="rect">
            <a:avLst/>
          </a:prstGeom>
          <a:noFill/>
        </p:spPr>
        <p:txBody>
          <a:bodyPr vertOverflow="overflow" vert="horz" wrap="square" rtlCol="0" anchor="t">
            <a:noAutofit/>
          </a:bodyPr>
          <a:lstStyle/>
          <a:p>
            <a:pPr algn="l"/>
            <a:r>
              <a:rPr lang="es-MX" sz="2400" dirty="0"/>
              <a:t>Prueba:</a:t>
            </a:r>
          </a:p>
          <a:p>
            <a:r>
              <a:rPr lang="fr-FR" sz="2400" dirty="0"/>
              <a:t>T1 = a + b</a:t>
            </a:r>
          </a:p>
          <a:p>
            <a:r>
              <a:rPr lang="fr-FR" sz="2400" dirty="0"/>
              <a:t>T2 = T1 * c</a:t>
            </a:r>
          </a:p>
          <a:p>
            <a:r>
              <a:rPr lang="fr-FR" sz="2400" dirty="0"/>
              <a:t>x = T2</a:t>
            </a:r>
            <a:r>
              <a:rPr lang="es-MX" sz="2400" dirty="0"/>
              <a:t> 
Explicación:</a:t>
            </a:r>
          </a:p>
          <a:p>
            <a:r>
              <a:rPr lang="es-MX" sz="2400" dirty="0"/>
              <a:t>El módulo analiza las instrucciones y operaciones presentes en el código. En esta prueba se detectan tres instrucciones, dos operaciones aritméticas y dos variables temporales. </a:t>
            </a:r>
          </a:p>
        </p:txBody>
      </p:sp>
    </p:spTree>
    <p:extLst>
      <p:ext uri="{BB962C8B-B14F-4D97-AF65-F5344CB8AC3E}">
        <p14:creationId xmlns:p14="http://schemas.microsoft.com/office/powerpoint/2010/main" val="36426570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60C15D-400B-C128-4088-598CA9C82566}"/>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2. Análisis de costos:</a:t>
            </a:r>
            <a:r>
              <a:rPr lang="es-MX" dirty="0"/>
              <a:t> </a:t>
            </a:r>
            <a:r>
              <a:rPr lang="es-MX" b="1" dirty="0">
                <a:solidFill>
                  <a:srgbClr val="4472C4"/>
                </a:solidFill>
                <a:latin typeface="Calibri Light"/>
                <a:ea typeface="Calibri Light"/>
                <a:cs typeface="Calibri Light"/>
              </a:rPr>
              <a:t>código con una operación</a:t>
            </a:r>
          </a:p>
        </p:txBody>
      </p:sp>
      <p:sp>
        <p:nvSpPr>
          <p:cNvPr id="5" name="CuadroTexto 4">
            <a:extLst>
              <a:ext uri="{FF2B5EF4-FFF2-40B4-BE49-F238E27FC236}">
                <a16:creationId xmlns:a16="http://schemas.microsoft.com/office/drawing/2014/main" id="{EFE5DA0E-0A47-499F-B6A2-1E74AD4993AD}"/>
              </a:ext>
            </a:extLst>
          </p:cNvPr>
          <p:cNvSpPr txBox="1"/>
          <p:nvPr/>
        </p:nvSpPr>
        <p:spPr>
          <a:xfrm>
            <a:off x="838200" y="2032000"/>
            <a:ext cx="4833730" cy="3683000"/>
          </a:xfrm>
          <a:prstGeom prst="rect">
            <a:avLst/>
          </a:prstGeom>
          <a:noFill/>
        </p:spPr>
        <p:txBody>
          <a:bodyPr vertOverflow="overflow" vert="horz" wrap="square" rtlCol="0" anchor="t">
            <a:noAutofit/>
          </a:bodyPr>
          <a:lstStyle/>
          <a:p>
            <a:pPr algn="l"/>
            <a:r>
              <a:rPr lang="es-MX" sz="2400" dirty="0"/>
              <a:t>Prueba: </a:t>
            </a:r>
          </a:p>
          <a:p>
            <a:r>
              <a:rPr lang="fr-FR" sz="2400" dirty="0"/>
              <a:t>T1 = a - b</a:t>
            </a:r>
          </a:p>
          <a:p>
            <a:r>
              <a:rPr lang="fr-FR" sz="2400" dirty="0"/>
              <a:t>x = T1 </a:t>
            </a:r>
            <a:r>
              <a:rPr lang="es-MX" sz="2400" dirty="0"/>
              <a:t>
Explicación:</a:t>
            </a:r>
          </a:p>
          <a:p>
            <a:pPr algn="just"/>
            <a:r>
              <a:rPr lang="es-MX" sz="2400" dirty="0"/>
              <a:t>La prueba utiliza una sola operación aritmética y una variable temporal. El módulo refleja un costo estimado menor en comparación con un código que contiene más instrucciones y operaciones. </a:t>
            </a:r>
          </a:p>
        </p:txBody>
      </p:sp>
      <p:pic>
        <p:nvPicPr>
          <p:cNvPr id="11" name="Marcador de contenido 10">
            <a:extLst>
              <a:ext uri="{FF2B5EF4-FFF2-40B4-BE49-F238E27FC236}">
                <a16:creationId xmlns:a16="http://schemas.microsoft.com/office/drawing/2014/main" id="{165453ED-160E-FC49-0F5E-3A7D28D41784}"/>
              </a:ext>
            </a:extLst>
          </p:cNvPr>
          <p:cNvPicPr>
            <a:picLocks noGrp="1" noChangeAspect="1"/>
          </p:cNvPicPr>
          <p:nvPr>
            <p:ph sz="half" idx="2"/>
          </p:nvPr>
        </p:nvPicPr>
        <p:blipFill>
          <a:blip r:embed="rId2"/>
          <a:stretch>
            <a:fillRect/>
          </a:stretch>
        </p:blipFill>
        <p:spPr>
          <a:xfrm>
            <a:off x="6172200" y="2543969"/>
            <a:ext cx="5181600" cy="2914649"/>
          </a:xfrm>
          <a:prstGeom prst="rect">
            <a:avLst/>
          </a:prstGeom>
        </p:spPr>
      </p:pic>
    </p:spTree>
    <p:extLst>
      <p:ext uri="{BB962C8B-B14F-4D97-AF65-F5344CB8AC3E}">
        <p14:creationId xmlns:p14="http://schemas.microsoft.com/office/powerpoint/2010/main" val="2173592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82BA26-F7F2-4510-2E39-3B426263B0E6}"/>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3. Análisis de costos:</a:t>
            </a:r>
            <a:r>
              <a:rPr lang="es-MX" dirty="0"/>
              <a:t> </a:t>
            </a:r>
            <a:r>
              <a:rPr lang="es-MX" b="1" dirty="0">
                <a:solidFill>
                  <a:srgbClr val="4472C4"/>
                </a:solidFill>
                <a:latin typeface="Calibri Light"/>
                <a:ea typeface="Calibri Light"/>
                <a:cs typeface="Calibri Light"/>
              </a:rPr>
              <a:t>uso de varios temporales</a:t>
            </a:r>
          </a:p>
        </p:txBody>
      </p:sp>
      <p:pic>
        <p:nvPicPr>
          <p:cNvPr id="7" name="Marcador de contenido 6">
            <a:extLst>
              <a:ext uri="{FF2B5EF4-FFF2-40B4-BE49-F238E27FC236}">
                <a16:creationId xmlns:a16="http://schemas.microsoft.com/office/drawing/2014/main" id="{67833DFB-C289-7E90-9F57-E3FC0EE24188}"/>
              </a:ext>
            </a:extLst>
          </p:cNvPr>
          <p:cNvPicPr>
            <a:picLocks noGrp="1" noChangeAspect="1"/>
          </p:cNvPicPr>
          <p:nvPr>
            <p:ph sz="half" idx="2"/>
          </p:nvPr>
        </p:nvPicPr>
        <p:blipFill>
          <a:blip r:embed="rId2"/>
          <a:stretch>
            <a:fillRect/>
          </a:stretch>
        </p:blipFill>
        <p:spPr>
          <a:xfrm>
            <a:off x="6096000" y="2225675"/>
            <a:ext cx="5588000" cy="3143249"/>
          </a:xfrm>
          <a:prstGeom prst="rect">
            <a:avLst/>
          </a:prstGeom>
        </p:spPr>
      </p:pic>
      <p:sp>
        <p:nvSpPr>
          <p:cNvPr id="5" name="CuadroTexto 4">
            <a:extLst>
              <a:ext uri="{FF2B5EF4-FFF2-40B4-BE49-F238E27FC236}">
                <a16:creationId xmlns:a16="http://schemas.microsoft.com/office/drawing/2014/main" id="{E6147583-3968-4378-A83A-6C511471C3D7}"/>
              </a:ext>
            </a:extLst>
          </p:cNvPr>
          <p:cNvSpPr txBox="1"/>
          <p:nvPr/>
        </p:nvSpPr>
        <p:spPr>
          <a:xfrm>
            <a:off x="838199" y="1630017"/>
            <a:ext cx="5006009" cy="4084983"/>
          </a:xfrm>
          <a:prstGeom prst="rect">
            <a:avLst/>
          </a:prstGeom>
          <a:noFill/>
        </p:spPr>
        <p:txBody>
          <a:bodyPr vertOverflow="overflow" vert="horz" wrap="square" rtlCol="0" anchor="t">
            <a:noAutofit/>
          </a:bodyPr>
          <a:lstStyle/>
          <a:p>
            <a:pPr algn="l"/>
            <a:r>
              <a:rPr lang="es-MX" sz="2400" dirty="0"/>
              <a:t>Prueba:</a:t>
            </a:r>
          </a:p>
          <a:p>
            <a:r>
              <a:rPr lang="fr-FR" sz="2400" dirty="0"/>
              <a:t>T1 = a + b</a:t>
            </a:r>
          </a:p>
          <a:p>
            <a:r>
              <a:rPr lang="fr-FR" sz="2400" dirty="0"/>
              <a:t>T2 = c / d</a:t>
            </a:r>
          </a:p>
          <a:p>
            <a:r>
              <a:rPr lang="fr-FR" sz="2400" dirty="0"/>
              <a:t>T3 = T1 * T2</a:t>
            </a:r>
          </a:p>
          <a:p>
            <a:r>
              <a:rPr lang="fr-FR" sz="2400" dirty="0"/>
              <a:t>x = T3 </a:t>
            </a:r>
            <a:r>
              <a:rPr lang="es-MX" sz="2400" dirty="0"/>
              <a:t>
Explicación:</a:t>
            </a:r>
          </a:p>
          <a:p>
            <a:r>
              <a:rPr lang="es-MX" sz="2400" dirty="0"/>
              <a:t>El programa identifica un mayor número de instrucciones, operaciones y variables temporales. Esto permite observar cómo aumenta el costo estimado cuando el código requiere más recursos para realizar sus cálculos. </a:t>
            </a:r>
          </a:p>
        </p:txBody>
      </p:sp>
    </p:spTree>
    <p:extLst>
      <p:ext uri="{BB962C8B-B14F-4D97-AF65-F5344CB8AC3E}">
        <p14:creationId xmlns:p14="http://schemas.microsoft.com/office/powerpoint/2010/main" val="123043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6BF5CA-CA16-0443-B498-AEC3E5046597}"/>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4. Análisis de costos: operaciones sin variables temporales</a:t>
            </a:r>
          </a:p>
        </p:txBody>
      </p:sp>
      <p:pic>
        <p:nvPicPr>
          <p:cNvPr id="7" name="Marcador de contenido 6">
            <a:extLst>
              <a:ext uri="{FF2B5EF4-FFF2-40B4-BE49-F238E27FC236}">
                <a16:creationId xmlns:a16="http://schemas.microsoft.com/office/drawing/2014/main" id="{FDFD7BD7-4EB9-9EB7-8138-7727CF9D0C3D}"/>
              </a:ext>
            </a:extLst>
          </p:cNvPr>
          <p:cNvPicPr>
            <a:picLocks noGrp="1" noChangeAspect="1"/>
          </p:cNvPicPr>
          <p:nvPr>
            <p:ph sz="half" idx="2"/>
          </p:nvPr>
        </p:nvPicPr>
        <p:blipFill>
          <a:blip r:embed="rId2"/>
          <a:stretch>
            <a:fillRect/>
          </a:stretch>
        </p:blipFill>
        <p:spPr>
          <a:xfrm>
            <a:off x="6586538" y="2508101"/>
            <a:ext cx="5097462" cy="2867322"/>
          </a:xfrm>
          <a:prstGeom prst="rect">
            <a:avLst/>
          </a:prstGeom>
        </p:spPr>
      </p:pic>
      <p:sp>
        <p:nvSpPr>
          <p:cNvPr id="5" name="CuadroTexto 4">
            <a:extLst>
              <a:ext uri="{FF2B5EF4-FFF2-40B4-BE49-F238E27FC236}">
                <a16:creationId xmlns:a16="http://schemas.microsoft.com/office/drawing/2014/main" id="{8F7A499D-E5D4-4B26-9874-8140F5233847}"/>
              </a:ext>
            </a:extLst>
          </p:cNvPr>
          <p:cNvSpPr txBox="1"/>
          <p:nvPr/>
        </p:nvSpPr>
        <p:spPr>
          <a:xfrm>
            <a:off x="838200" y="2032000"/>
            <a:ext cx="5430078" cy="3683000"/>
          </a:xfrm>
          <a:prstGeom prst="rect">
            <a:avLst/>
          </a:prstGeom>
          <a:noFill/>
        </p:spPr>
        <p:txBody>
          <a:bodyPr vertOverflow="overflow" vert="horz" wrap="square" rtlCol="0" anchor="t">
            <a:noAutofit/>
          </a:bodyPr>
          <a:lstStyle/>
          <a:p>
            <a:pPr algn="l"/>
            <a:r>
              <a:rPr lang="es-MX" sz="2400" dirty="0"/>
              <a:t>Prueba:</a:t>
            </a:r>
          </a:p>
          <a:p>
            <a:r>
              <a:rPr lang="es-MX" sz="2400" dirty="0"/>
              <a:t>x = a + b</a:t>
            </a:r>
          </a:p>
          <a:p>
            <a:r>
              <a:rPr lang="es-MX" sz="2400" dirty="0"/>
              <a:t>y = x * 2</a:t>
            </a:r>
          </a:p>
          <a:p>
            <a:r>
              <a:rPr lang="es-MX" sz="2400" dirty="0"/>
              <a:t>z = y - 1 
Explicación:</a:t>
            </a:r>
          </a:p>
          <a:p>
            <a:r>
              <a:rPr lang="es-MX" sz="2400" dirty="0"/>
              <a:t>En esta prueba existen tres operaciones aritméticas, pero no se utilizan variables temporales del tipo </a:t>
            </a:r>
            <a:r>
              <a:rPr lang="es-MX" dirty="0"/>
              <a:t>T1</a:t>
            </a:r>
            <a:r>
              <a:rPr lang="es-MX" sz="2400" dirty="0"/>
              <a:t>, </a:t>
            </a:r>
            <a:r>
              <a:rPr lang="es-MX" dirty="0"/>
              <a:t>T2</a:t>
            </a:r>
            <a:r>
              <a:rPr lang="es-MX" sz="2400" dirty="0"/>
              <a:t> o </a:t>
            </a:r>
            <a:r>
              <a:rPr lang="es-MX" dirty="0"/>
              <a:t>T3</a:t>
            </a:r>
            <a:r>
              <a:rPr lang="es-MX" sz="2400" dirty="0"/>
              <a:t>. El módulo permite comparar el costo estimado de este código con los ejercicios que sí utilizan temporales. </a:t>
            </a:r>
          </a:p>
        </p:txBody>
      </p:sp>
    </p:spTree>
    <p:extLst>
      <p:ext uri="{BB962C8B-B14F-4D97-AF65-F5344CB8AC3E}">
        <p14:creationId xmlns:p14="http://schemas.microsoft.com/office/powerpoint/2010/main" val="912843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CBBF5-E139-FE35-537B-F36134CF4535}"/>
              </a:ext>
            </a:extLst>
          </p:cNvPr>
          <p:cNvSpPr>
            <a:spLocks noGrp="1"/>
          </p:cNvSpPr>
          <p:nvPr>
            <p:ph type="title"/>
          </p:nvPr>
        </p:nvSpPr>
        <p:spPr>
          <a:xfrm>
            <a:off x="838200" y="304800"/>
            <a:ext cx="10515600" cy="1524000"/>
          </a:xfrm>
        </p:spPr>
        <p:txBody>
          <a:bodyPr>
            <a:noAutofit/>
          </a:bodyPr>
          <a:lstStyle/>
          <a:p>
            <a:r>
              <a:rPr lang="es-MX" b="1" dirty="0">
                <a:solidFill>
                  <a:srgbClr val="4472C4"/>
                </a:solidFill>
                <a:latin typeface="Calibri Light"/>
                <a:ea typeface="Calibri Light"/>
                <a:cs typeface="Calibri Light"/>
              </a:rPr>
              <a:t>Explicación de las pruebas de Análisis de costos</a:t>
            </a:r>
          </a:p>
        </p:txBody>
      </p:sp>
      <p:sp>
        <p:nvSpPr>
          <p:cNvPr id="3" name="Marcador de contenido 2">
            <a:extLst>
              <a:ext uri="{FF2B5EF4-FFF2-40B4-BE49-F238E27FC236}">
                <a16:creationId xmlns:a16="http://schemas.microsoft.com/office/drawing/2014/main" id="{9DDA0027-CA8C-1CE9-6DED-0CD1C4C461F2}"/>
              </a:ext>
            </a:extLst>
          </p:cNvPr>
          <p:cNvSpPr>
            <a:spLocks noGrp="1"/>
          </p:cNvSpPr>
          <p:nvPr>
            <p:ph idx="1"/>
          </p:nvPr>
        </p:nvSpPr>
        <p:spPr>
          <a:xfrm>
            <a:off x="838200" y="2032000"/>
            <a:ext cx="10515600" cy="4508500"/>
          </a:xfrm>
        </p:spPr>
        <p:txBody>
          <a:bodyPr>
            <a:normAutofit fontScale="85000" lnSpcReduction="20000"/>
          </a:bodyPr>
          <a:lstStyle/>
          <a:p>
            <a:r>
              <a:rPr lang="es-MX" dirty="0"/>
              <a:t>Las pruebas realizadas permitieron comprobar el funcionamiento del módulo de análisis de costos mediante códigos con diferentes cantidades de instrucciones, operaciones y variables temporales. En el primer ejercicio se evaluó un código con dos operaciones y dos temporales, mientras que en el segundo se utilizó una estructura más sencilla para observar la disminución de los recursos estimados.</a:t>
            </a:r>
          </a:p>
          <a:p>
            <a:r>
              <a:rPr lang="es-MX" dirty="0"/>
              <a:t>En el tercer ejercicio se incrementó la cantidad de operaciones y variables temporales, permitiendo observar cómo aumenta el costo estimado del código. Finalmente, en el cuarto ejercicio se analizaron varias operaciones sin utilizar variables temporales del tipo T1, T2 o T3, mostrando una diferencia en la estimación de registros y recursos.</a:t>
            </a:r>
          </a:p>
          <a:p>
            <a:r>
              <a:rPr lang="es-MX" dirty="0"/>
              <a:t>Los resultados permitieron comparar el número de instrucciones, operaciones, temporales, memoria y registros estimados en cada prueba. De esta manera, el módulo proporciona una referencia didáctica para analizar el costo del código y detectar estructuras que podrían requerir una mayor cantidad de recursos durante su ejecución.</a:t>
            </a:r>
          </a:p>
          <a:p>
            <a:endParaRPr lang="es-MX" dirty="0"/>
          </a:p>
        </p:txBody>
      </p:sp>
    </p:spTree>
    <p:extLst>
      <p:ext uri="{BB962C8B-B14F-4D97-AF65-F5344CB8AC3E}">
        <p14:creationId xmlns:p14="http://schemas.microsoft.com/office/powerpoint/2010/main" val="4091439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DBAF5-4607-7C82-7FB4-4B0685FCF859}"/>
              </a:ext>
            </a:extLst>
          </p:cNvPr>
          <p:cNvSpPr>
            <a:spLocks noGrp="1"/>
          </p:cNvSpPr>
          <p:nvPr>
            <p:ph type="title"/>
          </p:nvPr>
        </p:nvSpPr>
        <p:spPr>
          <a:xfrm>
            <a:off x="838200" y="304800"/>
            <a:ext cx="10515600" cy="1524000"/>
          </a:xfrm>
        </p:spPr>
        <p:txBody>
          <a:bodyPr>
            <a:normAutofit/>
          </a:bodyPr>
          <a:lstStyle/>
          <a:p>
            <a:r>
              <a:rPr lang="es-MX" sz="4400" b="1">
                <a:solidFill>
                  <a:srgbClr val="4472C4"/>
                </a:solidFill>
                <a:latin typeface="Calibri Light"/>
                <a:ea typeface="Calibri Light"/>
                <a:cs typeface="Calibri Light"/>
              </a:rPr>
              <a:t>Criterios para mejorar el código</a:t>
            </a:r>
          </a:p>
        </p:txBody>
      </p:sp>
      <p:pic>
        <p:nvPicPr>
          <p:cNvPr id="5" name="Imagen 4">
            <a:extLst>
              <a:ext uri="{FF2B5EF4-FFF2-40B4-BE49-F238E27FC236}">
                <a16:creationId xmlns:a16="http://schemas.microsoft.com/office/drawing/2014/main" id="{F9538D5A-02C3-392B-F590-F0A3D419B08E}"/>
              </a:ext>
            </a:extLst>
          </p:cNvPr>
          <p:cNvPicPr>
            <a:picLocks noChangeAspect="1"/>
          </p:cNvPicPr>
          <p:nvPr/>
        </p:nvPicPr>
        <p:blipFill>
          <a:blip r:embed="rId2"/>
          <a:stretch>
            <a:fillRect/>
          </a:stretch>
        </p:blipFill>
        <p:spPr>
          <a:xfrm>
            <a:off x="5207564" y="2082800"/>
            <a:ext cx="6123094" cy="3444240"/>
          </a:xfrm>
          <a:prstGeom prst="rect">
            <a:avLst/>
          </a:prstGeom>
        </p:spPr>
      </p:pic>
    </p:spTree>
    <p:extLst>
      <p:ext uri="{BB962C8B-B14F-4D97-AF65-F5344CB8AC3E}">
        <p14:creationId xmlns:p14="http://schemas.microsoft.com/office/powerpoint/2010/main" val="2996478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81B64-8EA7-37EF-DF53-B004616EDFDD}"/>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1. Criterios para mejorar el código:</a:t>
            </a:r>
            <a:r>
              <a:rPr lang="es-MX" dirty="0"/>
              <a:t> </a:t>
            </a:r>
            <a:r>
              <a:rPr lang="es-MX" b="1" dirty="0">
                <a:solidFill>
                  <a:srgbClr val="4472C4"/>
                </a:solidFill>
                <a:latin typeface="Calibri Light"/>
                <a:ea typeface="Calibri Light"/>
                <a:cs typeface="Calibri Light"/>
              </a:rPr>
              <a:t>operaciones redundantes</a:t>
            </a:r>
          </a:p>
        </p:txBody>
      </p:sp>
      <p:pic>
        <p:nvPicPr>
          <p:cNvPr id="7" name="Marcador de contenido 6">
            <a:extLst>
              <a:ext uri="{FF2B5EF4-FFF2-40B4-BE49-F238E27FC236}">
                <a16:creationId xmlns:a16="http://schemas.microsoft.com/office/drawing/2014/main" id="{5706EF23-B3D0-1C93-62A7-E2B2422F15CA}"/>
              </a:ext>
            </a:extLst>
          </p:cNvPr>
          <p:cNvPicPr>
            <a:picLocks noGrp="1" noChangeAspect="1"/>
          </p:cNvPicPr>
          <p:nvPr>
            <p:ph sz="half" idx="2"/>
          </p:nvPr>
        </p:nvPicPr>
        <p:blipFill>
          <a:blip r:embed="rId2"/>
          <a:stretch>
            <a:fillRect/>
          </a:stretch>
        </p:blipFill>
        <p:spPr>
          <a:xfrm>
            <a:off x="6096000" y="2303463"/>
            <a:ext cx="5588000" cy="3143249"/>
          </a:xfrm>
          <a:prstGeom prst="rect">
            <a:avLst/>
          </a:prstGeom>
        </p:spPr>
      </p:pic>
      <p:sp>
        <p:nvSpPr>
          <p:cNvPr id="5" name="CuadroTexto 4">
            <a:extLst>
              <a:ext uri="{FF2B5EF4-FFF2-40B4-BE49-F238E27FC236}">
                <a16:creationId xmlns:a16="http://schemas.microsoft.com/office/drawing/2014/main" id="{2B3F6242-7594-483F-92DE-F9350AE55D60}"/>
              </a:ext>
            </a:extLst>
          </p:cNvPr>
          <p:cNvSpPr txBox="1"/>
          <p:nvPr/>
        </p:nvSpPr>
        <p:spPr>
          <a:xfrm>
            <a:off x="838200" y="2032000"/>
            <a:ext cx="5098774" cy="3683000"/>
          </a:xfrm>
          <a:prstGeom prst="rect">
            <a:avLst/>
          </a:prstGeom>
          <a:noFill/>
        </p:spPr>
        <p:txBody>
          <a:bodyPr vertOverflow="overflow" vert="horz" wrap="square" rtlCol="0" anchor="t">
            <a:noAutofit/>
          </a:bodyPr>
          <a:lstStyle/>
          <a:p>
            <a:pPr algn="l"/>
            <a:r>
              <a:rPr lang="es-MX" sz="2400" dirty="0"/>
              <a:t>Prueba:</a:t>
            </a:r>
          </a:p>
          <a:p>
            <a:r>
              <a:rPr lang="fr-FR" sz="2400" dirty="0"/>
              <a:t>T1 = a + 0</a:t>
            </a:r>
          </a:p>
          <a:p>
            <a:r>
              <a:rPr lang="fr-FR" sz="2400" dirty="0"/>
              <a:t>T2 = T1 * 1</a:t>
            </a:r>
          </a:p>
          <a:p>
            <a:r>
              <a:rPr lang="fr-FR" sz="2400" dirty="0"/>
              <a:t>T3 = b * 4</a:t>
            </a:r>
          </a:p>
          <a:p>
            <a:r>
              <a:rPr lang="fr-FR" sz="2400" dirty="0"/>
              <a:t>x = T2 + T3</a:t>
            </a:r>
            <a:r>
              <a:rPr lang="es-MX" sz="2400" dirty="0"/>
              <a:t> 
Explicación:</a:t>
            </a:r>
          </a:p>
          <a:p>
            <a:r>
              <a:rPr lang="es-MX" sz="2400" dirty="0"/>
              <a:t>El módulo identifica operaciones que podrían simplificarse, como sumar cero o multiplicar por uno. También detecta el uso de variables temporales con nombres poco descriptivos.</a:t>
            </a:r>
          </a:p>
        </p:txBody>
      </p:sp>
    </p:spTree>
    <p:extLst>
      <p:ext uri="{BB962C8B-B14F-4D97-AF65-F5344CB8AC3E}">
        <p14:creationId xmlns:p14="http://schemas.microsoft.com/office/powerpoint/2010/main" val="2339461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8700DA-D992-84F1-1496-0857F10BCE25}"/>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2. Criterios para mejorar el código: suma innecesaria</a:t>
            </a:r>
          </a:p>
        </p:txBody>
      </p:sp>
      <p:pic>
        <p:nvPicPr>
          <p:cNvPr id="7" name="Marcador de contenido 6">
            <a:extLst>
              <a:ext uri="{FF2B5EF4-FFF2-40B4-BE49-F238E27FC236}">
                <a16:creationId xmlns:a16="http://schemas.microsoft.com/office/drawing/2014/main" id="{9405B5F9-99C4-B6A2-A85A-2A04485939A2}"/>
              </a:ext>
            </a:extLst>
          </p:cNvPr>
          <p:cNvPicPr>
            <a:picLocks noGrp="1" noChangeAspect="1"/>
          </p:cNvPicPr>
          <p:nvPr>
            <p:ph sz="half" idx="2"/>
          </p:nvPr>
        </p:nvPicPr>
        <p:blipFill>
          <a:blip r:embed="rId2"/>
          <a:stretch>
            <a:fillRect/>
          </a:stretch>
        </p:blipFill>
        <p:spPr>
          <a:xfrm>
            <a:off x="6197600" y="2438400"/>
            <a:ext cx="5486400" cy="3086100"/>
          </a:xfrm>
          <a:prstGeom prst="rect">
            <a:avLst/>
          </a:prstGeom>
        </p:spPr>
      </p:pic>
      <p:sp>
        <p:nvSpPr>
          <p:cNvPr id="5" name="CuadroTexto 4">
            <a:extLst>
              <a:ext uri="{FF2B5EF4-FFF2-40B4-BE49-F238E27FC236}">
                <a16:creationId xmlns:a16="http://schemas.microsoft.com/office/drawing/2014/main" id="{66ED7954-4BB3-477B-90B0-C865613A88EB}"/>
              </a:ext>
            </a:extLst>
          </p:cNvPr>
          <p:cNvSpPr txBox="1"/>
          <p:nvPr/>
        </p:nvSpPr>
        <p:spPr>
          <a:xfrm>
            <a:off x="838199" y="1753705"/>
            <a:ext cx="5156201" cy="3683000"/>
          </a:xfrm>
          <a:prstGeom prst="rect">
            <a:avLst/>
          </a:prstGeom>
          <a:noFill/>
        </p:spPr>
        <p:txBody>
          <a:bodyPr vertOverflow="overflow" vert="horz" wrap="square" rtlCol="0" anchor="t">
            <a:noAutofit/>
          </a:bodyPr>
          <a:lstStyle/>
          <a:p>
            <a:pPr algn="l"/>
            <a:r>
              <a:rPr lang="es-MX" sz="2400" dirty="0"/>
              <a:t>Prueba:</a:t>
            </a:r>
          </a:p>
          <a:p>
            <a:r>
              <a:rPr lang="fr-FR" sz="2400" dirty="0"/>
              <a:t>T1 = </a:t>
            </a:r>
            <a:r>
              <a:rPr lang="fr-FR" sz="2400" dirty="0" err="1"/>
              <a:t>precio</a:t>
            </a:r>
            <a:r>
              <a:rPr lang="fr-FR" sz="2400" dirty="0"/>
              <a:t> + 0</a:t>
            </a:r>
          </a:p>
          <a:p>
            <a:r>
              <a:rPr lang="fr-FR" sz="2400" dirty="0"/>
              <a:t>T2 = T1 + </a:t>
            </a:r>
            <a:r>
              <a:rPr lang="fr-FR" sz="2400" dirty="0" err="1"/>
              <a:t>impuesto</a:t>
            </a:r>
            <a:endParaRPr lang="fr-FR" sz="2400" dirty="0"/>
          </a:p>
          <a:p>
            <a:r>
              <a:rPr lang="fr-FR" sz="2400" dirty="0"/>
              <a:t>total = T2 </a:t>
            </a:r>
            <a:r>
              <a:rPr lang="es-MX" sz="2400" dirty="0"/>
              <a:t>
Explicación:</a:t>
            </a:r>
          </a:p>
          <a:p>
            <a:pPr algn="just"/>
            <a:r>
              <a:rPr lang="es-MX" sz="2400" dirty="0"/>
              <a:t>El programa detectó la operación redundante T1 = precio + 0, debido a que sumar cero no modifica el valor original. Además, identificó el uso de variables temporales poco descriptivas, mostrando criterios que pueden utilizarse para mejorar la claridad y simplificar el código. </a:t>
            </a:r>
          </a:p>
        </p:txBody>
      </p:sp>
    </p:spTree>
    <p:extLst>
      <p:ext uri="{BB962C8B-B14F-4D97-AF65-F5344CB8AC3E}">
        <p14:creationId xmlns:p14="http://schemas.microsoft.com/office/powerpoint/2010/main" val="3232693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3503EF-999A-B543-98B1-57E3C2748146}"/>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3. Criterios para mejorar el código:</a:t>
            </a:r>
            <a:r>
              <a:rPr lang="es-MX" dirty="0"/>
              <a:t> </a:t>
            </a:r>
            <a:r>
              <a:rPr lang="es-MX" b="1" dirty="0">
                <a:solidFill>
                  <a:srgbClr val="4472C4"/>
                </a:solidFill>
                <a:latin typeface="Calibri Light"/>
                <a:ea typeface="Calibri Light"/>
                <a:cs typeface="Calibri Light"/>
              </a:rPr>
              <a:t>multiplicación innecesaria</a:t>
            </a:r>
          </a:p>
        </p:txBody>
      </p:sp>
      <p:pic>
        <p:nvPicPr>
          <p:cNvPr id="7" name="Marcador de contenido 6">
            <a:extLst>
              <a:ext uri="{FF2B5EF4-FFF2-40B4-BE49-F238E27FC236}">
                <a16:creationId xmlns:a16="http://schemas.microsoft.com/office/drawing/2014/main" id="{AFF58F4A-82A7-7D41-B0FC-9040E6ED5321}"/>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D0D2C70E-183C-4C57-885C-1F90723C0B19}"/>
              </a:ext>
            </a:extLst>
          </p:cNvPr>
          <p:cNvSpPr txBox="1"/>
          <p:nvPr/>
        </p:nvSpPr>
        <p:spPr>
          <a:xfrm>
            <a:off x="838200" y="2032000"/>
            <a:ext cx="4445000" cy="3683000"/>
          </a:xfrm>
          <a:prstGeom prst="rect">
            <a:avLst/>
          </a:prstGeom>
          <a:noFill/>
        </p:spPr>
        <p:txBody>
          <a:bodyPr vertOverflow="overflow" vert="horz" wrap="square" rtlCol="0" anchor="t">
            <a:noAutofit/>
          </a:bodyPr>
          <a:lstStyle/>
          <a:p>
            <a:pPr algn="l"/>
            <a:r>
              <a:rPr lang="es-MX" sz="2400" dirty="0"/>
              <a:t>Prueba:</a:t>
            </a:r>
          </a:p>
          <a:p>
            <a:r>
              <a:rPr lang="es-MX" sz="2400" dirty="0"/>
              <a:t>T1 = cantidad * 1</a:t>
            </a:r>
          </a:p>
          <a:p>
            <a:r>
              <a:rPr lang="es-MX" sz="2400" dirty="0"/>
              <a:t>T2 = T1 + precio</a:t>
            </a:r>
          </a:p>
          <a:p>
            <a:r>
              <a:rPr lang="es-MX" sz="2400" dirty="0"/>
              <a:t>resultado = T2 
Explicación: </a:t>
            </a:r>
          </a:p>
          <a:p>
            <a:r>
              <a:rPr lang="es-MX" sz="2400" dirty="0"/>
              <a:t>Multiplicar un valor por uno produce exactamente el mismo resultado, por lo que esta operación puede evitarse. La prueba también permite comprobar el criterio relacionado con los nombres de variables.</a:t>
            </a:r>
          </a:p>
          <a:p>
            <a:endParaRPr lang="es-MX" sz="2400" dirty="0"/>
          </a:p>
        </p:txBody>
      </p:sp>
    </p:spTree>
    <p:extLst>
      <p:ext uri="{BB962C8B-B14F-4D97-AF65-F5344CB8AC3E}">
        <p14:creationId xmlns:p14="http://schemas.microsoft.com/office/powerpoint/2010/main" val="3657004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83AB47-0C25-9D91-235E-F286728AADD4}"/>
              </a:ext>
            </a:extLst>
          </p:cNvPr>
          <p:cNvSpPr>
            <a:spLocks noGrp="1"/>
          </p:cNvSpPr>
          <p:nvPr>
            <p:ph type="title"/>
          </p:nvPr>
        </p:nvSpPr>
        <p:spPr>
          <a:xfrm>
            <a:off x="838200" y="304800"/>
            <a:ext cx="10515600" cy="1524000"/>
          </a:xfrm>
        </p:spPr>
        <p:txBody>
          <a:bodyPr>
            <a:normAutofit/>
          </a:bodyPr>
          <a:lstStyle/>
          <a:p>
            <a:r>
              <a:rPr lang="es-MX" b="1" dirty="0">
                <a:solidFill>
                  <a:srgbClr val="4472C4"/>
                </a:solidFill>
                <a:latin typeface="Calibri Light"/>
                <a:ea typeface="Calibri Light"/>
                <a:cs typeface="Calibri Light"/>
              </a:rPr>
              <a:t>Ejercicio 4. Criterios para mejorar el código: código sin criterios de mejora</a:t>
            </a:r>
          </a:p>
        </p:txBody>
      </p:sp>
      <p:pic>
        <p:nvPicPr>
          <p:cNvPr id="7" name="Marcador de contenido 6">
            <a:extLst>
              <a:ext uri="{FF2B5EF4-FFF2-40B4-BE49-F238E27FC236}">
                <a16:creationId xmlns:a16="http://schemas.microsoft.com/office/drawing/2014/main" id="{EB2F4B9E-682D-A028-63E1-902E9774A8F3}"/>
              </a:ext>
            </a:extLst>
          </p:cNvPr>
          <p:cNvPicPr>
            <a:picLocks noGrp="1" noChangeAspect="1"/>
          </p:cNvPicPr>
          <p:nvPr>
            <p:ph sz="half" idx="2"/>
          </p:nvPr>
        </p:nvPicPr>
        <p:blipFill>
          <a:blip r:embed="rId2"/>
          <a:stretch>
            <a:fillRect/>
          </a:stretch>
        </p:blipFill>
        <p:spPr>
          <a:xfrm>
            <a:off x="6373813" y="2494310"/>
            <a:ext cx="5310187" cy="2986980"/>
          </a:xfrm>
          <a:prstGeom prst="rect">
            <a:avLst/>
          </a:prstGeom>
        </p:spPr>
      </p:pic>
      <p:sp>
        <p:nvSpPr>
          <p:cNvPr id="5" name="CuadroTexto 4">
            <a:extLst>
              <a:ext uri="{FF2B5EF4-FFF2-40B4-BE49-F238E27FC236}">
                <a16:creationId xmlns:a16="http://schemas.microsoft.com/office/drawing/2014/main" id="{32BE76E6-6962-418F-90C2-C3985993F221}"/>
              </a:ext>
            </a:extLst>
          </p:cNvPr>
          <p:cNvSpPr txBox="1"/>
          <p:nvPr/>
        </p:nvSpPr>
        <p:spPr>
          <a:xfrm>
            <a:off x="838199" y="1828800"/>
            <a:ext cx="5257801" cy="4585252"/>
          </a:xfrm>
          <a:prstGeom prst="rect">
            <a:avLst/>
          </a:prstGeom>
          <a:noFill/>
        </p:spPr>
        <p:txBody>
          <a:bodyPr vertOverflow="overflow" vert="horz" wrap="square" rtlCol="0" anchor="t">
            <a:noAutofit/>
          </a:bodyPr>
          <a:lstStyle/>
          <a:p>
            <a:pPr algn="l"/>
            <a:r>
              <a:rPr lang="es-MX" sz="2400" dirty="0"/>
              <a:t>Prueba: </a:t>
            </a:r>
          </a:p>
          <a:p>
            <a:r>
              <a:rPr lang="es-MX" sz="2400" dirty="0"/>
              <a:t>resultado = precio + impuesto</a:t>
            </a:r>
          </a:p>
          <a:p>
            <a:r>
              <a:rPr lang="es-MX" sz="2400" dirty="0"/>
              <a:t>total = resultado * cantidad</a:t>
            </a:r>
          </a:p>
          <a:p>
            <a:r>
              <a:rPr lang="es-MX" sz="2400" dirty="0"/>
              <a:t>pago = total - descuento 
Explicación: </a:t>
            </a:r>
          </a:p>
          <a:p>
            <a:r>
              <a:rPr lang="es-MX" sz="2400" dirty="0"/>
              <a:t>En esta prueba se ingresó un código que no contiene operaciones redundantes como sumas con cero o multiplicaciones por uno, y utiliza nombres de variables descriptivos. Por eso, el módulo no debería detectar los criterios de mejora evaluados.</a:t>
            </a:r>
          </a:p>
        </p:txBody>
      </p:sp>
    </p:spTree>
    <p:extLst>
      <p:ext uri="{BB962C8B-B14F-4D97-AF65-F5344CB8AC3E}">
        <p14:creationId xmlns:p14="http://schemas.microsoft.com/office/powerpoint/2010/main" val="29720254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C6A732-C2F0-F6C0-00DE-97E6EF1A5D0F}"/>
              </a:ext>
            </a:extLst>
          </p:cNvPr>
          <p:cNvSpPr>
            <a:spLocks noGrp="1"/>
          </p:cNvSpPr>
          <p:nvPr>
            <p:ph type="title"/>
          </p:nvPr>
        </p:nvSpPr>
        <p:spPr>
          <a:xfrm>
            <a:off x="838200" y="304800"/>
            <a:ext cx="10515600" cy="1524000"/>
          </a:xfrm>
        </p:spPr>
        <p:txBody>
          <a:bodyPr>
            <a:noAutofit/>
          </a:bodyPr>
          <a:lstStyle/>
          <a:p>
            <a:r>
              <a:rPr lang="es-MX" b="1" dirty="0">
                <a:solidFill>
                  <a:srgbClr val="4472C4"/>
                </a:solidFill>
                <a:latin typeface="Calibri Light"/>
                <a:ea typeface="Calibri Light"/>
                <a:cs typeface="Calibri Light"/>
              </a:rPr>
              <a:t>Explicación de las pruebas de Criterios para mejorar el código</a:t>
            </a:r>
          </a:p>
        </p:txBody>
      </p:sp>
      <p:sp>
        <p:nvSpPr>
          <p:cNvPr id="3" name="Marcador de contenido 2">
            <a:extLst>
              <a:ext uri="{FF2B5EF4-FFF2-40B4-BE49-F238E27FC236}">
                <a16:creationId xmlns:a16="http://schemas.microsoft.com/office/drawing/2014/main" id="{5FBF1ADC-2F08-083E-B254-308D858819EF}"/>
              </a:ext>
            </a:extLst>
          </p:cNvPr>
          <p:cNvSpPr>
            <a:spLocks noGrp="1"/>
          </p:cNvSpPr>
          <p:nvPr>
            <p:ph idx="1"/>
          </p:nvPr>
        </p:nvSpPr>
        <p:spPr>
          <a:xfrm>
            <a:off x="838200" y="1828800"/>
            <a:ext cx="11028680" cy="4711700"/>
          </a:xfr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indent="0" algn="just">
              <a:buNone/>
            </a:pPr>
            <a:r>
              <a:rPr lang="es-MX" sz="2300" dirty="0"/>
              <a:t>Las pruebas realizadas permitió comprobar el funcionamiento del módulo de criterios para mejorar el código. En el primer ejercicio se verificó la detección de operaciones redundantes dentro de un mismo bloque, como la suma con cero y la multiplicación por uno aplicadas a variables temporales. En el segundo se comprobó la identificación de una suma innecesaria, además del uso de variables temporales poco descriptivas. En el tercero se evaluó la multiplicación por uno, que mantiene el valor original y puede simplificarse. Finalmente, el cuarto ejercicio presentó código sin operaciones redundantes y con nombres de variables descriptivos, comprobando el comportamiento del módulo cuando no existen criterios de mejora que señalar.</a:t>
            </a:r>
          </a:p>
          <a:p>
            <a:pPr marL="0" indent="0" algn="just">
              <a:buNone/>
            </a:pPr>
            <a:r>
              <a:rPr lang="es-MX" sz="2300" dirty="0"/>
              <a:t>Los resultados muestran que el módulo identifica instrucciones que pueden simplificarse y aspectos que pueden afectar la claridad del código, como el uso de nombres genéricos. Al mismo tiempo, respeta las instrucciones necesarias cuando no encuentra criterios de mejora. De esta manera, se comprobó de forma práctica la utilidad de este análisis dentro del proceso de optimización de un compilador.</a:t>
            </a:r>
          </a:p>
        </p:txBody>
      </p:sp>
    </p:spTree>
    <p:extLst>
      <p:ext uri="{BB962C8B-B14F-4D97-AF65-F5344CB8AC3E}">
        <p14:creationId xmlns:p14="http://schemas.microsoft.com/office/powerpoint/2010/main" val="3378587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8AA15D-FB43-388E-A3E2-06E8C2797D1F}"/>
              </a:ext>
            </a:extLst>
          </p:cNvPr>
          <p:cNvSpPr>
            <a:spLocks noGrp="1"/>
          </p:cNvSpPr>
          <p:nvPr>
            <p:ph type="title"/>
          </p:nvPr>
        </p:nvSpPr>
        <p:spPr>
          <a:xfrm>
            <a:off x="838200" y="304800"/>
            <a:ext cx="10515600" cy="1524000"/>
          </a:xfrm>
        </p:spPr>
        <p:txBody>
          <a:bodyPr>
            <a:normAutofit/>
          </a:bodyPr>
          <a:lstStyle/>
          <a:p>
            <a:r>
              <a:rPr lang="es-MX" sz="4400" b="1">
                <a:solidFill>
                  <a:srgbClr val="4472C4"/>
                </a:solidFill>
                <a:latin typeface="Calibri Light"/>
                <a:ea typeface="Calibri Light"/>
                <a:cs typeface="Calibri Light"/>
              </a:rPr>
              <a:t>Análisis del flujo de datos</a:t>
            </a:r>
          </a:p>
        </p:txBody>
      </p:sp>
      <p:pic>
        <p:nvPicPr>
          <p:cNvPr id="5" name="Imagen 4">
            <a:extLst>
              <a:ext uri="{FF2B5EF4-FFF2-40B4-BE49-F238E27FC236}">
                <a16:creationId xmlns:a16="http://schemas.microsoft.com/office/drawing/2014/main" id="{FE861294-7740-9415-DCB3-A7F001B97599}"/>
              </a:ext>
            </a:extLst>
          </p:cNvPr>
          <p:cNvPicPr>
            <a:picLocks noChangeAspect="1"/>
          </p:cNvPicPr>
          <p:nvPr/>
        </p:nvPicPr>
        <p:blipFill>
          <a:blip r:embed="rId2"/>
          <a:stretch>
            <a:fillRect/>
          </a:stretch>
        </p:blipFill>
        <p:spPr>
          <a:xfrm>
            <a:off x="5207564" y="2082800"/>
            <a:ext cx="6123094" cy="3444240"/>
          </a:xfrm>
          <a:prstGeom prst="rect">
            <a:avLst/>
          </a:prstGeom>
        </p:spPr>
      </p:pic>
    </p:spTree>
    <p:extLst>
      <p:ext uri="{BB962C8B-B14F-4D97-AF65-F5344CB8AC3E}">
        <p14:creationId xmlns:p14="http://schemas.microsoft.com/office/powerpoint/2010/main" val="19549223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5F67AC-906E-F9B3-D225-7E22E294B478}"/>
              </a:ext>
            </a:extLst>
          </p:cNvPr>
          <p:cNvSpPr>
            <a:spLocks noGrp="1"/>
          </p:cNvSpPr>
          <p:nvPr>
            <p:ph type="title"/>
          </p:nvPr>
        </p:nvSpPr>
        <p:spPr>
          <a:xfrm>
            <a:off x="838200" y="304800"/>
            <a:ext cx="10515600" cy="1524000"/>
          </a:xfrm>
        </p:spPr>
        <p:txBody>
          <a:bodyPr>
            <a:normAutofit/>
          </a:bodyPr>
          <a:lstStyle/>
          <a:p>
            <a:r>
              <a:rPr lang="es-MX" b="1">
                <a:solidFill>
                  <a:srgbClr val="4472C4"/>
                </a:solidFill>
                <a:latin typeface="Calibri Light"/>
                <a:ea typeface="Calibri Light"/>
                <a:cs typeface="Calibri Light"/>
              </a:rPr>
              <a:t>Ejercicio 1. Análisis del flujo de datos: cadena definición-uso</a:t>
            </a:r>
          </a:p>
        </p:txBody>
      </p:sp>
      <p:pic>
        <p:nvPicPr>
          <p:cNvPr id="6" name="Marcador de contenido 5">
            <a:extLst>
              <a:ext uri="{FF2B5EF4-FFF2-40B4-BE49-F238E27FC236}">
                <a16:creationId xmlns:a16="http://schemas.microsoft.com/office/drawing/2014/main" id="{9AF2ECBE-6F03-E645-794E-3E6ADB034D24}"/>
              </a:ext>
            </a:extLst>
          </p:cNvPr>
          <p:cNvPicPr>
            <a:picLocks noGrp="1" noChangeAspect="1"/>
          </p:cNvPicPr>
          <p:nvPr>
            <p:ph sz="half" idx="2"/>
          </p:nvPr>
        </p:nvPicPr>
        <p:blipFill>
          <a:blip r:embed="rId2"/>
          <a:stretch>
            <a:fillRect/>
          </a:stretch>
        </p:blipFill>
        <p:spPr>
          <a:xfrm>
            <a:off x="6251786" y="2468880"/>
            <a:ext cx="5432213" cy="3055620"/>
          </a:xfrm>
          <a:prstGeom prst="rect">
            <a:avLst/>
          </a:prstGeom>
        </p:spPr>
      </p:pic>
      <p:sp>
        <p:nvSpPr>
          <p:cNvPr id="5" name="CuadroTexto 4">
            <a:extLst>
              <a:ext uri="{FF2B5EF4-FFF2-40B4-BE49-F238E27FC236}">
                <a16:creationId xmlns:a16="http://schemas.microsoft.com/office/drawing/2014/main" id="{47D3BF8D-215C-4A05-ABF5-3D55EB781D97}"/>
              </a:ext>
            </a:extLst>
          </p:cNvPr>
          <p:cNvSpPr txBox="1"/>
          <p:nvPr/>
        </p:nvSpPr>
        <p:spPr>
          <a:xfrm>
            <a:off x="838199" y="2032000"/>
            <a:ext cx="5102015" cy="3683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defRPr sz="2400"/>
            </a:lvl1pPr>
          </a:lstStyle>
          <a:p>
            <a:r>
              <a:rPr lang="es-MX" dirty="0"/>
              <a:t>Prueba:</a:t>
            </a:r>
          </a:p>
          <a:p>
            <a:r>
              <a:rPr lang="es-MX" dirty="0"/>
              <a:t>a = 10</a:t>
            </a:r>
          </a:p>
          <a:p>
            <a:r>
              <a:rPr lang="es-MX" dirty="0"/>
              <a:t>b = a</a:t>
            </a:r>
          </a:p>
          <a:p>
            <a:r>
              <a:rPr lang="es-MX" dirty="0"/>
              <a:t>c = b + 5</a:t>
            </a:r>
          </a:p>
          <a:p>
            <a:r>
              <a:rPr lang="es-MX" dirty="0"/>
              <a:t>Explicación:</a:t>
            </a:r>
          </a:p>
          <a:p>
            <a:r>
              <a:rPr lang="es-MX" dirty="0"/>
              <a:t>El programa identifica dónde se define cada variable y en qué instrucciones posteriores se utiliza. De esta manera, establece la relación entre las definiciones de a y b y sus respectivos usos.</a:t>
            </a:r>
          </a:p>
        </p:txBody>
      </p:sp>
    </p:spTree>
    <p:extLst>
      <p:ext uri="{BB962C8B-B14F-4D97-AF65-F5344CB8AC3E}">
        <p14:creationId xmlns:p14="http://schemas.microsoft.com/office/powerpoint/2010/main" val="3409244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3A122E-7468-C61C-9CAF-BC5273820549}"/>
              </a:ext>
            </a:extLst>
          </p:cNvPr>
          <p:cNvSpPr>
            <a:spLocks noGrp="1"/>
          </p:cNvSpPr>
          <p:nvPr>
            <p:ph type="title"/>
          </p:nvPr>
        </p:nvSpPr>
        <p:spPr>
          <a:xfrm>
            <a:off x="838200" y="304800"/>
            <a:ext cx="10515600" cy="1524000"/>
          </a:xfrm>
        </p:spPr>
        <p:txBody>
          <a:bodyPr>
            <a:normAutofit/>
          </a:bodyPr>
          <a:lstStyle/>
          <a:p>
            <a:r>
              <a:rPr lang="es-MX" b="1">
                <a:solidFill>
                  <a:srgbClr val="4472C4"/>
                </a:solidFill>
                <a:latin typeface="Calibri Light"/>
                <a:ea typeface="Calibri Light"/>
                <a:cs typeface="Calibri Light"/>
              </a:rPr>
              <a:t>Ejercicio 2. Análisis del flujo de datos: definición sobrescrita</a:t>
            </a:r>
          </a:p>
        </p:txBody>
      </p:sp>
      <p:pic>
        <p:nvPicPr>
          <p:cNvPr id="6" name="Marcador de contenido 5">
            <a:extLst>
              <a:ext uri="{FF2B5EF4-FFF2-40B4-BE49-F238E27FC236}">
                <a16:creationId xmlns:a16="http://schemas.microsoft.com/office/drawing/2014/main" id="{DA12FFB4-7FAB-6B8D-9FDF-928F6DB9936C}"/>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E3C5E844-68CE-46E1-AFCE-80F24C779012}"/>
              </a:ext>
            </a:extLst>
          </p:cNvPr>
          <p:cNvSpPr txBox="1"/>
          <p:nvPr/>
        </p:nvSpPr>
        <p:spPr>
          <a:xfrm>
            <a:off x="838200" y="2032000"/>
            <a:ext cx="4445000" cy="3683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defRPr sz="2400"/>
            </a:lvl1pPr>
          </a:lstStyle>
          <a:p>
            <a:r>
              <a:rPr lang="es-MX" dirty="0"/>
              <a:t>Prueba:</a:t>
            </a:r>
          </a:p>
          <a:p>
            <a:r>
              <a:rPr lang="es-MX" dirty="0"/>
              <a:t>a = 5</a:t>
            </a:r>
          </a:p>
          <a:p>
            <a:r>
              <a:rPr lang="es-MX" dirty="0"/>
              <a:t>a = 10</a:t>
            </a:r>
          </a:p>
          <a:p>
            <a:r>
              <a:rPr lang="es-MX" dirty="0"/>
              <a:t>b = a</a:t>
            </a:r>
          </a:p>
          <a:p>
            <a:r>
              <a:rPr lang="es-MX" dirty="0"/>
              <a:t>Explicación:</a:t>
            </a:r>
          </a:p>
          <a:p>
            <a:r>
              <a:rPr lang="es-MX" dirty="0"/>
              <a:t>Esta prueba permite comprobar la detección de una definición muerta, ya que el primer valor asignado a </a:t>
            </a:r>
            <a:r>
              <a:rPr lang="es-MX" dirty="0" err="1"/>
              <a:t>a</a:t>
            </a:r>
            <a:r>
              <a:rPr lang="es-MX" dirty="0"/>
              <a:t> nunca se utiliza antes de ser sobrescrito.</a:t>
            </a:r>
          </a:p>
        </p:txBody>
      </p:sp>
    </p:spTree>
    <p:extLst>
      <p:ext uri="{BB962C8B-B14F-4D97-AF65-F5344CB8AC3E}">
        <p14:creationId xmlns:p14="http://schemas.microsoft.com/office/powerpoint/2010/main" val="2097369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E5712E-5D44-22AD-D16F-F6720C9B0F61}"/>
              </a:ext>
            </a:extLst>
          </p:cNvPr>
          <p:cNvSpPr>
            <a:spLocks noGrp="1"/>
          </p:cNvSpPr>
          <p:nvPr>
            <p:ph type="title"/>
          </p:nvPr>
        </p:nvSpPr>
        <p:spPr>
          <a:xfrm>
            <a:off x="838200" y="304800"/>
            <a:ext cx="10515600" cy="1524000"/>
          </a:xfrm>
        </p:spPr>
        <p:txBody>
          <a:bodyPr>
            <a:normAutofit/>
          </a:bodyPr>
          <a:lstStyle/>
          <a:p>
            <a:r>
              <a:rPr lang="es-MX" b="1">
                <a:solidFill>
                  <a:srgbClr val="4472C4"/>
                </a:solidFill>
                <a:latin typeface="Calibri Light"/>
                <a:ea typeface="Calibri Light"/>
                <a:cs typeface="Calibri Light"/>
              </a:rPr>
              <a:t>Ejercicio 3. Análisis del flujo de datos: múltiples definiciones y usos</a:t>
            </a:r>
          </a:p>
        </p:txBody>
      </p:sp>
      <p:pic>
        <p:nvPicPr>
          <p:cNvPr id="6" name="Marcador de contenido 5">
            <a:extLst>
              <a:ext uri="{FF2B5EF4-FFF2-40B4-BE49-F238E27FC236}">
                <a16:creationId xmlns:a16="http://schemas.microsoft.com/office/drawing/2014/main" id="{FA2F8E42-511E-367C-1A8C-3B5429FF5DD9}"/>
              </a:ext>
            </a:extLst>
          </p:cNvPr>
          <p:cNvPicPr>
            <a:picLocks noGrp="1" noChangeAspect="1"/>
          </p:cNvPicPr>
          <p:nvPr>
            <p:ph sz="half" idx="2"/>
          </p:nvPr>
        </p:nvPicPr>
        <p:blipFill>
          <a:blip r:embed="rId2"/>
          <a:stretch>
            <a:fillRect/>
          </a:stretch>
        </p:blipFill>
        <p:spPr>
          <a:xfrm>
            <a:off x="5588000" y="2095500"/>
            <a:ext cx="6096000" cy="3429000"/>
          </a:xfrm>
          <a:prstGeom prst="rect">
            <a:avLst/>
          </a:prstGeom>
        </p:spPr>
      </p:pic>
      <p:sp>
        <p:nvSpPr>
          <p:cNvPr id="5" name="CuadroTexto 4">
            <a:extLst>
              <a:ext uri="{FF2B5EF4-FFF2-40B4-BE49-F238E27FC236}">
                <a16:creationId xmlns:a16="http://schemas.microsoft.com/office/drawing/2014/main" id="{849654AB-EBEC-43A7-83A4-EAF9DB48F3E1}"/>
              </a:ext>
            </a:extLst>
          </p:cNvPr>
          <p:cNvSpPr txBox="1"/>
          <p:nvPr/>
        </p:nvSpPr>
        <p:spPr>
          <a:xfrm>
            <a:off x="838200" y="2032000"/>
            <a:ext cx="4445000" cy="3683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defRPr sz="2400"/>
            </a:lvl1pPr>
          </a:lstStyle>
          <a:p>
            <a:r>
              <a:rPr lang="es-MX" dirty="0"/>
              <a:t>Prueba:</a:t>
            </a:r>
          </a:p>
          <a:p>
            <a:r>
              <a:rPr lang="es-MX" dirty="0"/>
              <a:t>x = 4</a:t>
            </a:r>
          </a:p>
          <a:p>
            <a:r>
              <a:rPr lang="es-MX" dirty="0"/>
              <a:t>y = 2</a:t>
            </a:r>
          </a:p>
          <a:p>
            <a:r>
              <a:rPr lang="es-MX" dirty="0"/>
              <a:t>z = x + y</a:t>
            </a:r>
          </a:p>
          <a:p>
            <a:r>
              <a:rPr lang="es-MX" dirty="0"/>
              <a:t>resultado = z * 3</a:t>
            </a:r>
          </a:p>
          <a:p>
            <a:r>
              <a:rPr lang="es-MX" dirty="0"/>
              <a:t>Explicación:</a:t>
            </a:r>
          </a:p>
          <a:p>
            <a:r>
              <a:rPr lang="es-MX" dirty="0"/>
              <a:t>La prueba comprueba que el programa puede seguir el flujo de varias variables y establecer las cadenas DEF-USO entre diferentes instrucciones.</a:t>
            </a:r>
          </a:p>
        </p:txBody>
      </p:sp>
    </p:spTree>
    <p:extLst>
      <p:ext uri="{BB962C8B-B14F-4D97-AF65-F5344CB8AC3E}">
        <p14:creationId xmlns:p14="http://schemas.microsoft.com/office/powerpoint/2010/main" val="1077421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6B3468-FD4D-7EB2-F2AD-F6A1C3AF2FB3}"/>
              </a:ext>
            </a:extLst>
          </p:cNvPr>
          <p:cNvSpPr>
            <a:spLocks noGrp="1"/>
          </p:cNvSpPr>
          <p:nvPr>
            <p:ph type="title"/>
          </p:nvPr>
        </p:nvSpPr>
        <p:spPr>
          <a:xfrm>
            <a:off x="838200" y="304800"/>
            <a:ext cx="10515600" cy="1524000"/>
          </a:xfrm>
        </p:spPr>
        <p:txBody>
          <a:bodyPr>
            <a:normAutofit/>
          </a:bodyPr>
          <a:lstStyle/>
          <a:p>
            <a:r>
              <a:rPr lang="es-MX" b="1">
                <a:solidFill>
                  <a:srgbClr val="4472C4"/>
                </a:solidFill>
                <a:latin typeface="Calibri Light"/>
                <a:ea typeface="Calibri Light"/>
                <a:cs typeface="Calibri Light"/>
              </a:rPr>
              <a:t>Ejercicio 4. Análisis del flujo de datos: cadena de dependencias</a:t>
            </a:r>
          </a:p>
        </p:txBody>
      </p:sp>
      <p:pic>
        <p:nvPicPr>
          <p:cNvPr id="6" name="Marcador de contenido 5">
            <a:extLst>
              <a:ext uri="{FF2B5EF4-FFF2-40B4-BE49-F238E27FC236}">
                <a16:creationId xmlns:a16="http://schemas.microsoft.com/office/drawing/2014/main" id="{F26600BB-5442-6F50-45BC-ECE76D439591}"/>
              </a:ext>
            </a:extLst>
          </p:cNvPr>
          <p:cNvPicPr>
            <a:picLocks noGrp="1" noChangeAspect="1"/>
          </p:cNvPicPr>
          <p:nvPr>
            <p:ph sz="half" idx="2"/>
          </p:nvPr>
        </p:nvPicPr>
        <p:blipFill>
          <a:blip r:embed="rId2"/>
          <a:stretch>
            <a:fillRect/>
          </a:stretch>
        </p:blipFill>
        <p:spPr>
          <a:xfrm>
            <a:off x="6468532" y="2095500"/>
            <a:ext cx="5215468" cy="2933701"/>
          </a:xfrm>
          <a:prstGeom prst="rect">
            <a:avLst/>
          </a:prstGeom>
        </p:spPr>
      </p:pic>
      <p:sp>
        <p:nvSpPr>
          <p:cNvPr id="5" name="CuadroTexto 4">
            <a:extLst>
              <a:ext uri="{FF2B5EF4-FFF2-40B4-BE49-F238E27FC236}">
                <a16:creationId xmlns:a16="http://schemas.microsoft.com/office/drawing/2014/main" id="{F5449643-0A50-47BC-B207-A2F4C613FFB8}"/>
              </a:ext>
            </a:extLst>
          </p:cNvPr>
          <p:cNvSpPr txBox="1"/>
          <p:nvPr/>
        </p:nvSpPr>
        <p:spPr>
          <a:xfrm>
            <a:off x="838200" y="1704976"/>
            <a:ext cx="5448300" cy="3429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defRPr sz="2400"/>
            </a:lvl1pPr>
          </a:lstStyle>
          <a:p>
            <a:r>
              <a:rPr lang="es-MX" dirty="0"/>
              <a:t>Prueba:</a:t>
            </a:r>
          </a:p>
          <a:p>
            <a:r>
              <a:rPr lang="es-MX" dirty="0"/>
              <a:t>a = 1</a:t>
            </a:r>
          </a:p>
          <a:p>
            <a:r>
              <a:rPr lang="es-MX" dirty="0"/>
              <a:t>b = a</a:t>
            </a:r>
          </a:p>
          <a:p>
            <a:r>
              <a:rPr lang="es-MX" dirty="0"/>
              <a:t>c = b</a:t>
            </a:r>
          </a:p>
          <a:p>
            <a:r>
              <a:rPr lang="es-MX" dirty="0"/>
              <a:t>d = c + 2</a:t>
            </a:r>
          </a:p>
          <a:p>
            <a:r>
              <a:rPr lang="es-MX" dirty="0"/>
              <a:t>Explicación:</a:t>
            </a:r>
          </a:p>
          <a:p>
            <a:pPr algn="just"/>
            <a:r>
              <a:rPr lang="es-MX" dirty="0"/>
              <a:t>El programa identificó correctamente la cadena de dependencias entre las variables. </a:t>
            </a:r>
          </a:p>
        </p:txBody>
      </p:sp>
      <p:sp>
        <p:nvSpPr>
          <p:cNvPr id="8" name="CuadroTexto 7">
            <a:extLst>
              <a:ext uri="{FF2B5EF4-FFF2-40B4-BE49-F238E27FC236}">
                <a16:creationId xmlns:a16="http://schemas.microsoft.com/office/drawing/2014/main" id="{D20689C5-AA58-67F0-D213-54CF6CFC1CBE}"/>
              </a:ext>
            </a:extLst>
          </p:cNvPr>
          <p:cNvSpPr txBox="1"/>
          <p:nvPr/>
        </p:nvSpPr>
        <p:spPr>
          <a:xfrm>
            <a:off x="838200" y="5133976"/>
            <a:ext cx="1104900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s-MX"/>
            </a:defPPr>
            <a:lvl1pPr>
              <a:defRPr sz="2400"/>
            </a:lvl1pPr>
          </a:lstStyle>
          <a:p>
            <a:pPr algn="just"/>
            <a:r>
              <a:rPr lang="es-MX" dirty="0"/>
              <a:t>La definición de a es utilizada por b, posteriormente b es utilizada por c y finalmente c interviene en el cálculo de d. Además, no se detectaron definiciones muertas ni variables sin utilizar, comprobando el seguimiento del flujo de datos entre las instrucciones.</a:t>
            </a:r>
          </a:p>
        </p:txBody>
      </p:sp>
    </p:spTree>
    <p:extLst>
      <p:ext uri="{BB962C8B-B14F-4D97-AF65-F5344CB8AC3E}">
        <p14:creationId xmlns:p14="http://schemas.microsoft.com/office/powerpoint/2010/main" val="6320098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5BD765-092D-C3CE-A5E2-913A92B94A86}"/>
              </a:ext>
            </a:extLst>
          </p:cNvPr>
          <p:cNvSpPr>
            <a:spLocks noGrp="1"/>
          </p:cNvSpPr>
          <p:nvPr>
            <p:ph type="title"/>
          </p:nvPr>
        </p:nvSpPr>
        <p:spPr>
          <a:xfrm>
            <a:off x="838200" y="304800"/>
            <a:ext cx="10515600" cy="1524000"/>
          </a:xfrm>
        </p:spPr>
        <p:txBody>
          <a:bodyPr>
            <a:noAutofit/>
          </a:bodyPr>
          <a:lstStyle/>
          <a:p>
            <a:r>
              <a:rPr lang="es-MX" b="1">
                <a:solidFill>
                  <a:srgbClr val="4472C4"/>
                </a:solidFill>
                <a:latin typeface="Calibri Light"/>
                <a:ea typeface="Calibri Light"/>
                <a:cs typeface="Calibri Light"/>
              </a:rPr>
              <a:t>Explicación de las pruebas de Análisis del flujo de datos</a:t>
            </a:r>
          </a:p>
        </p:txBody>
      </p:sp>
      <p:sp>
        <p:nvSpPr>
          <p:cNvPr id="3" name="Marcador de contenido 2">
            <a:extLst>
              <a:ext uri="{FF2B5EF4-FFF2-40B4-BE49-F238E27FC236}">
                <a16:creationId xmlns:a16="http://schemas.microsoft.com/office/drawing/2014/main" id="{924245E0-773B-33AB-013F-42828CC2CC33}"/>
              </a:ext>
            </a:extLst>
          </p:cNvPr>
          <p:cNvSpPr>
            <a:spLocks noGrp="1"/>
          </p:cNvSpPr>
          <p:nvPr>
            <p:ph idx="1"/>
          </p:nvPr>
        </p:nvSpPr>
        <p:spPr>
          <a:xfrm>
            <a:off x="838200" y="2032000"/>
            <a:ext cx="10515600" cy="4508500"/>
          </a:xfrm>
        </p:spPr>
        <p:txBody>
          <a:bodyPr/>
          <a:lstStyle/>
          <a:p>
            <a:pPr marL="0" indent="0" algn="just">
              <a:spcAft>
                <a:spcPts val="800"/>
              </a:spcAft>
              <a:buNone/>
            </a:pPr>
            <a:r>
              <a:rPr lang="es-MX" sz="1800" dirty="0"/>
              <a:t>Las pruebas realizadas permitieron comprobar el funcionamiento del módulo de análisis del flujo de datos. En el primer ejercicio se verificó la construcción de la cadena definición-uso, relacionando cada definición de variable con las instrucciones donde se utiliza. En el segundo se comprobó la detección de una definición muerta, cuando un valor se sobrescribe antes de ser usado. En el tercero se siguió el flujo de varias variables a la vez, estableciendo las cadenas DEF-USO entre distintas instrucciones. Finalmente, el cuarto ejercicio mostró una cadena de dependencias, en la que un valor se propaga a través de varias asignaciones.</a:t>
            </a:r>
          </a:p>
          <a:p>
            <a:pPr marL="0" indent="0" algn="just">
              <a:buNone/>
            </a:pPr>
            <a:r>
              <a:rPr lang="es-MX" sz="1800" dirty="0"/>
              <a:t>Los resultados muestran que el módulo identifica correctamente dónde se define y dónde se usa cada variable, y que reconoce las definiciones que no llegan a utilizarse. Esta información es la base para aplicar optimizaciones posteriores, por lo que las pruebas permitieron comprobar de forma práctica la utilidad del análisis del flujo de datos dentro de un compilador.</a:t>
            </a:r>
          </a:p>
        </p:txBody>
      </p:sp>
    </p:spTree>
    <p:extLst>
      <p:ext uri="{BB962C8B-B14F-4D97-AF65-F5344CB8AC3E}">
        <p14:creationId xmlns:p14="http://schemas.microsoft.com/office/powerpoint/2010/main" val="36297831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304800"/>
            <a:ext cx="10515600" cy="1270000"/>
          </a:xfrm>
        </p:spPr>
        <p:txBody>
          <a:bodyPr>
            <a:noAutofit/>
          </a:bodyPr>
          <a:lstStyle/>
          <a:p>
            <a:pPr marL="0" indent="0">
              <a:buNone/>
            </a:pPr>
            <a:r>
              <a:rPr lang="es-MX" sz="4400" b="1" dirty="0">
                <a:solidFill>
                  <a:srgbClr val="4472C4"/>
                </a:solidFill>
                <a:latin typeface="Calibri Light"/>
                <a:ea typeface="Calibri Light"/>
                <a:cs typeface="Calibri Light"/>
              </a:rPr>
              <a:t>Conclusión</a:t>
            </a:r>
          </a:p>
          <a:p>
            <a:pPr marL="0" indent="0">
              <a:buNone/>
            </a:pPr>
            <a:endParaRPr lang="es-MX" sz="4400" b="1" dirty="0">
              <a:solidFill>
                <a:srgbClr val="4472C4"/>
              </a:solidFill>
              <a:latin typeface="Calibri Light"/>
              <a:ea typeface="Calibri Light"/>
              <a:cs typeface="Calibri Light"/>
            </a:endParaRPr>
          </a:p>
          <a:p>
            <a:pPr marL="0" indent="0" algn="just">
              <a:buNone/>
            </a:pPr>
            <a:r>
              <a:rPr lang="es-MX" sz="4400" b="1" dirty="0">
                <a:solidFill>
                  <a:srgbClr val="4472C4"/>
                </a:solidFill>
                <a:latin typeface="Calibri Light"/>
                <a:ea typeface="Calibri Light"/>
                <a:cs typeface="Calibri Light"/>
              </a:rPr>
              <a:t> </a:t>
            </a:r>
          </a:p>
        </p:txBody>
      </p:sp>
      <p:sp>
        <p:nvSpPr>
          <p:cNvPr id="5" name="CuadroTexto 4">
            <a:extLst>
              <a:ext uri="{FF2B5EF4-FFF2-40B4-BE49-F238E27FC236}">
                <a16:creationId xmlns:a16="http://schemas.microsoft.com/office/drawing/2014/main" id="{9A96AB62-DE36-2D17-61AF-AE5B7793E8F2}"/>
              </a:ext>
            </a:extLst>
          </p:cNvPr>
          <p:cNvSpPr txBox="1"/>
          <p:nvPr/>
        </p:nvSpPr>
        <p:spPr>
          <a:xfrm>
            <a:off x="838200" y="1727200"/>
            <a:ext cx="10515600" cy="3990836"/>
          </a:xfrm>
          <a:prstGeom prst="rect">
            <a:avLst/>
          </a:prstGeom>
          <a:noFill/>
        </p:spPr>
        <p:txBody>
          <a:bodyPr wrap="square">
            <a:spAutoFit/>
          </a:bodyPr>
          <a:lstStyle/>
          <a:p>
            <a:pPr algn="just">
              <a:spcAft>
                <a:spcPts val="800"/>
              </a:spcAft>
              <a:buNone/>
            </a:pPr>
            <a:r>
              <a:rPr lang="es-MX" sz="2000" dirty="0"/>
              <a:t>El banco de ejercicios permitió comprobar el funcionamiento de los módulos de optimización desarrollados. En la optimización local se verificó la eliminación de operaciones innecesarias, el plegado de constantes y la aplicación de identidades algebraicas; en la optimización de ciclos, el movimiento de expresiones invariantes fuera del ciclo y la conservación de las instrucciones que dependen de la variable de control.</a:t>
            </a:r>
          </a:p>
          <a:p>
            <a:pPr algn="just">
              <a:spcAft>
                <a:spcPts val="800"/>
              </a:spcAft>
              <a:buNone/>
            </a:pPr>
            <a:r>
              <a:rPr lang="es-MX" sz="2000" dirty="0"/>
              <a:t>En la optimización global se comprobó la propagación de constantes, la simplificación algebraica y la eliminación de subexpresiones comunes; en la optimización de mirilla, la eliminación de instrucciones redundantes como ADD R1, 0 y MUL R1, 1.</a:t>
            </a:r>
          </a:p>
          <a:p>
            <a:pPr algn="just">
              <a:buNone/>
            </a:pPr>
            <a:r>
              <a:rPr lang="es-MX" sz="2000" dirty="0"/>
              <a:t>El análisis de costos estimó las operaciones y los temporales de cada fragmento, los criterios de mejora señalaron el código redundante y el análisis del flujo de datos construyó las cadenas definición-uso, identificando definiciones sobrescritas y dependencias entre variables. Las pruebas facilitaron la comprensión práctica del proceso de optimización de código.</a:t>
            </a:r>
          </a:p>
        </p:txBody>
      </p:sp>
    </p:spTree>
    <p:extLst>
      <p:ext uri="{BB962C8B-B14F-4D97-AF65-F5344CB8AC3E}">
        <p14:creationId xmlns:p14="http://schemas.microsoft.com/office/powerpoint/2010/main" val="21375979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B37826-C5F2-A1AC-A521-8D4B44C3BA2F}"/>
              </a:ext>
            </a:extLst>
          </p:cNvPr>
          <p:cNvSpPr>
            <a:spLocks noGrp="1"/>
          </p:cNvSpPr>
          <p:nvPr>
            <p:ph type="title"/>
          </p:nvPr>
        </p:nvSpPr>
        <p:spPr>
          <a:xfrm>
            <a:off x="838200" y="304800"/>
            <a:ext cx="10515600" cy="1524000"/>
          </a:xfrm>
        </p:spPr>
        <p:txBody>
          <a:bodyPr vert="horz" lIns="91440" tIns="45720" rIns="91440" bIns="45720" rtlCol="0" anchor="ctr">
            <a:normAutofit/>
          </a:bodyPr>
          <a:lstStyle/>
          <a:p>
            <a:r>
              <a:rPr lang="es-MX" b="1" dirty="0" err="1">
                <a:solidFill>
                  <a:srgbClr val="4472C4"/>
                </a:solidFill>
                <a:latin typeface="Calibri Light"/>
                <a:ea typeface="Calibri Light"/>
                <a:cs typeface="Calibri Light"/>
              </a:rPr>
              <a:t>Fuentes de información</a:t>
            </a:r>
            <a:endParaRPr lang="es-MX" b="1" dirty="0">
              <a:solidFill>
                <a:srgbClr val="4472C4"/>
              </a:solidFill>
              <a:latin typeface="Calibri Light"/>
              <a:ea typeface="Calibri Light"/>
              <a:cs typeface="Calibri Light"/>
            </a:endParaRPr>
          </a:p>
        </p:txBody>
      </p:sp>
      <p:sp>
        <p:nvSpPr>
          <p:cNvPr id="3" name="Marcador de contenido 2">
            <a:extLst>
              <a:ext uri="{FF2B5EF4-FFF2-40B4-BE49-F238E27FC236}">
                <a16:creationId xmlns:a16="http://schemas.microsoft.com/office/drawing/2014/main" id="{02AF2393-8DBE-9E8A-FD46-E6592B9758E0}"/>
              </a:ext>
            </a:extLst>
          </p:cNvPr>
          <p:cNvSpPr>
            <a:spLocks noGrp="1"/>
          </p:cNvSpPr>
          <p:nvPr>
            <p:ph idx="1"/>
          </p:nvPr>
        </p:nvSpPr>
        <p:spPr>
          <a:xfrm>
            <a:off x="838200" y="2032000"/>
            <a:ext cx="10515600" cy="4508500"/>
          </a:xfrm>
        </p:spPr>
        <p:txBody>
          <a:bodyPr>
            <a:normAutofit/>
          </a:bodyPr>
          <a:lstStyle/>
          <a:p>
            <a:pPr marL="0" indent="0">
              <a:buNone/>
            </a:pPr>
            <a:r>
              <a:rPr lang="es-MX" sz="1600" dirty="0"/>
              <a:t>Aquino Villanueva, R. (2026). </a:t>
            </a:r>
            <a:r>
              <a:rPr lang="es-MX" sz="1600" i="1" dirty="0"/>
              <a:t>LYAII</a:t>
            </a:r>
            <a:r>
              <a:rPr lang="es-MX" sz="1600" dirty="0"/>
              <a:t> Código fuente. GitHub.</a:t>
            </a:r>
            <a:br>
              <a:rPr lang="es-MX" sz="1600" dirty="0"/>
            </a:br>
            <a:r>
              <a:rPr lang="es-MX" sz="1600" dirty="0">
                <a:hlinkClick r:id="rId2"/>
              </a:rPr>
              <a:t>https://github.com/rafaelrav8770/LYAll.git</a:t>
            </a:r>
            <a:br>
              <a:rPr lang="es-MX" sz="1600" dirty="0"/>
            </a:br>
            <a:r>
              <a:rPr lang="es-MX" sz="1600" dirty="0" err="1"/>
              <a:t>OpenDSA</a:t>
            </a:r>
            <a:r>
              <a:rPr lang="es-MX" sz="1600" dirty="0"/>
              <a:t> Project </a:t>
            </a:r>
            <a:r>
              <a:rPr lang="es-MX" sz="1600" dirty="0" err="1"/>
              <a:t>Contributors</a:t>
            </a:r>
            <a:r>
              <a:rPr lang="es-MX" sz="1600" dirty="0"/>
              <a:t>. (2026). </a:t>
            </a:r>
            <a:r>
              <a:rPr lang="es-MX" sz="1600" i="1" dirty="0" err="1"/>
              <a:t>Structure</a:t>
            </a:r>
            <a:r>
              <a:rPr lang="es-MX" sz="1600" i="1" dirty="0"/>
              <a:t> </a:t>
            </a:r>
            <a:r>
              <a:rPr lang="es-MX" sz="1600" i="1" dirty="0" err="1"/>
              <a:t>of</a:t>
            </a:r>
            <a:r>
              <a:rPr lang="es-MX" sz="1600" i="1" dirty="0"/>
              <a:t> a </a:t>
            </a:r>
            <a:r>
              <a:rPr lang="es-MX" sz="1600" i="1" dirty="0" err="1"/>
              <a:t>compiler</a:t>
            </a:r>
            <a:r>
              <a:rPr lang="es-MX" sz="1600" dirty="0"/>
              <a:t>. </a:t>
            </a:r>
            <a:r>
              <a:rPr lang="es-MX" sz="1600" dirty="0" err="1"/>
              <a:t>OpenDSA</a:t>
            </a:r>
            <a:r>
              <a:rPr lang="es-MX" sz="1600" dirty="0"/>
              <a:t>.</a:t>
            </a:r>
            <a:br>
              <a:rPr lang="es-MX" sz="1600" dirty="0"/>
            </a:br>
            <a:r>
              <a:rPr lang="es-MX" sz="1600" dirty="0">
                <a:hlinkClick r:id="rId3"/>
              </a:rPr>
              <a:t>https://opendsa-server.cs.vt.edu/ODSA/StandaloneModules/20260113122745/html/Compiler.html</a:t>
            </a:r>
            <a:endParaRPr lang="es-MX" sz="1600" dirty="0"/>
          </a:p>
          <a:p>
            <a:pPr marL="0" indent="0">
              <a:buNone/>
            </a:pPr>
            <a:r>
              <a:rPr lang="es-MX" sz="1600" dirty="0"/>
              <a:t>Benítez Quecha, C. (2023). </a:t>
            </a:r>
            <a:r>
              <a:rPr lang="es-MX" sz="1600" i="1" dirty="0"/>
              <a:t>Apuntes para la materia de Lenguajes y Autómatas II</a:t>
            </a:r>
            <a:r>
              <a:rPr lang="es-MX" sz="1600" dirty="0"/>
              <a:t>. Tecnológico Nacional de México, Campus Oaxaca.</a:t>
            </a:r>
          </a:p>
          <a:p>
            <a:pPr marL="0" indent="0">
              <a:buNone/>
            </a:pPr>
            <a:r>
              <a:rPr lang="es-MX" sz="1600" dirty="0"/>
              <a:t>Instituto Tecnológico Superior de Calkiní en el Estado de Campeche. (s. f.). </a:t>
            </a:r>
            <a:r>
              <a:rPr lang="es-MX" sz="1600" i="1" dirty="0"/>
              <a:t>Syllabus SCD-1016: Lenguajes y Autómatas II</a:t>
            </a:r>
            <a:r>
              <a:rPr lang="es-MX" sz="1600" dirty="0"/>
              <a:t>. ITESCAM.</a:t>
            </a:r>
            <a:br>
              <a:rPr lang="es-MX" sz="1600" dirty="0"/>
            </a:br>
            <a:r>
              <a:rPr lang="es-MX" sz="1600" dirty="0">
                <a:hlinkClick r:id="rId4"/>
              </a:rPr>
              <a:t>https://www.itescam.edu.mx/portal/asignatura.php?clave_asig=SCD-1016&amp;carrera=ISIC-2010-224&amp;id_d=16</a:t>
            </a:r>
            <a:endParaRPr lang="es-MX" sz="1600" dirty="0"/>
          </a:p>
          <a:p>
            <a:pPr marL="0" indent="0">
              <a:buNone/>
            </a:pPr>
            <a:r>
              <a:rPr lang="es-MX" sz="1600"/>
              <a:t>JFlex</a:t>
            </a:r>
            <a:r>
              <a:rPr lang="es-MX" sz="1600" dirty="0"/>
              <a:t> Team. (s. f.). </a:t>
            </a:r>
            <a:r>
              <a:rPr lang="es-MX" sz="1600" i="1" dirty="0" err="1"/>
              <a:t>JFlex</a:t>
            </a:r>
            <a:r>
              <a:rPr lang="es-MX" sz="1600" i="1" dirty="0"/>
              <a:t> </a:t>
            </a:r>
            <a:r>
              <a:rPr lang="es-MX" sz="1600" i="1" dirty="0" err="1"/>
              <a:t>user’s</a:t>
            </a:r>
            <a:r>
              <a:rPr lang="es-MX" sz="1600" i="1" dirty="0"/>
              <a:t> manual</a:t>
            </a:r>
            <a:r>
              <a:rPr lang="es-MX" sz="1600" dirty="0"/>
              <a:t>.</a:t>
            </a:r>
            <a:br>
              <a:rPr lang="es-MX" sz="1600" dirty="0"/>
            </a:br>
            <a:r>
              <a:rPr lang="es-MX" sz="1600" dirty="0">
                <a:hlinkClick r:id="rId5"/>
              </a:rPr>
              <a:t>https://jflex.de/manual.html</a:t>
            </a:r>
            <a:endParaRPr lang="es-MX" sz="1600" dirty="0"/>
          </a:p>
          <a:p>
            <a:pPr marL="0" indent="0">
              <a:buNone/>
            </a:pPr>
            <a:r>
              <a:rPr lang="es-MX" sz="1600" dirty="0" err="1"/>
              <a:t>JetBrains</a:t>
            </a:r>
            <a:r>
              <a:rPr lang="es-MX" sz="1600" dirty="0"/>
              <a:t>. (s. f.). </a:t>
            </a:r>
            <a:r>
              <a:rPr lang="es-MX" sz="1600" i="1" dirty="0"/>
              <a:t>IntelliJ IDEA </a:t>
            </a:r>
            <a:r>
              <a:rPr lang="es-MX" sz="1600" i="1" dirty="0" err="1"/>
              <a:t>Documentation</a:t>
            </a:r>
            <a:r>
              <a:rPr lang="es-MX" sz="1600" dirty="0"/>
              <a:t>. </a:t>
            </a:r>
            <a:r>
              <a:rPr lang="es-MX" sz="1600" dirty="0" err="1"/>
              <a:t>JetBrains</a:t>
            </a:r>
            <a:r>
              <a:rPr lang="es-MX" sz="1600" dirty="0"/>
              <a:t>.</a:t>
            </a:r>
          </a:p>
        </p:txBody>
      </p:sp>
    </p:spTree>
    <p:extLst>
      <p:ext uri="{BB962C8B-B14F-4D97-AF65-F5344CB8AC3E}">
        <p14:creationId xmlns:p14="http://schemas.microsoft.com/office/powerpoint/2010/main" val="220390638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D54FF45-58F9-4077-8A7B-1393A53B99B9}">
  <we:reference id="wa200010001" version="1.0.0.1" store="es-ES" storeType="OMEX"/>
  <we:alternateReferences>
    <we:reference id="WA200010001" version="1.0.0.1" store="" storeType="OMEX"/>
  </we:alternateReferences>
  <we:properties>
    <we:property name="claude.fileId" value="&quot;d1560c65-2a4c-4cf9-b2e4-8a6f6d03af0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6103</TotalTime>
  <Words>3774</Words>
  <Application>Microsoft Office PowerPoint</Application>
  <PresentationFormat>Panorámica</PresentationFormat>
  <Paragraphs>264</Paragraphs>
  <Slides>49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49</vt:i4>
      </vt:variant>
    </vt:vector>
  </HeadingPairs>
  <TitlesOfParts>
    <vt:vector size="53" baseType="lpstr">
      <vt:lpstr>Arial</vt:lpstr>
      <vt:lpstr>Calibri</vt:lpstr>
      <vt:lpstr>Calibri Light</vt:lpstr>
      <vt:lpstr>Tema de Office</vt:lpstr>
      <vt:lpstr>Presentación de PowerPoint</vt:lpstr>
      <vt:lpstr>Presentación de PowerPoint</vt:lpstr>
      <vt:lpstr>Presentación de PowerPoint</vt:lpstr>
      <vt:lpstr>Justificación</vt:lpstr>
      <vt:lpstr>Tema 3 Optimización</vt:lpstr>
      <vt:lpstr>Presentación de PowerPoint</vt:lpstr>
      <vt:lpstr>Ejercicio 1. Optimización local: eliminación de operaciones innecesarias</vt:lpstr>
      <vt:lpstr>Ejercicio 2. Optimización local: plegado de constantes</vt:lpstr>
      <vt:lpstr>Ejercicio 3. Optimización local: operaciones con cero</vt:lpstr>
      <vt:lpstr>Ejercicio 4. Optimización local: combinación de optimizaciones</vt:lpstr>
      <vt:lpstr>Explicación de las pruebas de Optimización local</vt:lpstr>
      <vt:lpstr>Optimización de ciclos</vt:lpstr>
      <vt:lpstr>Ejercicio 1. Optimización de ciclos: movimiento de una expresión invariante</vt:lpstr>
      <vt:lpstr>Ejercicio 2. Optimización de ciclos: dos expresiones invariantes</vt:lpstr>
      <vt:lpstr>Ejercicio 3. Optimización de ciclos: dependencia de la variable de control</vt:lpstr>
      <vt:lpstr>Ejercicio 4. Optimización de ciclos: combinación de instrucciones variantes e invariantes</vt:lpstr>
      <vt:lpstr>Explicación de las pruebas de Optimización de ciclos</vt:lpstr>
      <vt:lpstr>Optimización global</vt:lpstr>
      <vt:lpstr>Ejercicio 1. Optimización global: propagación de constantes</vt:lpstr>
      <vt:lpstr>Ejercicio 2. Optimización global: simplificación algebraica</vt:lpstr>
      <vt:lpstr>Ejercicio 3. Optimización global: eliminación de subexpresiones comunes</vt:lpstr>
      <vt:lpstr>Ejercicio 4. Optimización global: combinación de optimizaciones</vt:lpstr>
      <vt:lpstr>Explicación de las pruebas de Optimización global</vt:lpstr>
      <vt:lpstr>Optimización de mirilla</vt:lpstr>
      <vt:lpstr>Ejercicio 1. Optimización de mirilla: eliminación de suma con cero</vt:lpstr>
      <vt:lpstr>Ejercicio 2. Optimización de mirilla: eliminación de multiplicación por uno</vt:lpstr>
      <vt:lpstr>Ejercicio 3. Optimización de mirilla: eliminación de varias instrucciones redundantes</vt:lpstr>
      <vt:lpstr>Ejercicio 4. Optimización de mirilla: combinación de operaciones innecesarias</vt:lpstr>
      <vt:lpstr>Explicación de las pruebas de Optimización de mirilla</vt:lpstr>
      <vt:lpstr>Análisis de costos</vt:lpstr>
      <vt:lpstr>Ejercicio 1. Análisis de costos: operaciones básicas</vt:lpstr>
      <vt:lpstr>Ejercicio 2. Análisis de costos: código con una operación</vt:lpstr>
      <vt:lpstr>Ejercicio 3. Análisis de costos: uso de varios temporales</vt:lpstr>
      <vt:lpstr>Ejercicio 4. Análisis de costos: operaciones sin variables temporales</vt:lpstr>
      <vt:lpstr>Explicación de las pruebas de Análisis de costos</vt:lpstr>
      <vt:lpstr>Criterios para mejorar el código</vt:lpstr>
      <vt:lpstr>Ejercicio 1. Criterios para mejorar el código: operaciones redundantes</vt:lpstr>
      <vt:lpstr>Ejercicio 2. Criterios para mejorar el código: suma innecesaria</vt:lpstr>
      <vt:lpstr>Ejercicio 3. Criterios para mejorar el código: multiplicación innecesaria</vt:lpstr>
      <vt:lpstr>Ejercicio 4. Criterios para mejorar el código: código sin criterios de mejora</vt:lpstr>
      <vt:lpstr>Explicación de las pruebas de Criterios para mejorar el código</vt:lpstr>
      <vt:lpstr>Análisis del flujo de datos</vt:lpstr>
      <vt:lpstr>Ejercicio 1. Análisis del flujo de datos: cadena definición-uso</vt:lpstr>
      <vt:lpstr>Ejercicio 2. Análisis del flujo de datos: definición sobrescrita</vt:lpstr>
      <vt:lpstr>Ejercicio 3. Análisis del flujo de datos: múltiples definiciones y usos</vt:lpstr>
      <vt:lpstr>Ejercicio 4. Análisis del flujo de datos: cadena de dependencias</vt:lpstr>
      <vt:lpstr>Explicación de las pruebas de Análisis del flujo de datos</vt:lpstr>
      <vt:lpstr>Presentación de PowerPoint</vt:lpstr>
      <vt:lpstr>Fuentes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61</cp:revision>
  <dcterms:created xsi:type="dcterms:W3CDTF">2026-02-14T13:39:49Z</dcterms:created>
  <dcterms:modified xsi:type="dcterms:W3CDTF">2026-09-20T14:39:55Z</dcterms:modified>
</cp:coreProperties>
</file>